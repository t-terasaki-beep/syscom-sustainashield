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0233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C5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SYSCOM SUSTAINASHIELD ／ 株式会社シスコムネット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社会福祉法人クローバー会 様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5C5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脱炭素設備導入のご提案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千葉県 令和8年度 補助金を活用｜太陽光 ＋ 蓄電池 ＋ 窓ガラスコーティング ＋ 空調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担当：寺嵜 忠弘　／　TEL 043-208-4456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千葉県の補助金は今がチャンス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補助率 1/2・上限 1,000万円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842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1/2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補助率（省エネ診断ルート）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6320" y="17830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9842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1,000万円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84632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補助上限／1事業者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業務用設備等脱炭素化促進事業。福祉施設はまさに対象。ただし交付決定の前に契約・着工すると対象外 — 今年度の早い申請が鍵です。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ご提案の全体像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3つの柱＋空調更新 ＜ 2施設で補助金活用 ＞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377440" cy="2286000"/>
          </a:xfrm>
          <a:prstGeom prst="roundRect">
            <a:avLst>
              <a:gd name="adj" fmla="val 3200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37360" y="1938528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32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蓄電池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8895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Tesla Powerwall×6 ・ 81kWh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クローバー学園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737360"/>
            <a:ext cx="2377440" cy="2286000"/>
          </a:xfrm>
          <a:prstGeom prst="roundRect">
            <a:avLst>
              <a:gd name="adj" fmla="val 3200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938528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2432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窓ガラスコーティング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8895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遮熱 195㎡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第2クローバー学園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1737360"/>
            <a:ext cx="2377440" cy="2286000"/>
          </a:xfrm>
          <a:prstGeom prst="roundRect">
            <a:avLst>
              <a:gd name="adj" fmla="val 3200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1938528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5040" y="2432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太陽光発電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5040" y="28895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約40kW 自家消費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クローバー学園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 空調1台を高効率機へ更新（第2クローバー学園・CO2要件達成用）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蓄電池 ／ Tesla Powerwall ×6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停電に強い福祉施設へ（BCP）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0F2A43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C5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81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kWh 大容量蓄電池（13.5kWh×6台）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20116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停電時に重要な電源を自動バックアップ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利用者様の安全を守る事業継続（BCP）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日中の余剰を夜間に放電し、自家消費率を最大化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窓ガラスコーティング ／ 第2クローバー学園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遮熱で、快適性と省エネを同時に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842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195㎡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ビッグファインG 施工面積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6320" y="17830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2011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紫外線 99% カット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赤外線 最大90% カット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空調光熱費▲25%・全体▲12%（予測）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補助対象経費に算入。補助金活用で投資回収は通常5年以内（CO2削減 2t/年）。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太陽光発電 ／ 自家消費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特別値引 480万円で、さらに導入しやすく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0F2A43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48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5C5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kW 級（40.48kW）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20116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つくった電気はほぼ全量を自家消費（自家消費率95%）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特別値引 ▲480万円 適用（950万→470万・税別）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高騰する電気代に直接効く。自前電源で資産価値も向上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投資対効果 ① 太陽光（自費・値引後）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実質約502万円が、5年で回収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200400" cy="2606040"/>
          </a:xfrm>
          <a:prstGeom prst="roundRect">
            <a:avLst>
              <a:gd name="adj" fmla="val 2807"/>
            </a:avLst>
          </a:prstGeom>
          <a:solidFill>
            <a:srgbClr val="0F2A43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内部収益率 IRR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C5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26.4%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4206240" y="17373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1737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 電気代削減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 119 万円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206240" y="2624328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26243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投資回収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6243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 5 年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206240" y="3511296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0" y="351129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20年 純利益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351129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＋約 2,706 万円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7200" y="47000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：太陽光40.48kW／年間発電46,552kWh（1,150kWh/kW・NEDO平均年）／自家消費率95%／単価27円/kWh／上昇3%/年／20年。投資は特別値引▲480万後の自費・税込502.5万円。IRRは試算であり採択を保証しません。※窓ガラスコーティング未施工の場合、太陽光値引は100万円減額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投資対効果 ② 補助金 満額1,000万円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蓄電池＋窓コート＋空調が、ほぼ半額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設備総額（税込）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2,226万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926080" y="1965960"/>
            <a:ext cx="548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429000" y="196596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補助金（満額）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1,000万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715000" y="1965960"/>
            <a:ext cx="548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0F2A43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実質ご負担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1,226万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停電時のBCPとデマンド削減をほぼ半額で。CO2削減も 窓2t＋空調1t＝3t/年で要件クリア。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65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投資対効果 ③ プロジェクト全体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預金・債券を大きく上回る利回り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200400" cy="2606040"/>
          </a:xfrm>
          <a:prstGeom prst="roundRect">
            <a:avLst>
              <a:gd name="adj" fmla="val 2807"/>
            </a:avLst>
          </a:prstGeom>
          <a:solidFill>
            <a:srgbClr val="0F2A43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 IRR（実質負担ベース）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C5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9.5%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4206240" y="17373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1737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実質ご投資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1,728 万円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206240" y="2624328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26243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投資回収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6243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 10 年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206240" y="3511296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2F6FA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0" y="351129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20年 純利益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351129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＋約 2,555 万円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7200" y="47000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＝太陽光（値引後自費502.5万）＋蓄電池・窓コート・空調（補助金満額1,000万控除後の実質1,225.7万）＝税込1,728.2万。蓄電池の更新費・BCP価値は試算外（プラス要因）。IRRは前提に基づく試算で、採択・交付や将来の電気料金を保証するものではありません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C5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すべてが揃った、いま動くべきご提案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728216"/>
            <a:ext cx="256032" cy="25603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28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F0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補助金 満額1,000万円 は今年度限り（交付決定前の着工は対象外）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231136"/>
            <a:ext cx="256032" cy="25603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F0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太陽光は 特別値引480万円 → IRR 26.4%・5年回収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734056"/>
            <a:ext cx="256032" cy="25603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34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F0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蓄電池＋窓コート＋空調は ほぼ半額 で、施設を災害から守る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236976"/>
            <a:ext cx="256032" cy="256032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F0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CO2削減3t/年の要件も 窓2t＋空調1t でクリア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ぜひ、前に進めさせてください。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株式会社シスコムネット ／ 担当：寺嵜 忠弘 ／ TEL 043-208-4456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クローバー学園様 脱炭素設備導入のご提案</dc:title>
  <dc:subject>PptxGenJS Presentation</dc:subject>
  <dc:creator>株式会社シスコムネット</dc:creator>
  <cp:lastModifiedBy>株式会社シスコムネット</cp:lastModifiedBy>
  <cp:revision>1</cp:revision>
  <dcterms:created xsi:type="dcterms:W3CDTF">2026-06-11T08:11:14Z</dcterms:created>
  <dcterms:modified xsi:type="dcterms:W3CDTF">2026-06-11T08:11:14Z</dcterms:modified>
</cp:coreProperties>
</file>