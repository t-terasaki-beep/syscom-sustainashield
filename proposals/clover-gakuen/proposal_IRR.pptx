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64592" cy="164592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" name="Text 1"/>
          <p:cNvSpPr/>
          <p:nvPr/>
        </p:nvSpPr>
        <p:spPr>
          <a:xfrm>
            <a:off x="694944" y="4023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C51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SYSCOM SUSTAINASHIELD ／ 株式会社シスコムネット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社会福祉法人クローバー会 様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5C51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脱炭素設備導入のご提案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3520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 令和8年度 補助金を活用｜太陽光 ＋ 蓄電池 ＋ 窓ガラスコーティング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6C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担当：寺嵜 忠弘　／　TEL 043-208-4456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65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千葉県の補助金は今がチャンス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補助率 1/2・上限 1,000万円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2F6FA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98424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1/2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補助率（省エネ診断ルート）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846320" y="17830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2F6FA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46320" y="198424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1,000万円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4846320" y="29718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補助上限／1事業者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886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業務用設備等脱炭素化促進事業。福祉施設はまさに対象。ただし交付決定の前に契約・着工すると対象外 — 今年度の早い申請が鍵です。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65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ご提案の全体像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3つの柱 ＜ 2施設で補助金活用 ＞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2377440" cy="2468880"/>
          </a:xfrm>
          <a:prstGeom prst="roundRect">
            <a:avLst>
              <a:gd name="adj" fmla="val 3077"/>
            </a:avLst>
          </a:prstGeom>
          <a:solidFill>
            <a:srgbClr val="F2F6FA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737360" y="201168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7" name="Text 5"/>
          <p:cNvSpPr/>
          <p:nvPr/>
        </p:nvSpPr>
        <p:spPr>
          <a:xfrm>
            <a:off x="173736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蓄電池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Tesla Powerwall×6 ・ 81kWh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クローバー学園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783080"/>
            <a:ext cx="2377440" cy="2468880"/>
          </a:xfrm>
          <a:prstGeom prst="roundRect">
            <a:avLst>
              <a:gd name="adj" fmla="val 3077"/>
            </a:avLst>
          </a:prstGeom>
          <a:solidFill>
            <a:srgbClr val="F2F6FA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201168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434340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2560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窓ガラスコーティング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2900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遮熱 195㎡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703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第2クローバー学園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0" y="1783080"/>
            <a:ext cx="2377440" cy="2468880"/>
          </a:xfrm>
          <a:prstGeom prst="roundRect">
            <a:avLst>
              <a:gd name="adj" fmla="val 3077"/>
            </a:avLst>
          </a:prstGeom>
          <a:solidFill>
            <a:srgbClr val="F2F6FA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49440" y="201168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035040" y="2560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太陽光発電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3504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約40kW 自家消費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035040" y="3703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クローバー学園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65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蓄電池 ／ Tesla Powerwall ×6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停電に強い福祉施設へ（BCP）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0F2A43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1031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5C51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81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kWh 大容量蓄電池（13.5kWh×6台）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480560" y="201168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停電時に重要な電源を自動バックアップ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利用者様の安全を守る事業継続（BCP）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日中の余剰を夜間に放電し、自家消費率を最大化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65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窓ガラスコーティング ／ 第2クローバー学園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遮熱で、快適性と省エネを同時に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2F6FA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98424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195㎡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ビッグファインG 施工面積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846320" y="178308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2F6FA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74920" y="20116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紫外線 99% カット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赤外線 最大90% カット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夏の暑さをやわらげ空調負荷を低減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31520" y="3886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補助対象経費に算入。空調電力の削減で、ランニングコストも継続的に圧縮します。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65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太陽光発電 ／ 自家消費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つくった電気を、ほぼ全量その場で使う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0F2A43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14884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5C51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kW 級（40.48kW）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480560" y="201168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施設の消費電力が発電量を大きく上回る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つくった電気はほぼ全量を自家消費（自家消費率95%）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高騰する電気代に直接効く。自前電源で資産価値も向上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65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投資対効果 ① 太陽光（自費）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自費でも、しっかり利益を生む投資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3200400" cy="2606040"/>
          </a:xfrm>
          <a:prstGeom prst="roundRect">
            <a:avLst>
              <a:gd name="adj" fmla="val 2807"/>
            </a:avLst>
          </a:prstGeom>
          <a:solidFill>
            <a:srgbClr val="0F2A43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内部収益率 IRR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5C51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14.4%</a:t>
            </a:r>
            <a:endParaRPr lang="en-US" sz="8000" dirty="0"/>
          </a:p>
        </p:txBody>
      </p:sp>
      <p:sp>
        <p:nvSpPr>
          <p:cNvPr id="8" name="Shape 6"/>
          <p:cNvSpPr/>
          <p:nvPr/>
        </p:nvSpPr>
        <p:spPr>
          <a:xfrm>
            <a:off x="4206240" y="1737360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F2F6FA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389120" y="17373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電気代削減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126480" y="1737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 119 万円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206240" y="2624328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F2F6FA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89120" y="262432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投資回収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26480" y="262432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 8 年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4206240" y="3511296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F2F6FA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389120" y="3511296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20年 純利益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6480" y="351129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＋約 2,288 万円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57200" y="473659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前提：太陽光40.48kW／年間発電46,552kWh（1,150kWh/kW・NEDO平均年データ準拠）／自家消費率95%／電力単価27円/kWh／電気代上昇3%/年／20年。投資は税込・自費額。IRRは前提に基づく試算で採択を保証しません。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65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投資対効果 ② 補助金で実質半額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蓄電池＋窓コートが、実質半額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2286000" cy="1554480"/>
          </a:xfrm>
          <a:prstGeom prst="roundRect">
            <a:avLst>
              <a:gd name="adj" fmla="val 4706"/>
            </a:avLst>
          </a:prstGeom>
          <a:solidFill>
            <a:srgbClr val="F2F6FA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設備総額（税込）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2,160万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926080" y="1965960"/>
            <a:ext cx="548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3429000" y="1965960"/>
            <a:ext cx="2286000" cy="1554480"/>
          </a:xfrm>
          <a:prstGeom prst="roundRect">
            <a:avLst>
              <a:gd name="adj" fmla="val 4706"/>
            </a:avLst>
          </a:prstGeom>
          <a:solidFill>
            <a:srgbClr val="F2F6FA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29000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補助金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29000" y="2514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982万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715000" y="1965960"/>
            <a:ext cx="548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6217920" y="1965960"/>
            <a:ext cx="2286000" cy="1554480"/>
          </a:xfrm>
          <a:prstGeom prst="roundRect">
            <a:avLst>
              <a:gd name="adj" fmla="val 4706"/>
            </a:avLst>
          </a:prstGeom>
          <a:solidFill>
            <a:srgbClr val="0F2A43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実質ご負担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2514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C51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1,178万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3977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停電時のBCP（事業継続）と基本料金（デマンド）削減を、実質半額で手に入れられます。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46304" cy="146304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65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投資対効果 ③ プロジェクト全体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2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預金・債券を大きく上回る利回り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3200400" cy="2606040"/>
          </a:xfrm>
          <a:prstGeom prst="roundRect">
            <a:avLst>
              <a:gd name="adj" fmla="val 2807"/>
            </a:avLst>
          </a:prstGeom>
          <a:solidFill>
            <a:srgbClr val="0F2A43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全体 IRR（実質負担ベース）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5C51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7.1%</a:t>
            </a:r>
            <a:endParaRPr lang="en-US" sz="8000" dirty="0"/>
          </a:p>
        </p:txBody>
      </p:sp>
      <p:sp>
        <p:nvSpPr>
          <p:cNvPr id="8" name="Shape 6"/>
          <p:cNvSpPr/>
          <p:nvPr/>
        </p:nvSpPr>
        <p:spPr>
          <a:xfrm>
            <a:off x="4206240" y="1737360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F2F6FA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389120" y="17373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実質ご投資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126480" y="1737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2,099 万円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206240" y="2624328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F2F6FA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89120" y="262432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投資回収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26480" y="262432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 12 年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4206240" y="3511296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F2F6FA"/>
          </a:solidFill>
          <a:ln w="12700">
            <a:solidFill>
              <a:srgbClr val="DCE6EF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389120" y="3511296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20年 純利益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6480" y="351129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＋約 2,185 万円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57200" y="473659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71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体＝太陽光（自費）＋蓄電池・窓コート（補助金控除後の実質負担）。蓄電池の更新費・BCPの事業継続価値は試算外（プラス要因）。IRRは前提に基づく試算で、補助金の採択・交付や将来の電気料金を保証するものでは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64592" cy="164592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" name="Text 1"/>
          <p:cNvSpPr/>
          <p:nvPr/>
        </p:nvSpPr>
        <p:spPr>
          <a:xfrm>
            <a:off x="694944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C51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すべてが揃った、いま動くべきご提案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728216"/>
            <a:ext cx="256032" cy="256032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28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F0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補助金 982万円 は今年度限り（交付決定前の着工は対象外）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231136"/>
            <a:ext cx="256032" cy="256032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2311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43000" y="2194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F0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太陽光は IRR 14.4%・約8年回収、自費でもしっかり回る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2734056"/>
            <a:ext cx="256032" cy="256032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7340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43000" y="2697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F0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蓄電池＋窓コートは 実質半額 で、施設を災害から守る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3236976"/>
            <a:ext cx="256032" cy="256032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369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4300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F0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電気代削減・資産形成・利用者様の安全をひとつに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38862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1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ぜひ、前に進めさせてください。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40080" y="4526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6C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株式会社シスコムネット ／ 担当：寺嵜 忠弘 ／ TEL 043-208-4456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クローバー学園様 脱炭素設備導入のご提案</dc:title>
  <dc:subject>PptxGenJS Presentation</dc:subject>
  <dc:creator>株式会社シスコムネット</dc:creator>
  <cp:lastModifiedBy>株式会社シスコムネット</cp:lastModifiedBy>
  <cp:revision>1</cp:revision>
  <dcterms:created xsi:type="dcterms:W3CDTF">2026-06-10T16:41:45Z</dcterms:created>
  <dcterms:modified xsi:type="dcterms:W3CDTF">2026-06-10T16:41:45Z</dcterms:modified>
</cp:coreProperties>
</file>