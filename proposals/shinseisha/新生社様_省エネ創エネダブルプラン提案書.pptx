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電気代</c:v>
                </c:pt>
              </c:strCache>
            </c:strRef>
          </c:tx>
          <c:spPr>
            <a:solidFill>
              <a:srgbClr val="5B7A9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 現状</c:v>
                  </c:pt>
                  <c:pt idx="1">
                    <c:v>B サニ</c:v>
                  </c:pt>
                  <c:pt idx="2">
                    <c:v>C シスコム</c:v>
                  </c:pt>
                  <c:pt idx="3">
                    <c:v>D ダブル</c:v>
                  </c:pt>
                  <c:pt idx="4">
                    <c:v>E 屋根先行</c:v>
                  </c:pt>
                </c:lvl>
              </c:multiLvlStrCache>
            </c:multiLvlStrRef>
          </c:cat>
          <c:val>
            <c:numRef>
              <c:f>Sheet1!$B$2:$B$6</c:f>
              <c:numCache>
                <c:formatCode>General</c:formatCode>
                <c:ptCount val="5"/>
                <c:pt idx="0">
                  <c:v>5660</c:v>
                </c:pt>
                <c:pt idx="1">
                  <c:v>3755</c:v>
                </c:pt>
                <c:pt idx="2">
                  <c:v>2084</c:v>
                </c:pt>
                <c:pt idx="3">
                  <c:v>1802</c:v>
                </c:pt>
                <c:pt idx="4">
                  <c:v>2037</c:v>
                </c:pt>
              </c:numCache>
            </c:numRef>
          </c:val>
        </c:ser>
        <c:ser>
          <c:idx val="1"/>
          <c:order val="1"/>
          <c:tx>
            <c:strRef>
              <c:f>Sheet1!$C$1</c:f>
              <c:strCache>
                <c:ptCount val="1"/>
                <c:pt idx="0">
                  <c:v>建物メンテ</c:v>
                </c:pt>
              </c:strCache>
            </c:strRef>
          </c:tx>
          <c:spPr>
            <a:solidFill>
              <a:srgbClr val="E5802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 現状</c:v>
                  </c:pt>
                  <c:pt idx="1">
                    <c:v>B サニ</c:v>
                  </c:pt>
                  <c:pt idx="2">
                    <c:v>C シスコム</c:v>
                  </c:pt>
                  <c:pt idx="3">
                    <c:v>D ダブル</c:v>
                  </c:pt>
                  <c:pt idx="4">
                    <c:v>E 屋根先行</c:v>
                  </c:pt>
                </c:lvl>
              </c:multiLvlStrCache>
            </c:multiLvlStrRef>
          </c:cat>
          <c:val>
            <c:numRef>
              <c:f>Sheet1!$C$2:$C$6</c:f>
              <c:numCache>
                <c:formatCode>General</c:formatCode>
                <c:ptCount val="5"/>
                <c:pt idx="0">
                  <c:v>6584</c:v>
                </c:pt>
                <c:pt idx="1">
                  <c:v>6584</c:v>
                </c:pt>
                <c:pt idx="2">
                  <c:v>6584</c:v>
                </c:pt>
                <c:pt idx="3">
                  <c:v>0</c:v>
                </c:pt>
                <c:pt idx="4">
                  <c:v>0</c:v>
                </c:pt>
              </c:numCache>
            </c:numRef>
          </c:val>
        </c:ser>
        <c:ser>
          <c:idx val="2"/>
          <c:order val="2"/>
          <c:tx>
            <c:strRef>
              <c:f>Sheet1!$D$1</c:f>
              <c:strCache>
                <c:ptCount val="1"/>
                <c:pt idx="0">
                  <c:v>設備投資</c:v>
                </c:pt>
              </c:strCache>
            </c:strRef>
          </c:tx>
          <c:spPr>
            <a:solidFill>
              <a:srgbClr val="0F274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 現状</c:v>
                  </c:pt>
                  <c:pt idx="1">
                    <c:v>B サニ</c:v>
                  </c:pt>
                  <c:pt idx="2">
                    <c:v>C シスコム</c:v>
                  </c:pt>
                  <c:pt idx="3">
                    <c:v>D ダブル</c:v>
                  </c:pt>
                  <c:pt idx="4">
                    <c:v>E 屋根先行</c:v>
                  </c:pt>
                </c:lvl>
              </c:multiLvlStrCache>
            </c:multiLvlStrRef>
          </c:cat>
          <c:val>
            <c:numRef>
              <c:f>Sheet1!$D$2:$D$6</c:f>
              <c:numCache>
                <c:formatCode>General</c:formatCode>
                <c:ptCount val="5"/>
                <c:pt idx="0">
                  <c:v>0</c:v>
                </c:pt>
                <c:pt idx="1">
                  <c:v>616</c:v>
                </c:pt>
                <c:pt idx="2">
                  <c:v>1153</c:v>
                </c:pt>
                <c:pt idx="3">
                  <c:v>3573</c:v>
                </c:pt>
                <c:pt idx="4">
                  <c:v>2058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1" i="0" u="none" strike="noStrike">
                <a:solidFill>
                  <a:srgbClr val="1A2B40"/>
                </a:solidFill>
                <a:latin typeface="Noto Sans CJK JP"/>
              </a:defRPr>
            </a:pPr>
            <a:endParaRPr lang="en-US"/>
          </a:p>
        </c:txPr>
        <c:crossAx val="2094734552"/>
        <c:crosses val="autoZero"/>
        <c:auto val="1"/>
        <c:lblAlgn val="ctr"/>
        <c:noMultiLvlLbl val="1"/>
      </c:catAx>
      <c:valAx>
        <c:axId val="2094734552"/>
        <c:scaling>
          <c:orientation val="minMax"/>
          <c:max val="13500"/>
          <c:min val="0"/>
        </c:scaling>
        <c:delete val="0"/>
        <c:axPos val="l"/>
        <c:majorGridlines>
          <c:spPr>
            <a:ln w="6350" cap="flat">
              <a:solidFill>
                <a:srgbClr val="E8ECF1"/>
              </a:solidFill>
              <a:prstDash val="solid"/>
              <a:round/>
            </a:ln>
          </c:spPr>
        </c:majorGridlines>
        <c:numFmt formatCode="#,##0&quot;万円&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Noto Sans CJK JP"/>
              </a:defRPr>
            </a:pPr>
            <a:endParaRPr lang="en-US"/>
          </a:p>
        </c:txPr>
        <c:crossAx val="2094734554"/>
        <c:crosses val="autoZero"/>
        <c:crossBetween val="between"/>
        <c:majorUnit val="2250"/>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youtu.be/EBqWMWrUGMs" TargetMode="External"/><Relationship Id="rId2" Type="http://schemas.openxmlformats.org/officeDocument/2006/relationships/hyperlink" Target="https://youtu.be/adNSbemAS4w" TargetMode="External"/><Relationship Id="rId3" Type="http://schemas.openxmlformats.org/officeDocument/2006/relationships/hyperlink" Target="https://youtu.be/fcB2JqLO7BU" TargetMode="External"/><Relationship Id="rId4" Type="http://schemas.openxmlformats.org/officeDocument/2006/relationships/hyperlink" Target="https://youtu.be/_r3tEsR2F5M" TargetMode="External"/><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page.line.me/829oslez" TargetMode="External"/><Relationship Id="rId2" Type="http://schemas.openxmlformats.org/officeDocument/2006/relationships/hyperlink" Target="https://syscomnet.co.jp/" TargetMode="External"/><Relationship Id="rId3" Type="http://schemas.openxmlformats.org/officeDocument/2006/relationships/hyperlink" Target="https://www.s-pua.net/" TargetMode="External"/><Relationship Id="rId4" Type="http://schemas.openxmlformats.org/officeDocument/2006/relationships/hyperlink" Target="https://chiba-c.bni.jp/creations/ja/" TargetMode="External"/><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7"/>
        </a:solidFill>
      </p:bgPr>
    </p:bg>
    <p:spTree>
      <p:nvGrpSpPr>
        <p:cNvPr id="1" name=""/>
        <p:cNvGrpSpPr/>
        <p:nvPr/>
      </p:nvGrpSpPr>
      <p:grpSpPr>
        <a:xfrm>
          <a:off x="0" y="0"/>
          <a:ext cx="0" cy="0"/>
          <a:chOff x="0" y="0"/>
          <a:chExt cx="0" cy="0"/>
        </a:xfrm>
      </p:grpSpPr>
      <p:sp>
        <p:nvSpPr>
          <p:cNvPr id="2" name="Shape 0"/>
          <p:cNvSpPr/>
          <p:nvPr/>
        </p:nvSpPr>
        <p:spPr>
          <a:xfrm>
            <a:off x="0" y="0"/>
            <a:ext cx="868680" cy="502920"/>
          </a:xfrm>
          <a:prstGeom prst="rect">
            <a:avLst/>
          </a:prstGeom>
          <a:solidFill>
            <a:srgbClr val="1FA383"/>
          </a:solidFill>
          <a:ln/>
        </p:spPr>
      </p:sp>
      <p:sp>
        <p:nvSpPr>
          <p:cNvPr id="3" name="Shape 1"/>
          <p:cNvSpPr/>
          <p:nvPr/>
        </p:nvSpPr>
        <p:spPr>
          <a:xfrm>
            <a:off x="0" y="0"/>
            <a:ext cx="502920" cy="1783080"/>
          </a:xfrm>
          <a:prstGeom prst="rect">
            <a:avLst/>
          </a:prstGeom>
          <a:solidFill>
            <a:srgbClr val="C7A867"/>
          </a:solidFill>
          <a:ln/>
        </p:spPr>
      </p:sp>
      <p:sp>
        <p:nvSpPr>
          <p:cNvPr id="4" name="Shape 2"/>
          <p:cNvSpPr/>
          <p:nvPr/>
        </p:nvSpPr>
        <p:spPr>
          <a:xfrm>
            <a:off x="11320272" y="5074920"/>
            <a:ext cx="868680" cy="1234440"/>
          </a:xfrm>
          <a:prstGeom prst="rect">
            <a:avLst/>
          </a:prstGeom>
          <a:solidFill>
            <a:srgbClr val="C7A867"/>
          </a:solidFill>
          <a:ln/>
        </p:spPr>
      </p:sp>
      <p:sp>
        <p:nvSpPr>
          <p:cNvPr id="5" name="Shape 3"/>
          <p:cNvSpPr/>
          <p:nvPr/>
        </p:nvSpPr>
        <p:spPr>
          <a:xfrm>
            <a:off x="11686032" y="6309360"/>
            <a:ext cx="502920" cy="548640"/>
          </a:xfrm>
          <a:prstGeom prst="rect">
            <a:avLst/>
          </a:prstGeom>
          <a:solidFill>
            <a:srgbClr val="1FA383"/>
          </a:solidFill>
          <a:ln/>
        </p:spPr>
      </p:sp>
      <p:sp>
        <p:nvSpPr>
          <p:cNvPr id="6" name="Text 4"/>
          <p:cNvSpPr/>
          <p:nvPr/>
        </p:nvSpPr>
        <p:spPr>
          <a:xfrm>
            <a:off x="914400" y="1783080"/>
            <a:ext cx="10058400" cy="365760"/>
          </a:xfrm>
          <a:prstGeom prst="rect">
            <a:avLst/>
          </a:prstGeom>
          <a:noFill/>
          <a:ln/>
        </p:spPr>
        <p:txBody>
          <a:bodyPr wrap="square" lIns="0" tIns="0" rIns="0" bIns="0" rtlCol="0" anchor="ctr"/>
          <a:lstStyle/>
          <a:p>
            <a:pPr algn="l" indent="0" marL="0">
              <a:buNone/>
            </a:pPr>
            <a:r>
              <a:rPr lang="en-US" sz="1300" b="1" spc="300" kern="0" dirty="0">
                <a:solidFill>
                  <a:srgbClr val="C7A867"/>
                </a:solidFill>
                <a:latin typeface="Noto Sans CJK JP" pitchFamily="34" charset="0"/>
                <a:ea typeface="Noto Sans CJK JP" pitchFamily="34" charset="-122"/>
                <a:cs typeface="Noto Sans CJK JP" pitchFamily="34" charset="-120"/>
              </a:rPr>
              <a:t>CHIBA  PREFECTURE  SUBSIDY  ×  ENERGY  MANAGEMENT</a:t>
            </a:r>
            <a:endParaRPr lang="en-US" sz="1300" dirty="0"/>
          </a:p>
        </p:txBody>
      </p:sp>
      <p:sp>
        <p:nvSpPr>
          <p:cNvPr id="7" name="Text 5"/>
          <p:cNvSpPr/>
          <p:nvPr/>
        </p:nvSpPr>
        <p:spPr>
          <a:xfrm>
            <a:off x="886968" y="2240280"/>
            <a:ext cx="10515600" cy="914400"/>
          </a:xfrm>
          <a:prstGeom prst="rect">
            <a:avLst/>
          </a:prstGeom>
          <a:noFill/>
          <a:ln/>
        </p:spPr>
        <p:txBody>
          <a:bodyPr wrap="square" lIns="0" tIns="0" rIns="0" bIns="0" rtlCol="0" anchor="ctr"/>
          <a:lstStyle/>
          <a:p>
            <a:pPr algn="l" indent="0" marL="0">
              <a:buNone/>
            </a:pPr>
            <a:r>
              <a:rPr lang="en-US" sz="4600" b="1" dirty="0">
                <a:solidFill>
                  <a:srgbClr val="FFFFFF"/>
                </a:solidFill>
                <a:latin typeface="Noto Sans CJK JP" pitchFamily="34" charset="0"/>
                <a:ea typeface="Noto Sans CJK JP" pitchFamily="34" charset="-122"/>
                <a:cs typeface="Noto Sans CJK JP" pitchFamily="34" charset="-120"/>
              </a:rPr>
              <a:t>省エネ・創エネ ダブルプラン</a:t>
            </a:r>
            <a:endParaRPr lang="en-US" sz="4600" dirty="0"/>
          </a:p>
        </p:txBody>
      </p:sp>
      <p:sp>
        <p:nvSpPr>
          <p:cNvPr id="8" name="Text 6"/>
          <p:cNvSpPr/>
          <p:nvPr/>
        </p:nvSpPr>
        <p:spPr>
          <a:xfrm>
            <a:off x="914400" y="3154680"/>
            <a:ext cx="100584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Noto Sans CJK JP" pitchFamily="34" charset="0"/>
                <a:ea typeface="Noto Sans CJK JP" pitchFamily="34" charset="-122"/>
                <a:cs typeface="Noto Sans CJK JP" pitchFamily="34" charset="-120"/>
              </a:rPr>
              <a:t>導入ご提案書</a:t>
            </a:r>
            <a:endParaRPr lang="en-US" sz="2400" dirty="0"/>
          </a:p>
        </p:txBody>
      </p:sp>
      <p:sp>
        <p:nvSpPr>
          <p:cNvPr id="9" name="Shape 7"/>
          <p:cNvSpPr/>
          <p:nvPr/>
        </p:nvSpPr>
        <p:spPr>
          <a:xfrm>
            <a:off x="914400" y="3913632"/>
            <a:ext cx="3657600" cy="32004"/>
          </a:xfrm>
          <a:prstGeom prst="rect">
            <a:avLst/>
          </a:prstGeom>
          <a:solidFill>
            <a:srgbClr val="C7A867"/>
          </a:solidFill>
          <a:ln/>
        </p:spPr>
      </p:sp>
      <p:sp>
        <p:nvSpPr>
          <p:cNvPr id="10" name="Text 8"/>
          <p:cNvSpPr/>
          <p:nvPr/>
        </p:nvSpPr>
        <p:spPr>
          <a:xfrm>
            <a:off x="914400" y="4160520"/>
            <a:ext cx="10058400" cy="502920"/>
          </a:xfrm>
          <a:prstGeom prst="rect">
            <a:avLst/>
          </a:prstGeom>
          <a:noFill/>
          <a:ln/>
        </p:spPr>
        <p:txBody>
          <a:bodyPr wrap="square" lIns="0" tIns="0" rIns="0" bIns="0" rtlCol="0" anchor="ctr"/>
          <a:lstStyle/>
          <a:p>
            <a:pPr algn="l" indent="0" marL="0">
              <a:buNone/>
            </a:pPr>
            <a:r>
              <a:rPr lang="en-US" sz="2400" b="1" dirty="0">
                <a:solidFill>
                  <a:srgbClr val="FFFFFF"/>
                </a:solidFill>
                <a:latin typeface="Noto Sans CJK JP" pitchFamily="34" charset="0"/>
                <a:ea typeface="Noto Sans CJK JP" pitchFamily="34" charset="-122"/>
                <a:cs typeface="Noto Sans CJK JP" pitchFamily="34" charset="-120"/>
              </a:rPr>
              <a:t>有限会社 新生社 様</a:t>
            </a:r>
            <a:endParaRPr lang="en-US" sz="2400" dirty="0"/>
          </a:p>
        </p:txBody>
      </p:sp>
      <p:sp>
        <p:nvSpPr>
          <p:cNvPr id="11" name="Text 9"/>
          <p:cNvSpPr/>
          <p:nvPr/>
        </p:nvSpPr>
        <p:spPr>
          <a:xfrm>
            <a:off x="914400" y="4709160"/>
            <a:ext cx="10058400" cy="411480"/>
          </a:xfrm>
          <a:prstGeom prst="rect">
            <a:avLst/>
          </a:prstGeom>
          <a:noFill/>
          <a:ln/>
        </p:spPr>
        <p:txBody>
          <a:bodyPr wrap="square" lIns="0" tIns="0" rIns="0" bIns="0" rtlCol="0" anchor="ctr"/>
          <a:lstStyle/>
          <a:p>
            <a:pPr algn="l" indent="0" marL="0">
              <a:buNone/>
            </a:pPr>
            <a:r>
              <a:rPr lang="en-US" sz="1500" dirty="0">
                <a:solidFill>
                  <a:srgbClr val="C8D2E0"/>
                </a:solidFill>
                <a:latin typeface="Noto Sans CJK JP" pitchFamily="34" charset="0"/>
                <a:ea typeface="Noto Sans CJK JP" pitchFamily="34" charset="-122"/>
                <a:cs typeface="Noto Sans CJK JP" pitchFamily="34" charset="-120"/>
              </a:rPr>
              <a:t>ボーン・アゲイン 1 号店（千葉県八街市八街に 49-76 ）</a:t>
            </a:r>
            <a:endParaRPr lang="en-US" sz="1500" dirty="0"/>
          </a:p>
        </p:txBody>
      </p:sp>
      <p:sp>
        <p:nvSpPr>
          <p:cNvPr id="12" name="Text 10"/>
          <p:cNvSpPr/>
          <p:nvPr/>
        </p:nvSpPr>
        <p:spPr>
          <a:xfrm>
            <a:off x="914400" y="5760720"/>
            <a:ext cx="8686800" cy="640080"/>
          </a:xfrm>
          <a:prstGeom prst="rect">
            <a:avLst/>
          </a:prstGeom>
          <a:noFill/>
          <a:ln/>
        </p:spPr>
        <p:txBody>
          <a:bodyPr wrap="square" lIns="0" tIns="0" rIns="0" bIns="0" rtlCol="0" anchor="ctr"/>
          <a:lstStyle/>
          <a:p>
            <a:pPr algn="l" indent="0" marL="0">
              <a:lnSpc>
                <a:spcPct val="130000"/>
              </a:lnSpc>
              <a:buNone/>
            </a:pPr>
            <a:r>
              <a:rPr lang="en-US" sz="1150" dirty="0">
                <a:solidFill>
                  <a:srgbClr val="AEB9CC"/>
                </a:solidFill>
                <a:latin typeface="Noto Sans CJK JP" pitchFamily="34" charset="0"/>
                <a:ea typeface="Noto Sans CJK JP" pitchFamily="34" charset="-122"/>
                <a:cs typeface="Noto Sans CJK JP" pitchFamily="34" charset="-120"/>
              </a:rPr>
              <a:t>電気代削減（創エネ） ×  建物の資産価値向上（省エネ） ×  千葉県補助金活用</a:t>
            </a:r>
            <a:endParaRPr lang="en-US" sz="1150" dirty="0"/>
          </a:p>
          <a:p>
            <a:pPr algn="l" indent="0" marL="0">
              <a:lnSpc>
                <a:spcPct val="130000"/>
              </a:lnSpc>
              <a:buNone/>
            </a:pPr>
            <a:r>
              <a:rPr lang="en-US" sz="1150" dirty="0">
                <a:solidFill>
                  <a:srgbClr val="AEB9CC"/>
                </a:solidFill>
                <a:latin typeface="Noto Sans CJK JP" pitchFamily="34" charset="0"/>
                <a:ea typeface="Noto Sans CJK JP" pitchFamily="34" charset="-122"/>
                <a:cs typeface="Noto Sans CJK JP" pitchFamily="34" charset="-120"/>
              </a:rPr>
              <a:t>4 プラン定量比較による経営判断のための提案書</a:t>
            </a:r>
            <a:endParaRPr lang="en-US" sz="1150" dirty="0"/>
          </a:p>
        </p:txBody>
      </p:sp>
      <p:sp>
        <p:nvSpPr>
          <p:cNvPr id="13" name="Text 11"/>
          <p:cNvSpPr/>
          <p:nvPr/>
        </p:nvSpPr>
        <p:spPr>
          <a:xfrm>
            <a:off x="9601200" y="5989320"/>
            <a:ext cx="1828800" cy="365760"/>
          </a:xfrm>
          <a:prstGeom prst="rect">
            <a:avLst/>
          </a:prstGeom>
          <a:noFill/>
          <a:ln/>
        </p:spPr>
        <p:txBody>
          <a:bodyPr wrap="square" lIns="0" tIns="0" rIns="0" bIns="0" rtlCol="0" anchor="ctr"/>
          <a:lstStyle/>
          <a:p>
            <a:pPr algn="r" indent="0" marL="0">
              <a:buNone/>
            </a:pPr>
            <a:r>
              <a:rPr lang="en-US" sz="1300" b="1" dirty="0">
                <a:solidFill>
                  <a:srgbClr val="C7A867"/>
                </a:solidFill>
                <a:latin typeface="Noto Sans CJK JP" pitchFamily="34" charset="0"/>
                <a:ea typeface="Noto Sans CJK JP" pitchFamily="34" charset="-122"/>
                <a:cs typeface="Noto Sans CJK JP" pitchFamily="34" charset="-120"/>
              </a:rPr>
              <a:t>2026 年 5 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01</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本日のご提案</a:t>
            </a:r>
            <a:endParaRPr lang="en-US" sz="3000" dirty="0"/>
          </a:p>
        </p:txBody>
      </p:sp>
      <p:sp>
        <p:nvSpPr>
          <p:cNvPr id="4" name="Shape 2"/>
          <p:cNvSpPr/>
          <p:nvPr/>
        </p:nvSpPr>
        <p:spPr>
          <a:xfrm>
            <a:off x="960120" y="1600200"/>
            <a:ext cx="10287000" cy="626364"/>
          </a:xfrm>
          <a:prstGeom prst="rect">
            <a:avLst/>
          </a:prstGeom>
          <a:solidFill>
            <a:srgbClr val="F4F6F8"/>
          </a:solidFill>
          <a:ln/>
        </p:spPr>
      </p:sp>
      <p:sp>
        <p:nvSpPr>
          <p:cNvPr id="5" name="Shape 3"/>
          <p:cNvSpPr/>
          <p:nvPr/>
        </p:nvSpPr>
        <p:spPr>
          <a:xfrm>
            <a:off x="960120" y="1600200"/>
            <a:ext cx="82296" cy="626364"/>
          </a:xfrm>
          <a:prstGeom prst="rect">
            <a:avLst/>
          </a:prstGeom>
          <a:solidFill>
            <a:srgbClr val="C7A867"/>
          </a:solidFill>
          <a:ln/>
        </p:spPr>
      </p:sp>
      <p:sp>
        <p:nvSpPr>
          <p:cNvPr id="6" name="Text 4"/>
          <p:cNvSpPr/>
          <p:nvPr/>
        </p:nvSpPr>
        <p:spPr>
          <a:xfrm>
            <a:off x="1216152" y="1600200"/>
            <a:ext cx="1005840" cy="626364"/>
          </a:xfrm>
          <a:prstGeom prst="rect">
            <a:avLst/>
          </a:prstGeom>
          <a:noFill/>
          <a:ln/>
        </p:spPr>
        <p:txBody>
          <a:bodyPr wrap="square" lIns="0" tIns="0" rIns="0" bIns="0" rtlCol="0" anchor="ctr"/>
          <a:lstStyle/>
          <a:p>
            <a:pPr algn="l" indent="0" marL="0">
              <a:buNone/>
            </a:pPr>
            <a:r>
              <a:rPr lang="en-US" sz="2400" b="1" dirty="0">
                <a:solidFill>
                  <a:srgbClr val="C7A867"/>
                </a:solidFill>
                <a:latin typeface="Noto Sans CJK JP" pitchFamily="34" charset="0"/>
                <a:ea typeface="Noto Sans CJK JP" pitchFamily="34" charset="-122"/>
                <a:cs typeface="Noto Sans CJK JP" pitchFamily="34" charset="-120"/>
              </a:rPr>
              <a:t>01</a:t>
            </a:r>
            <a:endParaRPr lang="en-US" sz="2400" dirty="0"/>
          </a:p>
        </p:txBody>
      </p:sp>
      <p:sp>
        <p:nvSpPr>
          <p:cNvPr id="7" name="Text 5"/>
          <p:cNvSpPr/>
          <p:nvPr/>
        </p:nvSpPr>
        <p:spPr>
          <a:xfrm>
            <a:off x="2377440" y="1664208"/>
            <a:ext cx="8732520" cy="329184"/>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お客様の課題 ― 冷暖房の悩み</a:t>
            </a:r>
            <a:endParaRPr lang="en-US" sz="1600" dirty="0"/>
          </a:p>
        </p:txBody>
      </p:sp>
      <p:sp>
        <p:nvSpPr>
          <p:cNvPr id="8" name="Text 6"/>
          <p:cNvSpPr/>
          <p:nvPr/>
        </p:nvSpPr>
        <p:spPr>
          <a:xfrm>
            <a:off x="2377440" y="1965960"/>
            <a:ext cx="8732520" cy="237744"/>
          </a:xfrm>
          <a:prstGeom prst="rect">
            <a:avLst/>
          </a:prstGeom>
          <a:noFill/>
          <a:ln/>
        </p:spPr>
        <p:txBody>
          <a:bodyPr wrap="square" lIns="0" tIns="0" rIns="0" bIns="0" rtlCol="0" anchor="ctr"/>
          <a:lstStyle/>
          <a:p>
            <a:pPr algn="l" indent="0" marL="0">
              <a:buNone/>
            </a:pPr>
            <a:r>
              <a:rPr lang="en-US" sz="1050" dirty="0">
                <a:solidFill>
                  <a:srgbClr val="6B7280"/>
                </a:solidFill>
                <a:latin typeface="Noto Sans CJK JP" pitchFamily="34" charset="0"/>
                <a:ea typeface="Noto Sans CJK JP" pitchFamily="34" charset="-122"/>
                <a:cs typeface="Noto Sans CJK JP" pitchFamily="34" charset="-120"/>
              </a:rPr>
              <a:t>「効かない・我慢している」をどう解消するか</a:t>
            </a:r>
            <a:endParaRPr lang="en-US" sz="1050" dirty="0"/>
          </a:p>
        </p:txBody>
      </p:sp>
      <p:sp>
        <p:nvSpPr>
          <p:cNvPr id="9" name="Shape 7"/>
          <p:cNvSpPr/>
          <p:nvPr/>
        </p:nvSpPr>
        <p:spPr>
          <a:xfrm>
            <a:off x="960120" y="2295144"/>
            <a:ext cx="10287000" cy="626364"/>
          </a:xfrm>
          <a:prstGeom prst="rect">
            <a:avLst/>
          </a:prstGeom>
          <a:solidFill>
            <a:srgbClr val="F4F6F8"/>
          </a:solidFill>
          <a:ln/>
        </p:spPr>
      </p:sp>
      <p:sp>
        <p:nvSpPr>
          <p:cNvPr id="10" name="Shape 8"/>
          <p:cNvSpPr/>
          <p:nvPr/>
        </p:nvSpPr>
        <p:spPr>
          <a:xfrm>
            <a:off x="960120" y="2295144"/>
            <a:ext cx="82296" cy="626364"/>
          </a:xfrm>
          <a:prstGeom prst="rect">
            <a:avLst/>
          </a:prstGeom>
          <a:solidFill>
            <a:srgbClr val="C7A867"/>
          </a:solidFill>
          <a:ln/>
        </p:spPr>
      </p:sp>
      <p:sp>
        <p:nvSpPr>
          <p:cNvPr id="11" name="Text 9"/>
          <p:cNvSpPr/>
          <p:nvPr/>
        </p:nvSpPr>
        <p:spPr>
          <a:xfrm>
            <a:off x="1216152" y="2295144"/>
            <a:ext cx="1005840" cy="626364"/>
          </a:xfrm>
          <a:prstGeom prst="rect">
            <a:avLst/>
          </a:prstGeom>
          <a:noFill/>
          <a:ln/>
        </p:spPr>
        <p:txBody>
          <a:bodyPr wrap="square" lIns="0" tIns="0" rIns="0" bIns="0" rtlCol="0" anchor="ctr"/>
          <a:lstStyle/>
          <a:p>
            <a:pPr algn="l" indent="0" marL="0">
              <a:buNone/>
            </a:pPr>
            <a:r>
              <a:rPr lang="en-US" sz="2400" b="1" dirty="0">
                <a:solidFill>
                  <a:srgbClr val="C7A867"/>
                </a:solidFill>
                <a:latin typeface="Noto Sans CJK JP" pitchFamily="34" charset="0"/>
                <a:ea typeface="Noto Sans CJK JP" pitchFamily="34" charset="-122"/>
                <a:cs typeface="Noto Sans CJK JP" pitchFamily="34" charset="-120"/>
              </a:rPr>
              <a:t>02</a:t>
            </a:r>
            <a:endParaRPr lang="en-US" sz="2400" dirty="0"/>
          </a:p>
        </p:txBody>
      </p:sp>
      <p:sp>
        <p:nvSpPr>
          <p:cNvPr id="12" name="Text 10"/>
          <p:cNvSpPr/>
          <p:nvPr/>
        </p:nvSpPr>
        <p:spPr>
          <a:xfrm>
            <a:off x="2377440" y="2359152"/>
            <a:ext cx="8732520" cy="329184"/>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経営判断のポイント</a:t>
            </a:r>
            <a:endParaRPr lang="en-US" sz="1600" dirty="0"/>
          </a:p>
        </p:txBody>
      </p:sp>
      <p:sp>
        <p:nvSpPr>
          <p:cNvPr id="13" name="Text 11"/>
          <p:cNvSpPr/>
          <p:nvPr/>
        </p:nvSpPr>
        <p:spPr>
          <a:xfrm>
            <a:off x="2377440" y="2660904"/>
            <a:ext cx="8732520" cy="237744"/>
          </a:xfrm>
          <a:prstGeom prst="rect">
            <a:avLst/>
          </a:prstGeom>
          <a:noFill/>
          <a:ln/>
        </p:spPr>
        <p:txBody>
          <a:bodyPr wrap="square" lIns="0" tIns="0" rIns="0" bIns="0" rtlCol="0" anchor="ctr"/>
          <a:lstStyle/>
          <a:p>
            <a:pPr algn="l" indent="0" marL="0">
              <a:buNone/>
            </a:pPr>
            <a:r>
              <a:rPr lang="en-US" sz="1050" dirty="0">
                <a:solidFill>
                  <a:srgbClr val="6B7280"/>
                </a:solidFill>
                <a:latin typeface="Noto Sans CJK JP" pitchFamily="34" charset="0"/>
                <a:ea typeface="Noto Sans CJK JP" pitchFamily="34" charset="-122"/>
                <a:cs typeface="Noto Sans CJK JP" pitchFamily="34" charset="-120"/>
              </a:rPr>
              <a:t>A/B/C/D/E 5 プラン比較・ 2 段階作戦も提案</a:t>
            </a:r>
            <a:endParaRPr lang="en-US" sz="1050" dirty="0"/>
          </a:p>
        </p:txBody>
      </p:sp>
      <p:sp>
        <p:nvSpPr>
          <p:cNvPr id="14" name="Shape 12"/>
          <p:cNvSpPr/>
          <p:nvPr/>
        </p:nvSpPr>
        <p:spPr>
          <a:xfrm>
            <a:off x="960120" y="2990088"/>
            <a:ext cx="10287000" cy="626364"/>
          </a:xfrm>
          <a:prstGeom prst="rect">
            <a:avLst/>
          </a:prstGeom>
          <a:solidFill>
            <a:srgbClr val="F4F6F8"/>
          </a:solidFill>
          <a:ln/>
        </p:spPr>
      </p:sp>
      <p:sp>
        <p:nvSpPr>
          <p:cNvPr id="15" name="Shape 13"/>
          <p:cNvSpPr/>
          <p:nvPr/>
        </p:nvSpPr>
        <p:spPr>
          <a:xfrm>
            <a:off x="960120" y="2990088"/>
            <a:ext cx="82296" cy="626364"/>
          </a:xfrm>
          <a:prstGeom prst="rect">
            <a:avLst/>
          </a:prstGeom>
          <a:solidFill>
            <a:srgbClr val="C7A867"/>
          </a:solidFill>
          <a:ln/>
        </p:spPr>
      </p:sp>
      <p:sp>
        <p:nvSpPr>
          <p:cNvPr id="16" name="Text 14"/>
          <p:cNvSpPr/>
          <p:nvPr/>
        </p:nvSpPr>
        <p:spPr>
          <a:xfrm>
            <a:off x="1216152" y="2990088"/>
            <a:ext cx="1005840" cy="626364"/>
          </a:xfrm>
          <a:prstGeom prst="rect">
            <a:avLst/>
          </a:prstGeom>
          <a:noFill/>
          <a:ln/>
        </p:spPr>
        <p:txBody>
          <a:bodyPr wrap="square" lIns="0" tIns="0" rIns="0" bIns="0" rtlCol="0" anchor="ctr"/>
          <a:lstStyle/>
          <a:p>
            <a:pPr algn="l" indent="0" marL="0">
              <a:buNone/>
            </a:pPr>
            <a:r>
              <a:rPr lang="en-US" sz="2400" b="1" dirty="0">
                <a:solidFill>
                  <a:srgbClr val="C7A867"/>
                </a:solidFill>
                <a:latin typeface="Noto Sans CJK JP" pitchFamily="34" charset="0"/>
                <a:ea typeface="Noto Sans CJK JP" pitchFamily="34" charset="-122"/>
                <a:cs typeface="Noto Sans CJK JP" pitchFamily="34" charset="-120"/>
              </a:rPr>
              <a:t>03</a:t>
            </a:r>
            <a:endParaRPr lang="en-US" sz="2400" dirty="0"/>
          </a:p>
        </p:txBody>
      </p:sp>
      <p:sp>
        <p:nvSpPr>
          <p:cNvPr id="17" name="Text 15"/>
          <p:cNvSpPr/>
          <p:nvPr/>
        </p:nvSpPr>
        <p:spPr>
          <a:xfrm>
            <a:off x="2377440" y="3054096"/>
            <a:ext cx="8732520" cy="329184"/>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実消費データ × 建物概況の分析</a:t>
            </a:r>
            <a:endParaRPr lang="en-US" sz="1600" dirty="0"/>
          </a:p>
        </p:txBody>
      </p:sp>
      <p:sp>
        <p:nvSpPr>
          <p:cNvPr id="18" name="Text 16"/>
          <p:cNvSpPr/>
          <p:nvPr/>
        </p:nvSpPr>
        <p:spPr>
          <a:xfrm>
            <a:off x="2377440" y="3355848"/>
            <a:ext cx="8732520" cy="237744"/>
          </a:xfrm>
          <a:prstGeom prst="rect">
            <a:avLst/>
          </a:prstGeom>
          <a:noFill/>
          <a:ln/>
        </p:spPr>
        <p:txBody>
          <a:bodyPr wrap="square" lIns="0" tIns="0" rIns="0" bIns="0" rtlCol="0" anchor="ctr"/>
          <a:lstStyle/>
          <a:p>
            <a:pPr algn="l" indent="0" marL="0">
              <a:buNone/>
            </a:pPr>
            <a:r>
              <a:rPr lang="en-US" sz="1050" dirty="0">
                <a:solidFill>
                  <a:srgbClr val="6B7280"/>
                </a:solidFill>
                <a:latin typeface="Noto Sans CJK JP" pitchFamily="34" charset="0"/>
                <a:ea typeface="Noto Sans CJK JP" pitchFamily="34" charset="-122"/>
                <a:cs typeface="Noto Sans CJK JP" pitchFamily="34" charset="-120"/>
              </a:rPr>
              <a:t>30 分単位データと面積概算</a:t>
            </a:r>
            <a:endParaRPr lang="en-US" sz="1050" dirty="0"/>
          </a:p>
        </p:txBody>
      </p:sp>
      <p:sp>
        <p:nvSpPr>
          <p:cNvPr id="19" name="Shape 17"/>
          <p:cNvSpPr/>
          <p:nvPr/>
        </p:nvSpPr>
        <p:spPr>
          <a:xfrm>
            <a:off x="960120" y="3685032"/>
            <a:ext cx="10287000" cy="626364"/>
          </a:xfrm>
          <a:prstGeom prst="rect">
            <a:avLst/>
          </a:prstGeom>
          <a:solidFill>
            <a:srgbClr val="F4F6F8"/>
          </a:solidFill>
          <a:ln/>
        </p:spPr>
      </p:sp>
      <p:sp>
        <p:nvSpPr>
          <p:cNvPr id="20" name="Shape 18"/>
          <p:cNvSpPr/>
          <p:nvPr/>
        </p:nvSpPr>
        <p:spPr>
          <a:xfrm>
            <a:off x="960120" y="3685032"/>
            <a:ext cx="82296" cy="626364"/>
          </a:xfrm>
          <a:prstGeom prst="rect">
            <a:avLst/>
          </a:prstGeom>
          <a:solidFill>
            <a:srgbClr val="C7A867"/>
          </a:solidFill>
          <a:ln/>
        </p:spPr>
      </p:sp>
      <p:sp>
        <p:nvSpPr>
          <p:cNvPr id="21" name="Text 19"/>
          <p:cNvSpPr/>
          <p:nvPr/>
        </p:nvSpPr>
        <p:spPr>
          <a:xfrm>
            <a:off x="1216152" y="3685032"/>
            <a:ext cx="1005840" cy="626364"/>
          </a:xfrm>
          <a:prstGeom prst="rect">
            <a:avLst/>
          </a:prstGeom>
          <a:noFill/>
          <a:ln/>
        </p:spPr>
        <p:txBody>
          <a:bodyPr wrap="square" lIns="0" tIns="0" rIns="0" bIns="0" rtlCol="0" anchor="ctr"/>
          <a:lstStyle/>
          <a:p>
            <a:pPr algn="l" indent="0" marL="0">
              <a:buNone/>
            </a:pPr>
            <a:r>
              <a:rPr lang="en-US" sz="2400" b="1" dirty="0">
                <a:solidFill>
                  <a:srgbClr val="C7A867"/>
                </a:solidFill>
                <a:latin typeface="Noto Sans CJK JP" pitchFamily="34" charset="0"/>
                <a:ea typeface="Noto Sans CJK JP" pitchFamily="34" charset="-122"/>
                <a:cs typeface="Noto Sans CJK JP" pitchFamily="34" charset="-120"/>
              </a:rPr>
              <a:t>04</a:t>
            </a:r>
            <a:endParaRPr lang="en-US" sz="2400" dirty="0"/>
          </a:p>
        </p:txBody>
      </p:sp>
      <p:sp>
        <p:nvSpPr>
          <p:cNvPr id="22" name="Text 20"/>
          <p:cNvSpPr/>
          <p:nvPr/>
        </p:nvSpPr>
        <p:spPr>
          <a:xfrm>
            <a:off x="2377440" y="3749040"/>
            <a:ext cx="8732520" cy="329184"/>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サニックス提案 × 単相 vs 三相 × 各案の設計</a:t>
            </a:r>
            <a:endParaRPr lang="en-US" sz="1600" dirty="0"/>
          </a:p>
        </p:txBody>
      </p:sp>
      <p:sp>
        <p:nvSpPr>
          <p:cNvPr id="23" name="Text 21"/>
          <p:cNvSpPr/>
          <p:nvPr/>
        </p:nvSpPr>
        <p:spPr>
          <a:xfrm>
            <a:off x="2377440" y="4050792"/>
            <a:ext cx="8732520" cy="237744"/>
          </a:xfrm>
          <a:prstGeom prst="rect">
            <a:avLst/>
          </a:prstGeom>
          <a:noFill/>
          <a:ln/>
        </p:spPr>
        <p:txBody>
          <a:bodyPr wrap="square" lIns="0" tIns="0" rIns="0" bIns="0" rtlCol="0" anchor="ctr"/>
          <a:lstStyle/>
          <a:p>
            <a:pPr algn="l" indent="0" marL="0">
              <a:buNone/>
            </a:pPr>
            <a:r>
              <a:rPr lang="en-US" sz="1050" dirty="0">
                <a:solidFill>
                  <a:srgbClr val="6B7280"/>
                </a:solidFill>
                <a:latin typeface="Noto Sans CJK JP" pitchFamily="34" charset="0"/>
                <a:ea typeface="Noto Sans CJK JP" pitchFamily="34" charset="-122"/>
                <a:cs typeface="Noto Sans CJK JP" pitchFamily="34" charset="-120"/>
              </a:rPr>
              <a:t>B/C/D/E 各プランの構造と決定的な技術差</a:t>
            </a:r>
            <a:endParaRPr lang="en-US" sz="1050" dirty="0"/>
          </a:p>
        </p:txBody>
      </p:sp>
      <p:sp>
        <p:nvSpPr>
          <p:cNvPr id="24" name="Shape 22"/>
          <p:cNvSpPr/>
          <p:nvPr/>
        </p:nvSpPr>
        <p:spPr>
          <a:xfrm>
            <a:off x="960120" y="4379976"/>
            <a:ext cx="10287000" cy="626364"/>
          </a:xfrm>
          <a:prstGeom prst="rect">
            <a:avLst/>
          </a:prstGeom>
          <a:solidFill>
            <a:srgbClr val="F4F6F8"/>
          </a:solidFill>
          <a:ln/>
        </p:spPr>
      </p:sp>
      <p:sp>
        <p:nvSpPr>
          <p:cNvPr id="25" name="Shape 23"/>
          <p:cNvSpPr/>
          <p:nvPr/>
        </p:nvSpPr>
        <p:spPr>
          <a:xfrm>
            <a:off x="960120" y="4379976"/>
            <a:ext cx="82296" cy="626364"/>
          </a:xfrm>
          <a:prstGeom prst="rect">
            <a:avLst/>
          </a:prstGeom>
          <a:solidFill>
            <a:srgbClr val="C7A867"/>
          </a:solidFill>
          <a:ln/>
        </p:spPr>
      </p:sp>
      <p:sp>
        <p:nvSpPr>
          <p:cNvPr id="26" name="Text 24"/>
          <p:cNvSpPr/>
          <p:nvPr/>
        </p:nvSpPr>
        <p:spPr>
          <a:xfrm>
            <a:off x="1216152" y="4379976"/>
            <a:ext cx="1005840" cy="626364"/>
          </a:xfrm>
          <a:prstGeom prst="rect">
            <a:avLst/>
          </a:prstGeom>
          <a:noFill/>
          <a:ln/>
        </p:spPr>
        <p:txBody>
          <a:bodyPr wrap="square" lIns="0" tIns="0" rIns="0" bIns="0" rtlCol="0" anchor="ctr"/>
          <a:lstStyle/>
          <a:p>
            <a:pPr algn="l" indent="0" marL="0">
              <a:buNone/>
            </a:pPr>
            <a:r>
              <a:rPr lang="en-US" sz="2400" b="1" dirty="0">
                <a:solidFill>
                  <a:srgbClr val="C7A867"/>
                </a:solidFill>
                <a:latin typeface="Noto Sans CJK JP" pitchFamily="34" charset="0"/>
                <a:ea typeface="Noto Sans CJK JP" pitchFamily="34" charset="-122"/>
                <a:cs typeface="Noto Sans CJK JP" pitchFamily="34" charset="-120"/>
              </a:rPr>
              <a:t>05</a:t>
            </a:r>
            <a:endParaRPr lang="en-US" sz="2400" dirty="0"/>
          </a:p>
        </p:txBody>
      </p:sp>
      <p:sp>
        <p:nvSpPr>
          <p:cNvPr id="27" name="Text 25"/>
          <p:cNvSpPr/>
          <p:nvPr/>
        </p:nvSpPr>
        <p:spPr>
          <a:xfrm>
            <a:off x="2377440" y="4443984"/>
            <a:ext cx="8732520" cy="329184"/>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20 年累計コスト × 建物維持負担比較</a:t>
            </a:r>
            <a:endParaRPr lang="en-US" sz="1600" dirty="0"/>
          </a:p>
        </p:txBody>
      </p:sp>
      <p:sp>
        <p:nvSpPr>
          <p:cNvPr id="28" name="Text 26"/>
          <p:cNvSpPr/>
          <p:nvPr/>
        </p:nvSpPr>
        <p:spPr>
          <a:xfrm>
            <a:off x="2377440" y="4745736"/>
            <a:ext cx="8732520" cy="237744"/>
          </a:xfrm>
          <a:prstGeom prst="rect">
            <a:avLst/>
          </a:prstGeom>
          <a:noFill/>
          <a:ln/>
        </p:spPr>
        <p:txBody>
          <a:bodyPr wrap="square" lIns="0" tIns="0" rIns="0" bIns="0" rtlCol="0" anchor="ctr"/>
          <a:lstStyle/>
          <a:p>
            <a:pPr algn="l" indent="0" marL="0">
              <a:buNone/>
            </a:pPr>
            <a:r>
              <a:rPr lang="en-US" sz="1050" dirty="0">
                <a:solidFill>
                  <a:srgbClr val="6B7280"/>
                </a:solidFill>
                <a:latin typeface="Noto Sans CJK JP" pitchFamily="34" charset="0"/>
                <a:ea typeface="Noto Sans CJK JP" pitchFamily="34" charset="-122"/>
                <a:cs typeface="Noto Sans CJK JP" pitchFamily="34" charset="-120"/>
              </a:rPr>
              <a:t>電気代 + メンテ + 投資の総額勝負</a:t>
            </a:r>
            <a:endParaRPr lang="en-US" sz="1050" dirty="0"/>
          </a:p>
        </p:txBody>
      </p:sp>
      <p:sp>
        <p:nvSpPr>
          <p:cNvPr id="29" name="Shape 27"/>
          <p:cNvSpPr/>
          <p:nvPr/>
        </p:nvSpPr>
        <p:spPr>
          <a:xfrm>
            <a:off x="960120" y="5074920"/>
            <a:ext cx="10287000" cy="626364"/>
          </a:xfrm>
          <a:prstGeom prst="rect">
            <a:avLst/>
          </a:prstGeom>
          <a:solidFill>
            <a:srgbClr val="F4F6F8"/>
          </a:solidFill>
          <a:ln/>
        </p:spPr>
      </p:sp>
      <p:sp>
        <p:nvSpPr>
          <p:cNvPr id="30" name="Shape 28"/>
          <p:cNvSpPr/>
          <p:nvPr/>
        </p:nvSpPr>
        <p:spPr>
          <a:xfrm>
            <a:off x="960120" y="5074920"/>
            <a:ext cx="82296" cy="626364"/>
          </a:xfrm>
          <a:prstGeom prst="rect">
            <a:avLst/>
          </a:prstGeom>
          <a:solidFill>
            <a:srgbClr val="C7A867"/>
          </a:solidFill>
          <a:ln/>
        </p:spPr>
      </p:sp>
      <p:sp>
        <p:nvSpPr>
          <p:cNvPr id="31" name="Text 29"/>
          <p:cNvSpPr/>
          <p:nvPr/>
        </p:nvSpPr>
        <p:spPr>
          <a:xfrm>
            <a:off x="1216152" y="5074920"/>
            <a:ext cx="1005840" cy="626364"/>
          </a:xfrm>
          <a:prstGeom prst="rect">
            <a:avLst/>
          </a:prstGeom>
          <a:noFill/>
          <a:ln/>
        </p:spPr>
        <p:txBody>
          <a:bodyPr wrap="square" lIns="0" tIns="0" rIns="0" bIns="0" rtlCol="0" anchor="ctr"/>
          <a:lstStyle/>
          <a:p>
            <a:pPr algn="l" indent="0" marL="0">
              <a:buNone/>
            </a:pPr>
            <a:r>
              <a:rPr lang="en-US" sz="2400" b="1" dirty="0">
                <a:solidFill>
                  <a:srgbClr val="C7A867"/>
                </a:solidFill>
                <a:latin typeface="Noto Sans CJK JP" pitchFamily="34" charset="0"/>
                <a:ea typeface="Noto Sans CJK JP" pitchFamily="34" charset="-122"/>
                <a:cs typeface="Noto Sans CJK JP" pitchFamily="34" charset="-120"/>
              </a:rPr>
              <a:t>06</a:t>
            </a:r>
            <a:endParaRPr lang="en-US" sz="2400" dirty="0"/>
          </a:p>
        </p:txBody>
      </p:sp>
      <p:sp>
        <p:nvSpPr>
          <p:cNvPr id="32" name="Text 30"/>
          <p:cNvSpPr/>
          <p:nvPr/>
        </p:nvSpPr>
        <p:spPr>
          <a:xfrm>
            <a:off x="2377440" y="5138928"/>
            <a:ext cx="8732520" cy="329184"/>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BCP × 脱炭素 × 補助金活用</a:t>
            </a:r>
            <a:endParaRPr lang="en-US" sz="1600" dirty="0"/>
          </a:p>
        </p:txBody>
      </p:sp>
      <p:sp>
        <p:nvSpPr>
          <p:cNvPr id="33" name="Text 31"/>
          <p:cNvSpPr/>
          <p:nvPr/>
        </p:nvSpPr>
        <p:spPr>
          <a:xfrm>
            <a:off x="2377440" y="5440680"/>
            <a:ext cx="8732520" cy="237744"/>
          </a:xfrm>
          <a:prstGeom prst="rect">
            <a:avLst/>
          </a:prstGeom>
          <a:noFill/>
          <a:ln/>
        </p:spPr>
        <p:txBody>
          <a:bodyPr wrap="square" lIns="0" tIns="0" rIns="0" bIns="0" rtlCol="0" anchor="ctr"/>
          <a:lstStyle/>
          <a:p>
            <a:pPr algn="l" indent="0" marL="0">
              <a:buNone/>
            </a:pPr>
            <a:r>
              <a:rPr lang="en-US" sz="1050" dirty="0">
                <a:solidFill>
                  <a:srgbClr val="6B7280"/>
                </a:solidFill>
                <a:latin typeface="Noto Sans CJK JP" pitchFamily="34" charset="0"/>
                <a:ea typeface="Noto Sans CJK JP" pitchFamily="34" charset="-122"/>
                <a:cs typeface="Noto Sans CJK JP" pitchFamily="34" charset="-120"/>
              </a:rPr>
              <a:t>蓄電池 + ポリウレアの合算スキーム</a:t>
            </a:r>
            <a:endParaRPr lang="en-US" sz="1050" dirty="0"/>
          </a:p>
        </p:txBody>
      </p:sp>
      <p:sp>
        <p:nvSpPr>
          <p:cNvPr id="34" name="Shape 32"/>
          <p:cNvSpPr/>
          <p:nvPr/>
        </p:nvSpPr>
        <p:spPr>
          <a:xfrm>
            <a:off x="960120" y="5769864"/>
            <a:ext cx="10287000" cy="626364"/>
          </a:xfrm>
          <a:prstGeom prst="rect">
            <a:avLst/>
          </a:prstGeom>
          <a:solidFill>
            <a:srgbClr val="F4F6F8"/>
          </a:solidFill>
          <a:ln/>
        </p:spPr>
      </p:sp>
      <p:sp>
        <p:nvSpPr>
          <p:cNvPr id="35" name="Shape 33"/>
          <p:cNvSpPr/>
          <p:nvPr/>
        </p:nvSpPr>
        <p:spPr>
          <a:xfrm>
            <a:off x="960120" y="5769864"/>
            <a:ext cx="82296" cy="626364"/>
          </a:xfrm>
          <a:prstGeom prst="rect">
            <a:avLst/>
          </a:prstGeom>
          <a:solidFill>
            <a:srgbClr val="C7A867"/>
          </a:solidFill>
          <a:ln/>
        </p:spPr>
      </p:sp>
      <p:sp>
        <p:nvSpPr>
          <p:cNvPr id="36" name="Text 34"/>
          <p:cNvSpPr/>
          <p:nvPr/>
        </p:nvSpPr>
        <p:spPr>
          <a:xfrm>
            <a:off x="1216152" y="5769864"/>
            <a:ext cx="1005840" cy="626364"/>
          </a:xfrm>
          <a:prstGeom prst="rect">
            <a:avLst/>
          </a:prstGeom>
          <a:noFill/>
          <a:ln/>
        </p:spPr>
        <p:txBody>
          <a:bodyPr wrap="square" lIns="0" tIns="0" rIns="0" bIns="0" rtlCol="0" anchor="ctr"/>
          <a:lstStyle/>
          <a:p>
            <a:pPr algn="l" indent="0" marL="0">
              <a:buNone/>
            </a:pPr>
            <a:r>
              <a:rPr lang="en-US" sz="2400" b="1" dirty="0">
                <a:solidFill>
                  <a:srgbClr val="C7A867"/>
                </a:solidFill>
                <a:latin typeface="Noto Sans CJK JP" pitchFamily="34" charset="0"/>
                <a:ea typeface="Noto Sans CJK JP" pitchFamily="34" charset="-122"/>
                <a:cs typeface="Noto Sans CJK JP" pitchFamily="34" charset="-120"/>
              </a:rPr>
              <a:t>07</a:t>
            </a:r>
            <a:endParaRPr lang="en-US" sz="2400" dirty="0"/>
          </a:p>
        </p:txBody>
      </p:sp>
      <p:sp>
        <p:nvSpPr>
          <p:cNvPr id="37" name="Text 35"/>
          <p:cNvSpPr/>
          <p:nvPr/>
        </p:nvSpPr>
        <p:spPr>
          <a:xfrm>
            <a:off x="2377440" y="5833872"/>
            <a:ext cx="8732520" cy="329184"/>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リスクと次のステップ</a:t>
            </a:r>
            <a:endParaRPr lang="en-US" sz="1600" dirty="0"/>
          </a:p>
        </p:txBody>
      </p:sp>
      <p:sp>
        <p:nvSpPr>
          <p:cNvPr id="38" name="Text 36"/>
          <p:cNvSpPr/>
          <p:nvPr/>
        </p:nvSpPr>
        <p:spPr>
          <a:xfrm>
            <a:off x="2377440" y="6135624"/>
            <a:ext cx="8732520" cy="237744"/>
          </a:xfrm>
          <a:prstGeom prst="rect">
            <a:avLst/>
          </a:prstGeom>
          <a:noFill/>
          <a:ln/>
        </p:spPr>
        <p:txBody>
          <a:bodyPr wrap="square" lIns="0" tIns="0" rIns="0" bIns="0" rtlCol="0" anchor="ctr"/>
          <a:lstStyle/>
          <a:p>
            <a:pPr algn="l" indent="0" marL="0">
              <a:buNone/>
            </a:pPr>
            <a:r>
              <a:rPr lang="en-US" sz="1050" dirty="0">
                <a:solidFill>
                  <a:srgbClr val="6B7280"/>
                </a:solidFill>
                <a:latin typeface="Noto Sans CJK JP" pitchFamily="34" charset="0"/>
                <a:ea typeface="Noto Sans CJK JP" pitchFamily="34" charset="-122"/>
                <a:cs typeface="Noto Sans CJK JP" pitchFamily="34" charset="-120"/>
              </a:rPr>
              <a:t>卒 FIT ・補助金枠・施工スケジュール</a:t>
            </a:r>
            <a:endParaRPr lang="en-US" sz="1050" dirty="0"/>
          </a:p>
        </p:txBody>
      </p:sp>
      <p:sp>
        <p:nvSpPr>
          <p:cNvPr id="39" name="Text 37"/>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40" name="Text 38"/>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2 / 20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50292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お客様の課題 ― いま解決したいこと</a:t>
            </a:r>
            <a:endParaRPr lang="en-US" sz="3000" dirty="0"/>
          </a:p>
        </p:txBody>
      </p:sp>
      <p:sp>
        <p:nvSpPr>
          <p:cNvPr id="3" name="Shape 1"/>
          <p:cNvSpPr/>
          <p:nvPr/>
        </p:nvSpPr>
        <p:spPr>
          <a:xfrm>
            <a:off x="457200" y="1371600"/>
            <a:ext cx="11274552" cy="1508760"/>
          </a:xfrm>
          <a:prstGeom prst="rect">
            <a:avLst/>
          </a:prstGeom>
          <a:solidFill>
            <a:srgbClr val="0F2747"/>
          </a:solidFill>
          <a:ln/>
        </p:spPr>
      </p:sp>
      <p:sp>
        <p:nvSpPr>
          <p:cNvPr id="4" name="Text 2"/>
          <p:cNvSpPr/>
          <p:nvPr/>
        </p:nvSpPr>
        <p:spPr>
          <a:xfrm>
            <a:off x="640080" y="1371600"/>
            <a:ext cx="640080" cy="822960"/>
          </a:xfrm>
          <a:prstGeom prst="rect">
            <a:avLst/>
          </a:prstGeom>
          <a:noFill/>
          <a:ln/>
        </p:spPr>
        <p:txBody>
          <a:bodyPr wrap="square" lIns="0" tIns="0" rIns="0" bIns="0" rtlCol="0" anchor="t"/>
          <a:lstStyle/>
          <a:p>
            <a:pPr algn="l" indent="0" marL="0">
              <a:buNone/>
            </a:pPr>
            <a:r>
              <a:rPr lang="en-US" sz="5400" b="1" dirty="0">
                <a:solidFill>
                  <a:srgbClr val="C7A867"/>
                </a:solidFill>
                <a:latin typeface="Georgia" pitchFamily="34" charset="0"/>
                <a:ea typeface="Georgia" pitchFamily="34" charset="-122"/>
                <a:cs typeface="Georgia" pitchFamily="34" charset="-120"/>
              </a:rPr>
              <a:t>“</a:t>
            </a:r>
            <a:endParaRPr lang="en-US" sz="5400" dirty="0"/>
          </a:p>
        </p:txBody>
      </p:sp>
      <p:sp>
        <p:nvSpPr>
          <p:cNvPr id="5" name="Text 3"/>
          <p:cNvSpPr/>
          <p:nvPr/>
        </p:nvSpPr>
        <p:spPr>
          <a:xfrm>
            <a:off x="1371600" y="1481328"/>
            <a:ext cx="9875520" cy="1051560"/>
          </a:xfrm>
          <a:prstGeom prst="rect">
            <a:avLst/>
          </a:prstGeom>
          <a:noFill/>
          <a:ln/>
        </p:spPr>
        <p:txBody>
          <a:bodyPr wrap="square" lIns="0" tIns="0" rIns="0" bIns="0" rtlCol="0" anchor="ctr"/>
          <a:lstStyle/>
          <a:p>
            <a:pPr algn="l" indent="0" marL="0">
              <a:lnSpc>
                <a:spcPct val="130000"/>
              </a:lnSpc>
              <a:buNone/>
            </a:pPr>
            <a:r>
              <a:rPr lang="en-US" sz="1400" i="1" dirty="0">
                <a:solidFill>
                  <a:srgbClr val="FFFFFF"/>
                </a:solidFill>
                <a:latin typeface="Noto Sans CJK JP" pitchFamily="34" charset="0"/>
                <a:ea typeface="Noto Sans CJK JP" pitchFamily="34" charset="-122"/>
                <a:cs typeface="Noto Sans CJK JP" pitchFamily="34" charset="-120"/>
              </a:rPr>
              <a:t>冷房や暖房が効かないのが悩み。電気代がかかるので全開で使えていない。</a:t>
            </a:r>
            <a:endParaRPr lang="en-US" sz="1400" dirty="0"/>
          </a:p>
          <a:p>
            <a:pPr algn="l" indent="0" marL="0">
              <a:lnSpc>
                <a:spcPct val="130000"/>
              </a:lnSpc>
              <a:buNone/>
            </a:pPr>
            <a:r>
              <a:rPr lang="en-US" sz="1400" i="1" dirty="0">
                <a:solidFill>
                  <a:srgbClr val="FFFFFF"/>
                </a:solidFill>
                <a:latin typeface="Noto Sans CJK JP" pitchFamily="34" charset="0"/>
                <a:ea typeface="Noto Sans CJK JP" pitchFamily="34" charset="-122"/>
                <a:cs typeface="Noto Sans CJK JP" pitchFamily="34" charset="-120"/>
              </a:rPr>
              <a:t>そもそも建物に対して空調が力不足かもしれない。</a:t>
            </a:r>
            <a:endParaRPr lang="en-US" sz="1400" dirty="0"/>
          </a:p>
          <a:p>
            <a:pPr algn="l" indent="0" marL="0">
              <a:lnSpc>
                <a:spcPct val="130000"/>
              </a:lnSpc>
              <a:buNone/>
            </a:pPr>
            <a:r>
              <a:rPr lang="en-US" sz="1400" i="1" dirty="0">
                <a:solidFill>
                  <a:srgbClr val="FFFFFF"/>
                </a:solidFill>
                <a:latin typeface="Noto Sans CJK JP" pitchFamily="34" charset="0"/>
                <a:ea typeface="Noto Sans CJK JP" pitchFamily="34" charset="-122"/>
                <a:cs typeface="Noto Sans CJK JP" pitchFamily="34" charset="-120"/>
              </a:rPr>
              <a:t>蓄電池や太陽光の増設で、曇りの日でもしっかり貯めて、気兼ねなく使えるようにしたい。</a:t>
            </a:r>
            <a:endParaRPr lang="en-US" sz="1400" dirty="0"/>
          </a:p>
        </p:txBody>
      </p:sp>
      <p:sp>
        <p:nvSpPr>
          <p:cNvPr id="6" name="Text 4"/>
          <p:cNvSpPr/>
          <p:nvPr/>
        </p:nvSpPr>
        <p:spPr>
          <a:xfrm>
            <a:off x="8229600" y="2542032"/>
            <a:ext cx="3291840" cy="274320"/>
          </a:xfrm>
          <a:prstGeom prst="rect">
            <a:avLst/>
          </a:prstGeom>
          <a:noFill/>
          <a:ln/>
        </p:spPr>
        <p:txBody>
          <a:bodyPr wrap="square" lIns="0" tIns="0" rIns="0" bIns="0" rtlCol="0" anchor="ctr"/>
          <a:lstStyle/>
          <a:p>
            <a:pPr algn="r" indent="0" marL="0">
              <a:buNone/>
            </a:pPr>
            <a:r>
              <a:rPr lang="en-US" sz="1100" dirty="0">
                <a:solidFill>
                  <a:srgbClr val="AEB9CC"/>
                </a:solidFill>
                <a:latin typeface="Noto Sans CJK JP" pitchFamily="34" charset="0"/>
                <a:ea typeface="Noto Sans CJK JP" pitchFamily="34" charset="-122"/>
                <a:cs typeface="Noto Sans CJK JP" pitchFamily="34" charset="-120"/>
              </a:rPr>
              <a:t>―  新生社 ご担当者様より</a:t>
            </a:r>
            <a:endParaRPr lang="en-US" sz="1100" dirty="0"/>
          </a:p>
        </p:txBody>
      </p:sp>
      <p:sp>
        <p:nvSpPr>
          <p:cNvPr id="7" name="Shape 5"/>
          <p:cNvSpPr/>
          <p:nvPr/>
        </p:nvSpPr>
        <p:spPr>
          <a:xfrm>
            <a:off x="457200" y="3200400"/>
            <a:ext cx="3593592" cy="713232"/>
          </a:xfrm>
          <a:prstGeom prst="rect">
            <a:avLst/>
          </a:prstGeom>
          <a:solidFill>
            <a:srgbClr val="E58027"/>
          </a:solidFill>
          <a:ln/>
        </p:spPr>
      </p:sp>
      <p:sp>
        <p:nvSpPr>
          <p:cNvPr id="8" name="Text 6"/>
          <p:cNvSpPr/>
          <p:nvPr/>
        </p:nvSpPr>
        <p:spPr>
          <a:xfrm>
            <a:off x="685800" y="3291840"/>
            <a:ext cx="3227832" cy="502920"/>
          </a:xfrm>
          <a:prstGeom prst="rect">
            <a:avLst/>
          </a:prstGeom>
          <a:noFill/>
          <a:ln/>
        </p:spPr>
        <p:txBody>
          <a:bodyPr wrap="square" lIns="0" tIns="0" rIns="0" bIns="0" rtlCol="0" anchor="ctr"/>
          <a:lstStyle/>
          <a:p>
            <a:pPr algn="l" indent="0" marL="0">
              <a:buNone/>
            </a:pPr>
            <a:r>
              <a:rPr lang="en-US" sz="1400" b="1" dirty="0">
                <a:solidFill>
                  <a:srgbClr val="FFFFFF"/>
                </a:solidFill>
                <a:latin typeface="Noto Sans CJK JP" pitchFamily="34" charset="0"/>
                <a:ea typeface="Noto Sans CJK JP" pitchFamily="34" charset="-122"/>
                <a:cs typeface="Noto Sans CJK JP" pitchFamily="34" charset="-120"/>
              </a:rPr>
              <a:t>課題 1</a:t>
            </a:r>
            <a:endParaRPr lang="en-US" sz="1400" dirty="0"/>
          </a:p>
        </p:txBody>
      </p:sp>
      <p:sp>
        <p:nvSpPr>
          <p:cNvPr id="9" name="Shape 7"/>
          <p:cNvSpPr/>
          <p:nvPr/>
        </p:nvSpPr>
        <p:spPr>
          <a:xfrm>
            <a:off x="457200" y="3913632"/>
            <a:ext cx="3593592" cy="1435608"/>
          </a:xfrm>
          <a:prstGeom prst="rect">
            <a:avLst/>
          </a:prstGeom>
          <a:solidFill>
            <a:srgbClr val="F4F6F8"/>
          </a:solidFill>
          <a:ln w="12700">
            <a:solidFill>
              <a:srgbClr val="E1E5EA"/>
            </a:solidFill>
            <a:prstDash val="solid"/>
          </a:ln>
        </p:spPr>
      </p:sp>
      <p:sp>
        <p:nvSpPr>
          <p:cNvPr id="10" name="Text 8"/>
          <p:cNvSpPr/>
          <p:nvPr/>
        </p:nvSpPr>
        <p:spPr>
          <a:xfrm>
            <a:off x="685800" y="4069080"/>
            <a:ext cx="3136392" cy="411480"/>
          </a:xfrm>
          <a:prstGeom prst="rect">
            <a:avLst/>
          </a:prstGeom>
          <a:noFill/>
          <a:ln/>
        </p:spPr>
        <p:txBody>
          <a:bodyPr wrap="square" lIns="0" tIns="0" rIns="0" bIns="0" rtlCol="0" anchor="ctr"/>
          <a:lstStyle/>
          <a:p>
            <a:pPr algn="l" indent="0" marL="0">
              <a:buNone/>
            </a:pPr>
            <a:r>
              <a:rPr lang="en-US" sz="1700" b="1" dirty="0">
                <a:solidFill>
                  <a:srgbClr val="0F2747"/>
                </a:solidFill>
                <a:latin typeface="Noto Sans CJK JP" pitchFamily="34" charset="0"/>
                <a:ea typeface="Noto Sans CJK JP" pitchFamily="34" charset="-122"/>
                <a:cs typeface="Noto Sans CJK JP" pitchFamily="34" charset="-120"/>
              </a:rPr>
              <a:t>我慢して使っている</a:t>
            </a:r>
            <a:endParaRPr lang="en-US" sz="1700" dirty="0"/>
          </a:p>
        </p:txBody>
      </p:sp>
      <p:sp>
        <p:nvSpPr>
          <p:cNvPr id="11" name="Text 9"/>
          <p:cNvSpPr/>
          <p:nvPr/>
        </p:nvSpPr>
        <p:spPr>
          <a:xfrm>
            <a:off x="685800" y="4526280"/>
            <a:ext cx="3136392" cy="777240"/>
          </a:xfrm>
          <a:prstGeom prst="rect">
            <a:avLst/>
          </a:prstGeom>
          <a:noFill/>
          <a:ln/>
        </p:spPr>
        <p:txBody>
          <a:bodyPr wrap="square" lIns="0" tIns="0" rIns="0" bIns="0" rtlCol="0" anchor="t"/>
          <a:lstStyle/>
          <a:p>
            <a:pPr algn="l" indent="0" marL="0">
              <a:lnSpc>
                <a:spcPct val="125000"/>
              </a:lnSpc>
              <a:buNone/>
            </a:pPr>
            <a:r>
              <a:rPr lang="en-US" sz="1150" dirty="0">
                <a:solidFill>
                  <a:srgbClr val="1A2B40"/>
                </a:solidFill>
                <a:latin typeface="Noto Sans CJK JP" pitchFamily="34" charset="0"/>
                <a:ea typeface="Noto Sans CJK JP" pitchFamily="34" charset="-122"/>
                <a:cs typeface="Noto Sans CJK JP" pitchFamily="34" charset="-120"/>
              </a:rPr>
              <a:t>電気代が気になり、冷暖房を全開にできない。暑い・寒いを我慢している状態。</a:t>
            </a:r>
            <a:endParaRPr lang="en-US" sz="1150" dirty="0"/>
          </a:p>
        </p:txBody>
      </p:sp>
      <p:sp>
        <p:nvSpPr>
          <p:cNvPr id="12" name="Shape 10"/>
          <p:cNvSpPr/>
          <p:nvPr/>
        </p:nvSpPr>
        <p:spPr>
          <a:xfrm>
            <a:off x="4297680" y="3200400"/>
            <a:ext cx="3593592" cy="713232"/>
          </a:xfrm>
          <a:prstGeom prst="rect">
            <a:avLst/>
          </a:prstGeom>
          <a:solidFill>
            <a:srgbClr val="4A90D9"/>
          </a:solidFill>
          <a:ln/>
        </p:spPr>
      </p:sp>
      <p:sp>
        <p:nvSpPr>
          <p:cNvPr id="13" name="Text 11"/>
          <p:cNvSpPr/>
          <p:nvPr/>
        </p:nvSpPr>
        <p:spPr>
          <a:xfrm>
            <a:off x="4526280" y="3291840"/>
            <a:ext cx="3227832" cy="502920"/>
          </a:xfrm>
          <a:prstGeom prst="rect">
            <a:avLst/>
          </a:prstGeom>
          <a:noFill/>
          <a:ln/>
        </p:spPr>
        <p:txBody>
          <a:bodyPr wrap="square" lIns="0" tIns="0" rIns="0" bIns="0" rtlCol="0" anchor="ctr"/>
          <a:lstStyle/>
          <a:p>
            <a:pPr algn="l" indent="0" marL="0">
              <a:buNone/>
            </a:pPr>
            <a:r>
              <a:rPr lang="en-US" sz="1400" b="1" dirty="0">
                <a:solidFill>
                  <a:srgbClr val="FFFFFF"/>
                </a:solidFill>
                <a:latin typeface="Noto Sans CJK JP" pitchFamily="34" charset="0"/>
                <a:ea typeface="Noto Sans CJK JP" pitchFamily="34" charset="-122"/>
                <a:cs typeface="Noto Sans CJK JP" pitchFamily="34" charset="-120"/>
              </a:rPr>
              <a:t>課題 2</a:t>
            </a:r>
            <a:endParaRPr lang="en-US" sz="1400" dirty="0"/>
          </a:p>
        </p:txBody>
      </p:sp>
      <p:sp>
        <p:nvSpPr>
          <p:cNvPr id="14" name="Shape 12"/>
          <p:cNvSpPr/>
          <p:nvPr/>
        </p:nvSpPr>
        <p:spPr>
          <a:xfrm>
            <a:off x="4297680" y="3913632"/>
            <a:ext cx="3593592" cy="1435608"/>
          </a:xfrm>
          <a:prstGeom prst="rect">
            <a:avLst/>
          </a:prstGeom>
          <a:solidFill>
            <a:srgbClr val="F4F6F8"/>
          </a:solidFill>
          <a:ln w="12700">
            <a:solidFill>
              <a:srgbClr val="E1E5EA"/>
            </a:solidFill>
            <a:prstDash val="solid"/>
          </a:ln>
        </p:spPr>
      </p:sp>
      <p:sp>
        <p:nvSpPr>
          <p:cNvPr id="15" name="Text 13"/>
          <p:cNvSpPr/>
          <p:nvPr/>
        </p:nvSpPr>
        <p:spPr>
          <a:xfrm>
            <a:off x="4526280" y="4069080"/>
            <a:ext cx="3136392" cy="411480"/>
          </a:xfrm>
          <a:prstGeom prst="rect">
            <a:avLst/>
          </a:prstGeom>
          <a:noFill/>
          <a:ln/>
        </p:spPr>
        <p:txBody>
          <a:bodyPr wrap="square" lIns="0" tIns="0" rIns="0" bIns="0" rtlCol="0" anchor="ctr"/>
          <a:lstStyle/>
          <a:p>
            <a:pPr algn="l" indent="0" marL="0">
              <a:buNone/>
            </a:pPr>
            <a:r>
              <a:rPr lang="en-US" sz="1700" b="1" dirty="0">
                <a:solidFill>
                  <a:srgbClr val="0F2747"/>
                </a:solidFill>
                <a:latin typeface="Noto Sans CJK JP" pitchFamily="34" charset="0"/>
                <a:ea typeface="Noto Sans CJK JP" pitchFamily="34" charset="-122"/>
                <a:cs typeface="Noto Sans CJK JP" pitchFamily="34" charset="-120"/>
              </a:rPr>
              <a:t>そもそも力不足かも</a:t>
            </a:r>
            <a:endParaRPr lang="en-US" sz="1700" dirty="0"/>
          </a:p>
        </p:txBody>
      </p:sp>
      <p:sp>
        <p:nvSpPr>
          <p:cNvPr id="16" name="Text 14"/>
          <p:cNvSpPr/>
          <p:nvPr/>
        </p:nvSpPr>
        <p:spPr>
          <a:xfrm>
            <a:off x="4526280" y="4526280"/>
            <a:ext cx="3136392" cy="777240"/>
          </a:xfrm>
          <a:prstGeom prst="rect">
            <a:avLst/>
          </a:prstGeom>
          <a:noFill/>
          <a:ln/>
        </p:spPr>
        <p:txBody>
          <a:bodyPr wrap="square" lIns="0" tIns="0" rIns="0" bIns="0" rtlCol="0" anchor="t"/>
          <a:lstStyle/>
          <a:p>
            <a:pPr algn="l" indent="0" marL="0">
              <a:lnSpc>
                <a:spcPct val="125000"/>
              </a:lnSpc>
              <a:buNone/>
            </a:pPr>
            <a:r>
              <a:rPr lang="en-US" sz="1150" dirty="0">
                <a:solidFill>
                  <a:srgbClr val="1A2B40"/>
                </a:solidFill>
                <a:latin typeface="Noto Sans CJK JP" pitchFamily="34" charset="0"/>
                <a:ea typeface="Noto Sans CJK JP" pitchFamily="34" charset="-122"/>
                <a:cs typeface="Noto Sans CJK JP" pitchFamily="34" charset="-120"/>
              </a:rPr>
              <a:t>建物の広さに対して、今の空調設備がアンダーパワーの可能性がある。</a:t>
            </a:r>
            <a:endParaRPr lang="en-US" sz="1150" dirty="0"/>
          </a:p>
        </p:txBody>
      </p:sp>
      <p:sp>
        <p:nvSpPr>
          <p:cNvPr id="17" name="Shape 15"/>
          <p:cNvSpPr/>
          <p:nvPr/>
        </p:nvSpPr>
        <p:spPr>
          <a:xfrm>
            <a:off x="8138160" y="3200400"/>
            <a:ext cx="3593592" cy="713232"/>
          </a:xfrm>
          <a:prstGeom prst="rect">
            <a:avLst/>
          </a:prstGeom>
          <a:solidFill>
            <a:srgbClr val="1FA383"/>
          </a:solidFill>
          <a:ln/>
        </p:spPr>
      </p:sp>
      <p:sp>
        <p:nvSpPr>
          <p:cNvPr id="18" name="Text 16"/>
          <p:cNvSpPr/>
          <p:nvPr/>
        </p:nvSpPr>
        <p:spPr>
          <a:xfrm>
            <a:off x="8366760" y="3291840"/>
            <a:ext cx="3227832" cy="502920"/>
          </a:xfrm>
          <a:prstGeom prst="rect">
            <a:avLst/>
          </a:prstGeom>
          <a:noFill/>
          <a:ln/>
        </p:spPr>
        <p:txBody>
          <a:bodyPr wrap="square" lIns="0" tIns="0" rIns="0" bIns="0" rtlCol="0" anchor="ctr"/>
          <a:lstStyle/>
          <a:p>
            <a:pPr algn="l" indent="0" marL="0">
              <a:buNone/>
            </a:pPr>
            <a:r>
              <a:rPr lang="en-US" sz="1400" b="1" dirty="0">
                <a:solidFill>
                  <a:srgbClr val="FFFFFF"/>
                </a:solidFill>
                <a:latin typeface="Noto Sans CJK JP" pitchFamily="34" charset="0"/>
                <a:ea typeface="Noto Sans CJK JP" pitchFamily="34" charset="-122"/>
                <a:cs typeface="Noto Sans CJK JP" pitchFamily="34" charset="-120"/>
              </a:rPr>
              <a:t>課題 3</a:t>
            </a:r>
            <a:endParaRPr lang="en-US" sz="1400" dirty="0"/>
          </a:p>
        </p:txBody>
      </p:sp>
      <p:sp>
        <p:nvSpPr>
          <p:cNvPr id="19" name="Shape 17"/>
          <p:cNvSpPr/>
          <p:nvPr/>
        </p:nvSpPr>
        <p:spPr>
          <a:xfrm>
            <a:off x="8138160" y="3913632"/>
            <a:ext cx="3593592" cy="1435608"/>
          </a:xfrm>
          <a:prstGeom prst="rect">
            <a:avLst/>
          </a:prstGeom>
          <a:solidFill>
            <a:srgbClr val="F4F6F8"/>
          </a:solidFill>
          <a:ln w="12700">
            <a:solidFill>
              <a:srgbClr val="E1E5EA"/>
            </a:solidFill>
            <a:prstDash val="solid"/>
          </a:ln>
        </p:spPr>
      </p:sp>
      <p:sp>
        <p:nvSpPr>
          <p:cNvPr id="20" name="Text 18"/>
          <p:cNvSpPr/>
          <p:nvPr/>
        </p:nvSpPr>
        <p:spPr>
          <a:xfrm>
            <a:off x="8366760" y="4069080"/>
            <a:ext cx="3136392" cy="411480"/>
          </a:xfrm>
          <a:prstGeom prst="rect">
            <a:avLst/>
          </a:prstGeom>
          <a:noFill/>
          <a:ln/>
        </p:spPr>
        <p:txBody>
          <a:bodyPr wrap="square" lIns="0" tIns="0" rIns="0" bIns="0" rtlCol="0" anchor="ctr"/>
          <a:lstStyle/>
          <a:p>
            <a:pPr algn="l" indent="0" marL="0">
              <a:buNone/>
            </a:pPr>
            <a:r>
              <a:rPr lang="en-US" sz="1700" b="1" dirty="0">
                <a:solidFill>
                  <a:srgbClr val="0F2747"/>
                </a:solidFill>
                <a:latin typeface="Noto Sans CJK JP" pitchFamily="34" charset="0"/>
                <a:ea typeface="Noto Sans CJK JP" pitchFamily="34" charset="-122"/>
                <a:cs typeface="Noto Sans CJK JP" pitchFamily="34" charset="-120"/>
              </a:rPr>
              <a:t>天気に左右される</a:t>
            </a:r>
            <a:endParaRPr lang="en-US" sz="1700" dirty="0"/>
          </a:p>
        </p:txBody>
      </p:sp>
      <p:sp>
        <p:nvSpPr>
          <p:cNvPr id="21" name="Text 19"/>
          <p:cNvSpPr/>
          <p:nvPr/>
        </p:nvSpPr>
        <p:spPr>
          <a:xfrm>
            <a:off x="8366760" y="4526280"/>
            <a:ext cx="3136392" cy="777240"/>
          </a:xfrm>
          <a:prstGeom prst="rect">
            <a:avLst/>
          </a:prstGeom>
          <a:noFill/>
          <a:ln/>
        </p:spPr>
        <p:txBody>
          <a:bodyPr wrap="square" lIns="0" tIns="0" rIns="0" bIns="0" rtlCol="0" anchor="t"/>
          <a:lstStyle/>
          <a:p>
            <a:pPr algn="l" indent="0" marL="0">
              <a:lnSpc>
                <a:spcPct val="125000"/>
              </a:lnSpc>
              <a:buNone/>
            </a:pPr>
            <a:r>
              <a:rPr lang="en-US" sz="1150" dirty="0">
                <a:solidFill>
                  <a:srgbClr val="1A2B40"/>
                </a:solidFill>
                <a:latin typeface="Noto Sans CJK JP" pitchFamily="34" charset="0"/>
                <a:ea typeface="Noto Sans CJK JP" pitchFamily="34" charset="-122"/>
                <a:cs typeface="Noto Sans CJK JP" pitchFamily="34" charset="-120"/>
              </a:rPr>
              <a:t>曇りの日でも安定して電気を使いたい。発電できない時間帯の備えが欲しい。</a:t>
            </a:r>
            <a:endParaRPr lang="en-US" sz="1150" dirty="0"/>
          </a:p>
        </p:txBody>
      </p:sp>
      <p:sp>
        <p:nvSpPr>
          <p:cNvPr id="22" name="Shape 20"/>
          <p:cNvSpPr/>
          <p:nvPr/>
        </p:nvSpPr>
        <p:spPr>
          <a:xfrm>
            <a:off x="457200" y="5577840"/>
            <a:ext cx="11274552" cy="841248"/>
          </a:xfrm>
          <a:prstGeom prst="rect">
            <a:avLst/>
          </a:prstGeom>
          <a:solidFill>
            <a:srgbClr val="B89A55"/>
          </a:solidFill>
          <a:ln/>
        </p:spPr>
      </p:sp>
      <p:sp>
        <p:nvSpPr>
          <p:cNvPr id="23" name="Text 21"/>
          <p:cNvSpPr/>
          <p:nvPr/>
        </p:nvSpPr>
        <p:spPr>
          <a:xfrm>
            <a:off x="685800" y="5650992"/>
            <a:ext cx="10058400" cy="274320"/>
          </a:xfrm>
          <a:prstGeom prst="rect">
            <a:avLst/>
          </a:prstGeom>
          <a:noFill/>
          <a:ln/>
        </p:spPr>
        <p:txBody>
          <a:bodyPr wrap="square" lIns="0" tIns="0" rIns="0" bIns="0" rtlCol="0" anchor="ctr"/>
          <a:lstStyle/>
          <a:p>
            <a:pPr algn="l" indent="0" marL="0">
              <a:buNone/>
            </a:pPr>
            <a:r>
              <a:rPr lang="en-US" sz="1250" b="1" dirty="0">
                <a:solidFill>
                  <a:srgbClr val="0F2747"/>
                </a:solidFill>
                <a:latin typeface="Noto Sans CJK JP" pitchFamily="34" charset="0"/>
                <a:ea typeface="Noto Sans CJK JP" pitchFamily="34" charset="-122"/>
                <a:cs typeface="Noto Sans CJK JP" pitchFamily="34" charset="-120"/>
              </a:rPr>
              <a:t>本提案のゴール</a:t>
            </a:r>
            <a:endParaRPr lang="en-US" sz="1250" dirty="0"/>
          </a:p>
        </p:txBody>
      </p:sp>
      <p:sp>
        <p:nvSpPr>
          <p:cNvPr id="24" name="Text 22"/>
          <p:cNvSpPr/>
          <p:nvPr/>
        </p:nvSpPr>
        <p:spPr>
          <a:xfrm>
            <a:off x="685800" y="5907024"/>
            <a:ext cx="10835640" cy="457200"/>
          </a:xfrm>
          <a:prstGeom prst="rect">
            <a:avLst/>
          </a:prstGeom>
          <a:noFill/>
          <a:ln/>
        </p:spPr>
        <p:txBody>
          <a:bodyPr wrap="square" lIns="0" tIns="0" rIns="0" bIns="0" rtlCol="0" anchor="ctr"/>
          <a:lstStyle/>
          <a:p>
            <a:pPr algn="l" indent="0" marL="0">
              <a:lnSpc>
                <a:spcPct val="115000"/>
              </a:lnSpc>
              <a:buNone/>
            </a:pPr>
            <a:r>
              <a:rPr lang="en-US" sz="1200" b="1" dirty="0">
                <a:solidFill>
                  <a:srgbClr val="0F2747"/>
                </a:solidFill>
                <a:latin typeface="Noto Sans CJK JP" pitchFamily="34" charset="0"/>
                <a:ea typeface="Noto Sans CJK JP" pitchFamily="34" charset="-122"/>
                <a:cs typeface="Noto Sans CJK JP" pitchFamily="34" charset="-120"/>
              </a:rPr>
              <a:t>太陽光をしっかり活かして電気代を下げ、蓄電池で曇りの日や夜も電気を確保。“我慢のいらない快適さ”と“電気代の安心”を、補助金を使って同時に実現します。</a:t>
            </a:r>
            <a:endParaRPr lang="en-US" sz="1200" dirty="0"/>
          </a:p>
        </p:txBody>
      </p:sp>
      <p:sp>
        <p:nvSpPr>
          <p:cNvPr id="25" name="Text 23"/>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26" name="Text 24"/>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3 / 20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02</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経営判断のポイント ― 結論先出しの 5 プラン比較</a:t>
            </a:r>
            <a:endParaRPr lang="en-US" sz="3000" dirty="0"/>
          </a:p>
        </p:txBody>
      </p:sp>
      <p:sp>
        <p:nvSpPr>
          <p:cNvPr id="4" name="Shape 2"/>
          <p:cNvSpPr/>
          <p:nvPr/>
        </p:nvSpPr>
        <p:spPr>
          <a:xfrm>
            <a:off x="10442448" y="1325880"/>
            <a:ext cx="1170432" cy="384048"/>
          </a:xfrm>
          <a:prstGeom prst="rect">
            <a:avLst/>
          </a:prstGeom>
          <a:solidFill>
            <a:srgbClr val="E07D45"/>
          </a:solidFill>
          <a:ln/>
        </p:spPr>
      </p:sp>
      <p:sp>
        <p:nvSpPr>
          <p:cNvPr id="5" name="Text 3"/>
          <p:cNvSpPr/>
          <p:nvPr/>
        </p:nvSpPr>
        <p:spPr>
          <a:xfrm>
            <a:off x="10442448" y="1325880"/>
            <a:ext cx="117043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CJK JP" pitchFamily="34" charset="0"/>
                <a:ea typeface="Noto Sans CJK JP" pitchFamily="34" charset="-122"/>
                <a:cs typeface="Noto Sans CJK JP" pitchFamily="34" charset="-120"/>
              </a:rPr>
              <a:t>最推奨</a:t>
            </a:r>
            <a:endParaRPr lang="en-US" sz="1200" dirty="0"/>
          </a:p>
        </p:txBody>
      </p:sp>
      <p:sp>
        <p:nvSpPr>
          <p:cNvPr id="6" name="Shape 4"/>
          <p:cNvSpPr/>
          <p:nvPr/>
        </p:nvSpPr>
        <p:spPr>
          <a:xfrm>
            <a:off x="502920" y="1783080"/>
            <a:ext cx="2139696" cy="841248"/>
          </a:xfrm>
          <a:prstGeom prst="rect">
            <a:avLst/>
          </a:prstGeom>
          <a:solidFill>
            <a:srgbClr val="8A95A5"/>
          </a:solidFill>
          <a:ln/>
        </p:spPr>
      </p:sp>
      <p:sp>
        <p:nvSpPr>
          <p:cNvPr id="7" name="Text 5"/>
          <p:cNvSpPr/>
          <p:nvPr/>
        </p:nvSpPr>
        <p:spPr>
          <a:xfrm>
            <a:off x="612648" y="1874520"/>
            <a:ext cx="1956816"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CJK JP" pitchFamily="34" charset="0"/>
                <a:ea typeface="Noto Sans CJK JP" pitchFamily="34" charset="-122"/>
                <a:cs typeface="Noto Sans CJK JP" pitchFamily="34" charset="-120"/>
              </a:rPr>
              <a:t>A 現状維持</a:t>
            </a:r>
            <a:endParaRPr lang="en-US" sz="1300" dirty="0"/>
          </a:p>
        </p:txBody>
      </p:sp>
      <p:sp>
        <p:nvSpPr>
          <p:cNvPr id="8" name="Text 6"/>
          <p:cNvSpPr/>
          <p:nvPr/>
        </p:nvSpPr>
        <p:spPr>
          <a:xfrm>
            <a:off x="612648" y="2221992"/>
            <a:ext cx="1956816" cy="274320"/>
          </a:xfrm>
          <a:prstGeom prst="rect">
            <a:avLst/>
          </a:prstGeom>
          <a:noFill/>
          <a:ln/>
        </p:spPr>
        <p:txBody>
          <a:bodyPr wrap="square" lIns="0" tIns="0" rIns="0" bIns="0" rtlCol="0" anchor="ctr"/>
          <a:lstStyle/>
          <a:p>
            <a:pPr algn="l" indent="0" marL="0">
              <a:buNone/>
            </a:pPr>
            <a:r>
              <a:rPr lang="en-US" sz="850" dirty="0">
                <a:solidFill>
                  <a:srgbClr val="F0F0F0"/>
                </a:solidFill>
                <a:latin typeface="Noto Sans CJK JP" pitchFamily="34" charset="0"/>
                <a:ea typeface="Noto Sans CJK JP" pitchFamily="34" charset="-122"/>
                <a:cs typeface="Noto Sans CJK JP" pitchFamily="34" charset="-120"/>
              </a:rPr>
              <a:t>全量売電</a:t>
            </a:r>
            <a:endParaRPr lang="en-US" sz="850" dirty="0"/>
          </a:p>
        </p:txBody>
      </p:sp>
      <p:sp>
        <p:nvSpPr>
          <p:cNvPr id="9" name="Shape 7"/>
          <p:cNvSpPr/>
          <p:nvPr/>
        </p:nvSpPr>
        <p:spPr>
          <a:xfrm>
            <a:off x="502920" y="2624328"/>
            <a:ext cx="2139696" cy="3136392"/>
          </a:xfrm>
          <a:prstGeom prst="rect">
            <a:avLst/>
          </a:prstGeom>
          <a:solidFill>
            <a:srgbClr val="FFFFFF"/>
          </a:solidFill>
          <a:ln w="12700">
            <a:solidFill>
              <a:srgbClr val="E1E5EA"/>
            </a:solidFill>
            <a:prstDash val="solid"/>
          </a:ln>
        </p:spPr>
      </p:sp>
      <p:sp>
        <p:nvSpPr>
          <p:cNvPr id="10" name="Text 8"/>
          <p:cNvSpPr/>
          <p:nvPr/>
        </p:nvSpPr>
        <p:spPr>
          <a:xfrm>
            <a:off x="630936" y="2697480"/>
            <a:ext cx="1883664" cy="2560320"/>
          </a:xfrm>
          <a:prstGeom prst="rect">
            <a:avLst/>
          </a:prstGeom>
          <a:noFill/>
          <a:ln/>
        </p:spPr>
        <p:txBody>
          <a:bodyPr wrap="square" lIns="0" tIns="0" rIns="0" bIns="0" rtlCol="0" anchor="t"/>
          <a:lstStyle/>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20年累計 12,244万円</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電気代 5,660万</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塗装+足場 6,584万★</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設備投資 0円</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暑さ対策ならず</a:t>
            </a:r>
            <a:endParaRPr lang="en-US" sz="880" dirty="0"/>
          </a:p>
        </p:txBody>
      </p:sp>
      <p:sp>
        <p:nvSpPr>
          <p:cNvPr id="11" name="Text 9"/>
          <p:cNvSpPr/>
          <p:nvPr/>
        </p:nvSpPr>
        <p:spPr>
          <a:xfrm>
            <a:off x="612648" y="5303520"/>
            <a:ext cx="1920240" cy="365760"/>
          </a:xfrm>
          <a:prstGeom prst="rect">
            <a:avLst/>
          </a:prstGeom>
          <a:noFill/>
          <a:ln/>
        </p:spPr>
        <p:txBody>
          <a:bodyPr wrap="square" lIns="0" tIns="0" rIns="0" bIns="0" rtlCol="0" anchor="ctr"/>
          <a:lstStyle/>
          <a:p>
            <a:pPr algn="l" indent="0" marL="0">
              <a:buNone/>
            </a:pPr>
            <a:r>
              <a:rPr lang="en-US" sz="850" dirty="0">
                <a:solidFill>
                  <a:srgbClr val="6B7280"/>
                </a:solidFill>
                <a:latin typeface="Noto Sans CJK JP" pitchFamily="34" charset="0"/>
                <a:ea typeface="Noto Sans CJK JP" pitchFamily="34" charset="-122"/>
                <a:cs typeface="Noto Sans CJK JP" pitchFamily="34" charset="-120"/>
              </a:rPr>
              <a:t>評価:</a:t>
            </a:r>
            <a:pPr algn="l" indent="0" marL="0">
              <a:buNone/>
            </a:pPr>
            <a:r>
              <a:rPr lang="en-US" sz="1100" b="1" dirty="0">
                <a:solidFill>
                  <a:srgbClr val="C0392B"/>
                </a:solidFill>
                <a:latin typeface="Noto Sans CJK JP" pitchFamily="34" charset="0"/>
                <a:ea typeface="Noto Sans CJK JP" pitchFamily="34" charset="-122"/>
                <a:cs typeface="Noto Sans CJK JP" pitchFamily="34" charset="-120"/>
              </a:rPr>
              <a:t>最も高い</a:t>
            </a:r>
            <a:endParaRPr lang="en-US" sz="850" dirty="0"/>
          </a:p>
        </p:txBody>
      </p:sp>
      <p:sp>
        <p:nvSpPr>
          <p:cNvPr id="12" name="Shape 10"/>
          <p:cNvSpPr/>
          <p:nvPr/>
        </p:nvSpPr>
        <p:spPr>
          <a:xfrm>
            <a:off x="2761488" y="1783080"/>
            <a:ext cx="2139696" cy="841248"/>
          </a:xfrm>
          <a:prstGeom prst="rect">
            <a:avLst/>
          </a:prstGeom>
          <a:solidFill>
            <a:srgbClr val="4A90D9"/>
          </a:solidFill>
          <a:ln/>
        </p:spPr>
      </p:sp>
      <p:sp>
        <p:nvSpPr>
          <p:cNvPr id="13" name="Text 11"/>
          <p:cNvSpPr/>
          <p:nvPr/>
        </p:nvSpPr>
        <p:spPr>
          <a:xfrm>
            <a:off x="2871216" y="1874520"/>
            <a:ext cx="1956816"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CJK JP" pitchFamily="34" charset="0"/>
                <a:ea typeface="Noto Sans CJK JP" pitchFamily="34" charset="-122"/>
                <a:cs typeface="Noto Sans CJK JP" pitchFamily="34" charset="-120"/>
              </a:rPr>
              <a:t>B サニックス</a:t>
            </a:r>
            <a:endParaRPr lang="en-US" sz="1300" dirty="0"/>
          </a:p>
        </p:txBody>
      </p:sp>
      <p:sp>
        <p:nvSpPr>
          <p:cNvPr id="14" name="Text 12"/>
          <p:cNvSpPr/>
          <p:nvPr/>
        </p:nvSpPr>
        <p:spPr>
          <a:xfrm>
            <a:off x="2871216" y="2221992"/>
            <a:ext cx="1956816" cy="274320"/>
          </a:xfrm>
          <a:prstGeom prst="rect">
            <a:avLst/>
          </a:prstGeom>
          <a:noFill/>
          <a:ln/>
        </p:spPr>
        <p:txBody>
          <a:bodyPr wrap="square" lIns="0" tIns="0" rIns="0" bIns="0" rtlCol="0" anchor="ctr"/>
          <a:lstStyle/>
          <a:p>
            <a:pPr algn="l" indent="0" marL="0">
              <a:buNone/>
            </a:pPr>
            <a:r>
              <a:rPr lang="en-US" sz="850" dirty="0">
                <a:solidFill>
                  <a:srgbClr val="F0F0F0"/>
                </a:solidFill>
                <a:latin typeface="Noto Sans CJK JP" pitchFamily="34" charset="0"/>
                <a:ea typeface="Noto Sans CJK JP" pitchFamily="34" charset="-122"/>
                <a:cs typeface="Noto Sans CJK JP" pitchFamily="34" charset="-120"/>
              </a:rPr>
              <a:t>太陽光のみ自家消費</a:t>
            </a:r>
            <a:endParaRPr lang="en-US" sz="850" dirty="0"/>
          </a:p>
        </p:txBody>
      </p:sp>
      <p:sp>
        <p:nvSpPr>
          <p:cNvPr id="15" name="Shape 13"/>
          <p:cNvSpPr/>
          <p:nvPr/>
        </p:nvSpPr>
        <p:spPr>
          <a:xfrm>
            <a:off x="2761488" y="2624328"/>
            <a:ext cx="2139696" cy="3136392"/>
          </a:xfrm>
          <a:prstGeom prst="rect">
            <a:avLst/>
          </a:prstGeom>
          <a:solidFill>
            <a:srgbClr val="FFFFFF"/>
          </a:solidFill>
          <a:ln w="12700">
            <a:solidFill>
              <a:srgbClr val="E1E5EA"/>
            </a:solidFill>
            <a:prstDash val="solid"/>
          </a:ln>
        </p:spPr>
      </p:sp>
      <p:sp>
        <p:nvSpPr>
          <p:cNvPr id="16" name="Text 14"/>
          <p:cNvSpPr/>
          <p:nvPr/>
        </p:nvSpPr>
        <p:spPr>
          <a:xfrm>
            <a:off x="2889504" y="2697480"/>
            <a:ext cx="1883664" cy="2560320"/>
          </a:xfrm>
          <a:prstGeom prst="rect">
            <a:avLst/>
          </a:prstGeom>
          <a:noFill/>
          <a:ln/>
        </p:spPr>
        <p:txBody>
          <a:bodyPr wrap="square" lIns="0" tIns="0" rIns="0" bIns="0" rtlCol="0" anchor="t"/>
          <a:lstStyle/>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20年累計 10,955万円</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A比 ▲1,289万</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電気代のみ改善</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BCP × / 補助金なし</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塗装メンテ 6,584万残る</a:t>
            </a:r>
            <a:endParaRPr lang="en-US" sz="880" dirty="0"/>
          </a:p>
        </p:txBody>
      </p:sp>
      <p:sp>
        <p:nvSpPr>
          <p:cNvPr id="17" name="Text 15"/>
          <p:cNvSpPr/>
          <p:nvPr/>
        </p:nvSpPr>
        <p:spPr>
          <a:xfrm>
            <a:off x="2871216" y="5303520"/>
            <a:ext cx="1920240" cy="365760"/>
          </a:xfrm>
          <a:prstGeom prst="rect">
            <a:avLst/>
          </a:prstGeom>
          <a:noFill/>
          <a:ln/>
        </p:spPr>
        <p:txBody>
          <a:bodyPr wrap="square" lIns="0" tIns="0" rIns="0" bIns="0" rtlCol="0" anchor="ctr"/>
          <a:lstStyle/>
          <a:p>
            <a:pPr algn="l" indent="0" marL="0">
              <a:buNone/>
            </a:pPr>
            <a:r>
              <a:rPr lang="en-US" sz="850" dirty="0">
                <a:solidFill>
                  <a:srgbClr val="6B7280"/>
                </a:solidFill>
                <a:latin typeface="Noto Sans CJK JP" pitchFamily="34" charset="0"/>
                <a:ea typeface="Noto Sans CJK JP" pitchFamily="34" charset="-122"/>
                <a:cs typeface="Noto Sans CJK JP" pitchFamily="34" charset="-120"/>
              </a:rPr>
              <a:t>評価:</a:t>
            </a:r>
            <a:pPr algn="l" indent="0" marL="0">
              <a:buNone/>
            </a:pPr>
            <a:r>
              <a:rPr lang="en-US" sz="1100" b="1" dirty="0">
                <a:solidFill>
                  <a:srgbClr val="4A90D9"/>
                </a:solidFill>
                <a:latin typeface="Noto Sans CJK JP" pitchFamily="34" charset="0"/>
                <a:ea typeface="Noto Sans CJK JP" pitchFamily="34" charset="-122"/>
                <a:cs typeface="Noto Sans CJK JP" pitchFamily="34" charset="-120"/>
              </a:rPr>
              <a:t>電気代のみ</a:t>
            </a:r>
            <a:endParaRPr lang="en-US" sz="850" dirty="0"/>
          </a:p>
        </p:txBody>
      </p:sp>
      <p:sp>
        <p:nvSpPr>
          <p:cNvPr id="18" name="Shape 16"/>
          <p:cNvSpPr/>
          <p:nvPr/>
        </p:nvSpPr>
        <p:spPr>
          <a:xfrm>
            <a:off x="5020056" y="1783080"/>
            <a:ext cx="2139696" cy="841248"/>
          </a:xfrm>
          <a:prstGeom prst="rect">
            <a:avLst/>
          </a:prstGeom>
          <a:solidFill>
            <a:srgbClr val="1FA383"/>
          </a:solidFill>
          <a:ln/>
        </p:spPr>
      </p:sp>
      <p:sp>
        <p:nvSpPr>
          <p:cNvPr id="19" name="Text 17"/>
          <p:cNvSpPr/>
          <p:nvPr/>
        </p:nvSpPr>
        <p:spPr>
          <a:xfrm>
            <a:off x="5129784" y="1874520"/>
            <a:ext cx="1956816"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CJK JP" pitchFamily="34" charset="0"/>
                <a:ea typeface="Noto Sans CJK JP" pitchFamily="34" charset="-122"/>
                <a:cs typeface="Noto Sans CJK JP" pitchFamily="34" charset="-120"/>
              </a:rPr>
              <a:t>C シスコム</a:t>
            </a:r>
            <a:endParaRPr lang="en-US" sz="1300" dirty="0"/>
          </a:p>
        </p:txBody>
      </p:sp>
      <p:sp>
        <p:nvSpPr>
          <p:cNvPr id="20" name="Text 18"/>
          <p:cNvSpPr/>
          <p:nvPr/>
        </p:nvSpPr>
        <p:spPr>
          <a:xfrm>
            <a:off x="5129784" y="2221992"/>
            <a:ext cx="1956816" cy="274320"/>
          </a:xfrm>
          <a:prstGeom prst="rect">
            <a:avLst/>
          </a:prstGeom>
          <a:noFill/>
          <a:ln/>
        </p:spPr>
        <p:txBody>
          <a:bodyPr wrap="square" lIns="0" tIns="0" rIns="0" bIns="0" rtlCol="0" anchor="ctr"/>
          <a:lstStyle/>
          <a:p>
            <a:pPr algn="l" indent="0" marL="0">
              <a:buNone/>
            </a:pPr>
            <a:r>
              <a:rPr lang="en-US" sz="850" dirty="0">
                <a:solidFill>
                  <a:srgbClr val="F0F0F0"/>
                </a:solidFill>
                <a:latin typeface="Noto Sans CJK JP" pitchFamily="34" charset="0"/>
                <a:ea typeface="Noto Sans CJK JP" pitchFamily="34" charset="-122"/>
                <a:cs typeface="Noto Sans CJK JP" pitchFamily="34" charset="-120"/>
              </a:rPr>
              <a:t>蓄電池+補助金</a:t>
            </a:r>
            <a:endParaRPr lang="en-US" sz="850" dirty="0"/>
          </a:p>
        </p:txBody>
      </p:sp>
      <p:sp>
        <p:nvSpPr>
          <p:cNvPr id="21" name="Shape 19"/>
          <p:cNvSpPr/>
          <p:nvPr/>
        </p:nvSpPr>
        <p:spPr>
          <a:xfrm>
            <a:off x="5020056" y="2624328"/>
            <a:ext cx="2139696" cy="3136392"/>
          </a:xfrm>
          <a:prstGeom prst="rect">
            <a:avLst/>
          </a:prstGeom>
          <a:solidFill>
            <a:srgbClr val="FFFFFF"/>
          </a:solidFill>
          <a:ln w="12700">
            <a:solidFill>
              <a:srgbClr val="E1E5EA"/>
            </a:solidFill>
            <a:prstDash val="solid"/>
          </a:ln>
        </p:spPr>
      </p:sp>
      <p:sp>
        <p:nvSpPr>
          <p:cNvPr id="22" name="Text 20"/>
          <p:cNvSpPr/>
          <p:nvPr/>
        </p:nvSpPr>
        <p:spPr>
          <a:xfrm>
            <a:off x="5148072" y="2697480"/>
            <a:ext cx="1883664" cy="2560320"/>
          </a:xfrm>
          <a:prstGeom prst="rect">
            <a:avLst/>
          </a:prstGeom>
          <a:noFill/>
          <a:ln/>
        </p:spPr>
        <p:txBody>
          <a:bodyPr wrap="square" lIns="0" tIns="0" rIns="0" bIns="0" rtlCol="0" anchor="t"/>
          <a:lstStyle/>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20年累計 9,821万円</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A比 ▲2,423万</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オムロン国産+地元施工</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BCP 54kWh / 18h</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塗装メンテ 6,584万残る</a:t>
            </a:r>
            <a:endParaRPr lang="en-US" sz="880" dirty="0"/>
          </a:p>
        </p:txBody>
      </p:sp>
      <p:sp>
        <p:nvSpPr>
          <p:cNvPr id="23" name="Text 21"/>
          <p:cNvSpPr/>
          <p:nvPr/>
        </p:nvSpPr>
        <p:spPr>
          <a:xfrm>
            <a:off x="5129784" y="5303520"/>
            <a:ext cx="1920240" cy="365760"/>
          </a:xfrm>
          <a:prstGeom prst="rect">
            <a:avLst/>
          </a:prstGeom>
          <a:noFill/>
          <a:ln/>
        </p:spPr>
        <p:txBody>
          <a:bodyPr wrap="square" lIns="0" tIns="0" rIns="0" bIns="0" rtlCol="0" anchor="ctr"/>
          <a:lstStyle/>
          <a:p>
            <a:pPr algn="l" indent="0" marL="0">
              <a:buNone/>
            </a:pPr>
            <a:r>
              <a:rPr lang="en-US" sz="850" dirty="0">
                <a:solidFill>
                  <a:srgbClr val="6B7280"/>
                </a:solidFill>
                <a:latin typeface="Noto Sans CJK JP" pitchFamily="34" charset="0"/>
                <a:ea typeface="Noto Sans CJK JP" pitchFamily="34" charset="-122"/>
                <a:cs typeface="Noto Sans CJK JP" pitchFamily="34" charset="-120"/>
              </a:rPr>
              <a:t>評価:</a:t>
            </a:r>
            <a:pPr algn="l" indent="0" marL="0">
              <a:buNone/>
            </a:pPr>
            <a:r>
              <a:rPr lang="en-US" sz="1100" b="1" dirty="0">
                <a:solidFill>
                  <a:srgbClr val="1FA383"/>
                </a:solidFill>
                <a:latin typeface="Noto Sans CJK JP" pitchFamily="34" charset="0"/>
                <a:ea typeface="Noto Sans CJK JP" pitchFamily="34" charset="-122"/>
                <a:cs typeface="Noto Sans CJK JP" pitchFamily="34" charset="-120"/>
              </a:rPr>
              <a:t>電気代+BCP</a:t>
            </a:r>
            <a:endParaRPr lang="en-US" sz="850" dirty="0"/>
          </a:p>
        </p:txBody>
      </p:sp>
      <p:sp>
        <p:nvSpPr>
          <p:cNvPr id="24" name="Shape 22"/>
          <p:cNvSpPr/>
          <p:nvPr/>
        </p:nvSpPr>
        <p:spPr>
          <a:xfrm>
            <a:off x="7278624" y="1783080"/>
            <a:ext cx="2139696" cy="841248"/>
          </a:xfrm>
          <a:prstGeom prst="rect">
            <a:avLst/>
          </a:prstGeom>
          <a:solidFill>
            <a:srgbClr val="B89A55"/>
          </a:solidFill>
          <a:ln/>
        </p:spPr>
      </p:sp>
      <p:sp>
        <p:nvSpPr>
          <p:cNvPr id="25" name="Text 23"/>
          <p:cNvSpPr/>
          <p:nvPr/>
        </p:nvSpPr>
        <p:spPr>
          <a:xfrm>
            <a:off x="7388352" y="1874520"/>
            <a:ext cx="1956816"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CJK JP" pitchFamily="34" charset="0"/>
                <a:ea typeface="Noto Sans CJK JP" pitchFamily="34" charset="-122"/>
                <a:cs typeface="Noto Sans CJK JP" pitchFamily="34" charset="-120"/>
              </a:rPr>
              <a:t>D ダブル</a:t>
            </a:r>
            <a:endParaRPr lang="en-US" sz="1300" dirty="0"/>
          </a:p>
        </p:txBody>
      </p:sp>
      <p:sp>
        <p:nvSpPr>
          <p:cNvPr id="26" name="Text 24"/>
          <p:cNvSpPr/>
          <p:nvPr/>
        </p:nvSpPr>
        <p:spPr>
          <a:xfrm>
            <a:off x="7388352" y="2221992"/>
            <a:ext cx="1956816" cy="274320"/>
          </a:xfrm>
          <a:prstGeom prst="rect">
            <a:avLst/>
          </a:prstGeom>
          <a:noFill/>
          <a:ln/>
        </p:spPr>
        <p:txBody>
          <a:bodyPr wrap="square" lIns="0" tIns="0" rIns="0" bIns="0" rtlCol="0" anchor="ctr"/>
          <a:lstStyle/>
          <a:p>
            <a:pPr algn="l" indent="0" marL="0">
              <a:buNone/>
            </a:pPr>
            <a:r>
              <a:rPr lang="en-US" sz="850" dirty="0">
                <a:solidFill>
                  <a:srgbClr val="F0F0F0"/>
                </a:solidFill>
                <a:latin typeface="Noto Sans CJK JP" pitchFamily="34" charset="0"/>
                <a:ea typeface="Noto Sans CJK JP" pitchFamily="34" charset="-122"/>
                <a:cs typeface="Noto Sans CJK JP" pitchFamily="34" charset="-120"/>
              </a:rPr>
              <a:t>屋根外壁ポリウレア</a:t>
            </a:r>
            <a:endParaRPr lang="en-US" sz="850" dirty="0"/>
          </a:p>
        </p:txBody>
      </p:sp>
      <p:sp>
        <p:nvSpPr>
          <p:cNvPr id="27" name="Shape 25"/>
          <p:cNvSpPr/>
          <p:nvPr/>
        </p:nvSpPr>
        <p:spPr>
          <a:xfrm>
            <a:off x="7278624" y="2624328"/>
            <a:ext cx="2139696" cy="3136392"/>
          </a:xfrm>
          <a:prstGeom prst="rect">
            <a:avLst/>
          </a:prstGeom>
          <a:solidFill>
            <a:srgbClr val="FFFFFF"/>
          </a:solidFill>
          <a:ln w="12700">
            <a:solidFill>
              <a:srgbClr val="E1E5EA"/>
            </a:solidFill>
            <a:prstDash val="solid"/>
          </a:ln>
        </p:spPr>
      </p:sp>
      <p:sp>
        <p:nvSpPr>
          <p:cNvPr id="28" name="Text 26"/>
          <p:cNvSpPr/>
          <p:nvPr/>
        </p:nvSpPr>
        <p:spPr>
          <a:xfrm>
            <a:off x="7406640" y="2697480"/>
            <a:ext cx="1883664" cy="2560320"/>
          </a:xfrm>
          <a:prstGeom prst="rect">
            <a:avLst/>
          </a:prstGeom>
          <a:noFill/>
          <a:ln/>
        </p:spPr>
        <p:txBody>
          <a:bodyPr wrap="square" lIns="0" tIns="0" rIns="0" bIns="0" rtlCol="0" anchor="t"/>
          <a:lstStyle/>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20年累計 5,375万円</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A比 ▲6,869万 ★</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空調30%カット</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設備 補助前4,573→実質3,573</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20年メンテ 0円</a:t>
            </a:r>
            <a:endParaRPr lang="en-US" sz="880" dirty="0"/>
          </a:p>
        </p:txBody>
      </p:sp>
      <p:sp>
        <p:nvSpPr>
          <p:cNvPr id="29" name="Text 27"/>
          <p:cNvSpPr/>
          <p:nvPr/>
        </p:nvSpPr>
        <p:spPr>
          <a:xfrm>
            <a:off x="7388352" y="5303520"/>
            <a:ext cx="1920240" cy="365760"/>
          </a:xfrm>
          <a:prstGeom prst="rect">
            <a:avLst/>
          </a:prstGeom>
          <a:noFill/>
          <a:ln/>
        </p:spPr>
        <p:txBody>
          <a:bodyPr wrap="square" lIns="0" tIns="0" rIns="0" bIns="0" rtlCol="0" anchor="ctr"/>
          <a:lstStyle/>
          <a:p>
            <a:pPr algn="l" indent="0" marL="0">
              <a:buNone/>
            </a:pPr>
            <a:r>
              <a:rPr lang="en-US" sz="850" dirty="0">
                <a:solidFill>
                  <a:srgbClr val="6B7280"/>
                </a:solidFill>
                <a:latin typeface="Noto Sans CJK JP" pitchFamily="34" charset="0"/>
                <a:ea typeface="Noto Sans CJK JP" pitchFamily="34" charset="-122"/>
                <a:cs typeface="Noto Sans CJK JP" pitchFamily="34" charset="-120"/>
              </a:rPr>
              <a:t>評価:</a:t>
            </a:r>
            <a:pPr algn="l" indent="0" marL="0">
              <a:buNone/>
            </a:pPr>
            <a:r>
              <a:rPr lang="en-US" sz="1100" b="1" dirty="0">
                <a:solidFill>
                  <a:srgbClr val="B89A55"/>
                </a:solidFill>
                <a:latin typeface="Noto Sans CJK JP" pitchFamily="34" charset="0"/>
                <a:ea typeface="Noto Sans CJK JP" pitchFamily="34" charset="-122"/>
                <a:cs typeface="Noto Sans CJK JP" pitchFamily="34" charset="-120"/>
              </a:rPr>
              <a:t>建物寿命+20年</a:t>
            </a:r>
            <a:endParaRPr lang="en-US" sz="850" dirty="0"/>
          </a:p>
        </p:txBody>
      </p:sp>
      <p:sp>
        <p:nvSpPr>
          <p:cNvPr id="30" name="Shape 28"/>
          <p:cNvSpPr/>
          <p:nvPr/>
        </p:nvSpPr>
        <p:spPr>
          <a:xfrm>
            <a:off x="9537192" y="1783080"/>
            <a:ext cx="2139696" cy="841248"/>
          </a:xfrm>
          <a:prstGeom prst="rect">
            <a:avLst/>
          </a:prstGeom>
          <a:solidFill>
            <a:srgbClr val="E07D45"/>
          </a:solidFill>
          <a:ln/>
        </p:spPr>
      </p:sp>
      <p:sp>
        <p:nvSpPr>
          <p:cNvPr id="31" name="Text 29"/>
          <p:cNvSpPr/>
          <p:nvPr/>
        </p:nvSpPr>
        <p:spPr>
          <a:xfrm>
            <a:off x="9646920" y="1874520"/>
            <a:ext cx="1956816"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CJK JP" pitchFamily="34" charset="0"/>
                <a:ea typeface="Noto Sans CJK JP" pitchFamily="34" charset="-122"/>
                <a:cs typeface="Noto Sans CJK JP" pitchFamily="34" charset="-120"/>
              </a:rPr>
              <a:t>E 屋根のみ先行</a:t>
            </a:r>
            <a:endParaRPr lang="en-US" sz="1300" dirty="0"/>
          </a:p>
        </p:txBody>
      </p:sp>
      <p:sp>
        <p:nvSpPr>
          <p:cNvPr id="32" name="Text 30"/>
          <p:cNvSpPr/>
          <p:nvPr/>
        </p:nvSpPr>
        <p:spPr>
          <a:xfrm>
            <a:off x="9646920" y="2221992"/>
            <a:ext cx="1956816" cy="274320"/>
          </a:xfrm>
          <a:prstGeom prst="rect">
            <a:avLst/>
          </a:prstGeom>
          <a:noFill/>
          <a:ln/>
        </p:spPr>
        <p:txBody>
          <a:bodyPr wrap="square" lIns="0" tIns="0" rIns="0" bIns="0" rtlCol="0" anchor="ctr"/>
          <a:lstStyle/>
          <a:p>
            <a:pPr algn="l" indent="0" marL="0">
              <a:buNone/>
            </a:pPr>
            <a:r>
              <a:rPr lang="en-US" sz="850" dirty="0">
                <a:solidFill>
                  <a:srgbClr val="F0F0F0"/>
                </a:solidFill>
                <a:latin typeface="Noto Sans CJK JP" pitchFamily="34" charset="0"/>
                <a:ea typeface="Noto Sans CJK JP" pitchFamily="34" charset="-122"/>
                <a:cs typeface="Noto Sans CJK JP" pitchFamily="34" charset="-120"/>
              </a:rPr>
              <a:t>2年で補助金2回狙い</a:t>
            </a:r>
            <a:endParaRPr lang="en-US" sz="850" dirty="0"/>
          </a:p>
        </p:txBody>
      </p:sp>
      <p:sp>
        <p:nvSpPr>
          <p:cNvPr id="33" name="Shape 31"/>
          <p:cNvSpPr/>
          <p:nvPr/>
        </p:nvSpPr>
        <p:spPr>
          <a:xfrm>
            <a:off x="9537192" y="2624328"/>
            <a:ext cx="2139696" cy="3136392"/>
          </a:xfrm>
          <a:prstGeom prst="rect">
            <a:avLst/>
          </a:prstGeom>
          <a:solidFill>
            <a:srgbClr val="FFFFFF"/>
          </a:solidFill>
          <a:ln w="12700">
            <a:solidFill>
              <a:srgbClr val="E1E5EA"/>
            </a:solidFill>
            <a:prstDash val="solid"/>
          </a:ln>
        </p:spPr>
      </p:sp>
      <p:sp>
        <p:nvSpPr>
          <p:cNvPr id="34" name="Text 32"/>
          <p:cNvSpPr/>
          <p:nvPr/>
        </p:nvSpPr>
        <p:spPr>
          <a:xfrm>
            <a:off x="9665208" y="2697480"/>
            <a:ext cx="1883664" cy="2560320"/>
          </a:xfrm>
          <a:prstGeom prst="rect">
            <a:avLst/>
          </a:prstGeom>
          <a:noFill/>
          <a:ln/>
        </p:spPr>
        <p:txBody>
          <a:bodyPr wrap="square" lIns="0" tIns="0" rIns="0" bIns="0" rtlCol="0" anchor="t"/>
          <a:lstStyle/>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20年累計 4,095万円 ★最安</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A比 ▲8,149万</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屋根遮熱+蓄電池+太陽光</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補助金1,000万 (今年)</a:t>
            </a:r>
            <a:endParaRPr lang="en-US" sz="880" dirty="0"/>
          </a:p>
          <a:p>
            <a:pPr algn="l" marL="342900" indent="-342900">
              <a:spcAft>
                <a:spcPts val="700"/>
              </a:spcAft>
              <a:buSzPct val="100000"/>
              <a:buChar char="●"/>
            </a:pPr>
            <a:r>
              <a:rPr lang="en-US" sz="880" dirty="0">
                <a:solidFill>
                  <a:srgbClr val="1A2B40"/>
                </a:solidFill>
                <a:latin typeface="Noto Sans CJK JP" pitchFamily="34" charset="0"/>
                <a:ea typeface="Noto Sans CJK JP" pitchFamily="34" charset="-122"/>
                <a:cs typeface="Noto Sans CJK JP" pitchFamily="34" charset="-120"/>
              </a:rPr>
              <a:t>来年外壁で実質930万</a:t>
            </a:r>
            <a:endParaRPr lang="en-US" sz="880" dirty="0"/>
          </a:p>
        </p:txBody>
      </p:sp>
      <p:sp>
        <p:nvSpPr>
          <p:cNvPr id="35" name="Text 33"/>
          <p:cNvSpPr/>
          <p:nvPr/>
        </p:nvSpPr>
        <p:spPr>
          <a:xfrm>
            <a:off x="9646920" y="5303520"/>
            <a:ext cx="1920240" cy="365760"/>
          </a:xfrm>
          <a:prstGeom prst="rect">
            <a:avLst/>
          </a:prstGeom>
          <a:noFill/>
          <a:ln/>
        </p:spPr>
        <p:txBody>
          <a:bodyPr wrap="square" lIns="0" tIns="0" rIns="0" bIns="0" rtlCol="0" anchor="ctr"/>
          <a:lstStyle/>
          <a:p>
            <a:pPr algn="l" indent="0" marL="0">
              <a:buNone/>
            </a:pPr>
            <a:r>
              <a:rPr lang="en-US" sz="850" dirty="0">
                <a:solidFill>
                  <a:srgbClr val="6B7280"/>
                </a:solidFill>
                <a:latin typeface="Noto Sans CJK JP" pitchFamily="34" charset="0"/>
                <a:ea typeface="Noto Sans CJK JP" pitchFamily="34" charset="-122"/>
                <a:cs typeface="Noto Sans CJK JP" pitchFamily="34" charset="-120"/>
              </a:rPr>
              <a:t>評価:</a:t>
            </a:r>
            <a:pPr algn="l" indent="0" marL="0">
              <a:buNone/>
            </a:pPr>
            <a:r>
              <a:rPr lang="en-US" sz="1100" b="1" dirty="0">
                <a:solidFill>
                  <a:srgbClr val="E07D45"/>
                </a:solidFill>
                <a:latin typeface="Noto Sans CJK JP" pitchFamily="34" charset="0"/>
                <a:ea typeface="Noto Sans CJK JP" pitchFamily="34" charset="-122"/>
                <a:cs typeface="Noto Sans CJK JP" pitchFamily="34" charset="-120"/>
              </a:rPr>
              <a:t>2段階で最大</a:t>
            </a:r>
            <a:endParaRPr lang="en-US" sz="850" dirty="0"/>
          </a:p>
        </p:txBody>
      </p:sp>
      <p:sp>
        <p:nvSpPr>
          <p:cNvPr id="36" name="Shape 34"/>
          <p:cNvSpPr/>
          <p:nvPr/>
        </p:nvSpPr>
        <p:spPr>
          <a:xfrm>
            <a:off x="457200" y="5943600"/>
            <a:ext cx="11274552" cy="566928"/>
          </a:xfrm>
          <a:prstGeom prst="rect">
            <a:avLst/>
          </a:prstGeom>
          <a:solidFill>
            <a:srgbClr val="0F2747"/>
          </a:solidFill>
          <a:ln/>
        </p:spPr>
      </p:sp>
      <p:sp>
        <p:nvSpPr>
          <p:cNvPr id="37" name="Text 35"/>
          <p:cNvSpPr/>
          <p:nvPr/>
        </p:nvSpPr>
        <p:spPr>
          <a:xfrm>
            <a:off x="640080" y="5943600"/>
            <a:ext cx="10927080" cy="566928"/>
          </a:xfrm>
          <a:prstGeom prst="rect">
            <a:avLst/>
          </a:prstGeom>
          <a:noFill/>
          <a:ln/>
        </p:spPr>
        <p:txBody>
          <a:bodyPr wrap="square" lIns="0" tIns="0" rIns="0" bIns="0" rtlCol="0" anchor="ctr"/>
          <a:lstStyle/>
          <a:p>
            <a:pPr algn="l" indent="0" marL="0">
              <a:lnSpc>
                <a:spcPct val="110000"/>
              </a:lnSpc>
              <a:buNone/>
            </a:pPr>
            <a:r>
              <a:rPr lang="en-US" sz="1050" b="1" dirty="0">
                <a:solidFill>
                  <a:srgbClr val="C7A867"/>
                </a:solidFill>
                <a:latin typeface="Noto Sans CJK JP" pitchFamily="34" charset="0"/>
                <a:ea typeface="Noto Sans CJK JP" pitchFamily="34" charset="-122"/>
                <a:cs typeface="Noto Sans CJK JP" pitchFamily="34" charset="-120"/>
              </a:rPr>
              <a:t>結論：</a:t>
            </a:r>
            <a:pPr algn="l" indent="0" marL="0">
              <a:lnSpc>
                <a:spcPct val="110000"/>
              </a:lnSpc>
              <a:buNone/>
            </a:pPr>
            <a:r>
              <a:rPr lang="en-US" sz="1050" dirty="0">
                <a:solidFill>
                  <a:srgbClr val="FFFFFF"/>
                </a:solidFill>
                <a:latin typeface="Noto Sans CJK JP" pitchFamily="34" charset="0"/>
                <a:ea typeface="Noto Sans CJK JP" pitchFamily="34" charset="-122"/>
                <a:cs typeface="Noto Sans CJK JP" pitchFamily="34" charset="-120"/>
              </a:rPr>
              <a:t>D 案は20年確定で A比▲6,869万円お得。 E 案は屋根のみ先行で投資を抑えつつ補助金を2年で2回獲り、 A比▲8,149万円。 ★塗装は維持費かかっても暑さ対策にならない! ポリウレアは20年メンテ0円+遮熱で空調代も下がる二重効果</a:t>
            </a:r>
            <a:endParaRPr lang="en-US" sz="1050" dirty="0"/>
          </a:p>
        </p:txBody>
      </p:sp>
      <p:sp>
        <p:nvSpPr>
          <p:cNvPr id="38" name="Text 36"/>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39" name="Text 37"/>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4 / 20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03</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実消費データ × 建物概況の分析</a:t>
            </a:r>
            <a:endParaRPr lang="en-US" sz="3000" dirty="0"/>
          </a:p>
        </p:txBody>
      </p:sp>
      <p:sp>
        <p:nvSpPr>
          <p:cNvPr id="4" name="Shape 2"/>
          <p:cNvSpPr/>
          <p:nvPr/>
        </p:nvSpPr>
        <p:spPr>
          <a:xfrm>
            <a:off x="457200"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5" name="Text 3"/>
          <p:cNvSpPr/>
          <p:nvPr/>
        </p:nvSpPr>
        <p:spPr>
          <a:xfrm>
            <a:off x="731520" y="1783080"/>
            <a:ext cx="5029200" cy="365760"/>
          </a:xfrm>
          <a:prstGeom prst="rect">
            <a:avLst/>
          </a:prstGeom>
          <a:noFill/>
          <a:ln/>
        </p:spPr>
        <p:txBody>
          <a:bodyPr wrap="square" lIns="0" tIns="0" rIns="0" bIns="0" rtlCol="0" anchor="ctr"/>
          <a:lstStyle/>
          <a:p>
            <a:pPr algn="l" indent="0" marL="0">
              <a:buNone/>
            </a:pPr>
            <a:r>
              <a:rPr lang="en-US" sz="1500" b="1" dirty="0">
                <a:solidFill>
                  <a:srgbClr val="0F2747"/>
                </a:solidFill>
                <a:latin typeface="Noto Sans CJK JP" pitchFamily="34" charset="0"/>
                <a:ea typeface="Noto Sans CJK JP" pitchFamily="34" charset="-122"/>
                <a:cs typeface="Noto Sans CJK JP" pitchFamily="34" charset="-120"/>
              </a:rPr>
              <a:t>年間電力使用実績 (2025/4-2026/3)</a:t>
            </a:r>
            <a:endParaRPr lang="en-US" sz="1500" dirty="0"/>
          </a:p>
        </p:txBody>
      </p:sp>
      <p:sp>
        <p:nvSpPr>
          <p:cNvPr id="6" name="Shape 4"/>
          <p:cNvSpPr/>
          <p:nvPr/>
        </p:nvSpPr>
        <p:spPr>
          <a:xfrm>
            <a:off x="731520" y="2286000"/>
            <a:ext cx="4937760" cy="420624"/>
          </a:xfrm>
          <a:prstGeom prst="rect">
            <a:avLst/>
          </a:prstGeom>
          <a:solidFill>
            <a:srgbClr val="FFFFFF"/>
          </a:solidFill>
          <a:ln w="12700">
            <a:solidFill>
              <a:srgbClr val="E1E5EA"/>
            </a:solidFill>
            <a:prstDash val="solid"/>
          </a:ln>
        </p:spPr>
      </p:sp>
      <p:sp>
        <p:nvSpPr>
          <p:cNvPr id="7" name="Text 5"/>
          <p:cNvSpPr/>
          <p:nvPr/>
        </p:nvSpPr>
        <p:spPr>
          <a:xfrm>
            <a:off x="868680" y="2286000"/>
            <a:ext cx="2743200" cy="420624"/>
          </a:xfrm>
          <a:prstGeom prst="rect">
            <a:avLst/>
          </a:prstGeom>
          <a:noFill/>
          <a:ln/>
        </p:spPr>
        <p:txBody>
          <a:bodyPr wrap="square" lIns="0" tIns="0" rIns="0" bIns="0" rtlCol="0" anchor="ctr"/>
          <a:lstStyle/>
          <a:p>
            <a:pPr algn="l" indent="0" marL="0">
              <a:buNone/>
            </a:pPr>
            <a:r>
              <a:rPr lang="en-US" sz="1200" dirty="0">
                <a:solidFill>
                  <a:srgbClr val="1A2B40"/>
                </a:solidFill>
                <a:latin typeface="Noto Sans CJK JP" pitchFamily="34" charset="0"/>
                <a:ea typeface="Noto Sans CJK JP" pitchFamily="34" charset="-122"/>
                <a:cs typeface="Noto Sans CJK JP" pitchFamily="34" charset="-120"/>
              </a:rPr>
              <a:t>年間消費電力量</a:t>
            </a:r>
            <a:endParaRPr lang="en-US" sz="1200" dirty="0"/>
          </a:p>
        </p:txBody>
      </p:sp>
      <p:sp>
        <p:nvSpPr>
          <p:cNvPr id="8" name="Text 6"/>
          <p:cNvSpPr/>
          <p:nvPr/>
        </p:nvSpPr>
        <p:spPr>
          <a:xfrm>
            <a:off x="3200400" y="2286000"/>
            <a:ext cx="2331720" cy="420624"/>
          </a:xfrm>
          <a:prstGeom prst="rect">
            <a:avLst/>
          </a:prstGeom>
          <a:noFill/>
          <a:ln/>
        </p:spPr>
        <p:txBody>
          <a:bodyPr wrap="square" lIns="0" tIns="0" rIns="0" bIns="0" rtlCol="0" anchor="ctr"/>
          <a:lstStyle/>
          <a:p>
            <a:pPr algn="r" indent="0" marL="0">
              <a:buNone/>
            </a:pPr>
            <a:r>
              <a:rPr lang="en-US" sz="1350" b="1" dirty="0">
                <a:solidFill>
                  <a:srgbClr val="0F2747"/>
                </a:solidFill>
                <a:latin typeface="Noto Sans CJK JP" pitchFamily="34" charset="0"/>
                <a:ea typeface="Noto Sans CJK JP" pitchFamily="34" charset="-122"/>
                <a:cs typeface="Noto Sans CJK JP" pitchFamily="34" charset="-120"/>
              </a:rPr>
              <a:t>110,657 kWh</a:t>
            </a:r>
            <a:endParaRPr lang="en-US" sz="1350" dirty="0"/>
          </a:p>
        </p:txBody>
      </p:sp>
      <p:sp>
        <p:nvSpPr>
          <p:cNvPr id="9" name="Shape 7"/>
          <p:cNvSpPr/>
          <p:nvPr/>
        </p:nvSpPr>
        <p:spPr>
          <a:xfrm>
            <a:off x="731520" y="2788920"/>
            <a:ext cx="4937760" cy="420624"/>
          </a:xfrm>
          <a:prstGeom prst="rect">
            <a:avLst/>
          </a:prstGeom>
          <a:solidFill>
            <a:srgbClr val="FFFFFF"/>
          </a:solidFill>
          <a:ln w="12700">
            <a:solidFill>
              <a:srgbClr val="E1E5EA"/>
            </a:solidFill>
            <a:prstDash val="solid"/>
          </a:ln>
        </p:spPr>
      </p:sp>
      <p:sp>
        <p:nvSpPr>
          <p:cNvPr id="10" name="Text 8"/>
          <p:cNvSpPr/>
          <p:nvPr/>
        </p:nvSpPr>
        <p:spPr>
          <a:xfrm>
            <a:off x="868680" y="2788920"/>
            <a:ext cx="2743200" cy="420624"/>
          </a:xfrm>
          <a:prstGeom prst="rect">
            <a:avLst/>
          </a:prstGeom>
          <a:noFill/>
          <a:ln/>
        </p:spPr>
        <p:txBody>
          <a:bodyPr wrap="square" lIns="0" tIns="0" rIns="0" bIns="0" rtlCol="0" anchor="ctr"/>
          <a:lstStyle/>
          <a:p>
            <a:pPr algn="l" indent="0" marL="0">
              <a:buNone/>
            </a:pPr>
            <a:r>
              <a:rPr lang="en-US" sz="1200" dirty="0">
                <a:solidFill>
                  <a:srgbClr val="1A2B40"/>
                </a:solidFill>
                <a:latin typeface="Noto Sans CJK JP" pitchFamily="34" charset="0"/>
                <a:ea typeface="Noto Sans CJK JP" pitchFamily="34" charset="-122"/>
                <a:cs typeface="Noto Sans CJK JP" pitchFamily="34" charset="-120"/>
              </a:rPr>
              <a:t>平均月間消費</a:t>
            </a:r>
            <a:endParaRPr lang="en-US" sz="1200" dirty="0"/>
          </a:p>
        </p:txBody>
      </p:sp>
      <p:sp>
        <p:nvSpPr>
          <p:cNvPr id="11" name="Text 9"/>
          <p:cNvSpPr/>
          <p:nvPr/>
        </p:nvSpPr>
        <p:spPr>
          <a:xfrm>
            <a:off x="3200400" y="2788920"/>
            <a:ext cx="2331720" cy="420624"/>
          </a:xfrm>
          <a:prstGeom prst="rect">
            <a:avLst/>
          </a:prstGeom>
          <a:noFill/>
          <a:ln/>
        </p:spPr>
        <p:txBody>
          <a:bodyPr wrap="square" lIns="0" tIns="0" rIns="0" bIns="0" rtlCol="0" anchor="ctr"/>
          <a:lstStyle/>
          <a:p>
            <a:pPr algn="r" indent="0" marL="0">
              <a:buNone/>
            </a:pPr>
            <a:r>
              <a:rPr lang="en-US" sz="1350" b="1" dirty="0">
                <a:solidFill>
                  <a:srgbClr val="0F2747"/>
                </a:solidFill>
                <a:latin typeface="Noto Sans CJK JP" pitchFamily="34" charset="0"/>
                <a:ea typeface="Noto Sans CJK JP" pitchFamily="34" charset="-122"/>
                <a:cs typeface="Noto Sans CJK JP" pitchFamily="34" charset="-120"/>
              </a:rPr>
              <a:t>9,221 kWh</a:t>
            </a:r>
            <a:endParaRPr lang="en-US" sz="1350" dirty="0"/>
          </a:p>
        </p:txBody>
      </p:sp>
      <p:sp>
        <p:nvSpPr>
          <p:cNvPr id="12" name="Shape 10"/>
          <p:cNvSpPr/>
          <p:nvPr/>
        </p:nvSpPr>
        <p:spPr>
          <a:xfrm>
            <a:off x="731520" y="3291840"/>
            <a:ext cx="4937760" cy="420624"/>
          </a:xfrm>
          <a:prstGeom prst="rect">
            <a:avLst/>
          </a:prstGeom>
          <a:solidFill>
            <a:srgbClr val="FFFFFF"/>
          </a:solidFill>
          <a:ln w="12700">
            <a:solidFill>
              <a:srgbClr val="E1E5EA"/>
            </a:solidFill>
            <a:prstDash val="solid"/>
          </a:ln>
        </p:spPr>
      </p:sp>
      <p:sp>
        <p:nvSpPr>
          <p:cNvPr id="13" name="Text 11"/>
          <p:cNvSpPr/>
          <p:nvPr/>
        </p:nvSpPr>
        <p:spPr>
          <a:xfrm>
            <a:off x="868680" y="3291840"/>
            <a:ext cx="2743200" cy="420624"/>
          </a:xfrm>
          <a:prstGeom prst="rect">
            <a:avLst/>
          </a:prstGeom>
          <a:noFill/>
          <a:ln/>
        </p:spPr>
        <p:txBody>
          <a:bodyPr wrap="square" lIns="0" tIns="0" rIns="0" bIns="0" rtlCol="0" anchor="ctr"/>
          <a:lstStyle/>
          <a:p>
            <a:pPr algn="l" indent="0" marL="0">
              <a:buNone/>
            </a:pPr>
            <a:r>
              <a:rPr lang="en-US" sz="1200" dirty="0">
                <a:solidFill>
                  <a:srgbClr val="1A2B40"/>
                </a:solidFill>
                <a:latin typeface="Noto Sans CJK JP" pitchFamily="34" charset="0"/>
                <a:ea typeface="Noto Sans CJK JP" pitchFamily="34" charset="-122"/>
                <a:cs typeface="Noto Sans CJK JP" pitchFamily="34" charset="-120"/>
              </a:rPr>
              <a:t>日中使用比率</a:t>
            </a:r>
            <a:endParaRPr lang="en-US" sz="1200" dirty="0"/>
          </a:p>
        </p:txBody>
      </p:sp>
      <p:sp>
        <p:nvSpPr>
          <p:cNvPr id="14" name="Text 12"/>
          <p:cNvSpPr/>
          <p:nvPr/>
        </p:nvSpPr>
        <p:spPr>
          <a:xfrm>
            <a:off x="3200400" y="3291840"/>
            <a:ext cx="2331720" cy="420624"/>
          </a:xfrm>
          <a:prstGeom prst="rect">
            <a:avLst/>
          </a:prstGeom>
          <a:noFill/>
          <a:ln/>
        </p:spPr>
        <p:txBody>
          <a:bodyPr wrap="square" lIns="0" tIns="0" rIns="0" bIns="0" rtlCol="0" anchor="ctr"/>
          <a:lstStyle/>
          <a:p>
            <a:pPr algn="r" indent="0" marL="0">
              <a:buNone/>
            </a:pPr>
            <a:r>
              <a:rPr lang="en-US" sz="1350" b="1" dirty="0">
                <a:solidFill>
                  <a:srgbClr val="0F2747"/>
                </a:solidFill>
                <a:latin typeface="Noto Sans CJK JP" pitchFamily="34" charset="0"/>
                <a:ea typeface="Noto Sans CJK JP" pitchFamily="34" charset="-122"/>
                <a:cs typeface="Noto Sans CJK JP" pitchFamily="34" charset="-120"/>
              </a:rPr>
              <a:t>84% （理想的）</a:t>
            </a:r>
            <a:endParaRPr lang="en-US" sz="1350" dirty="0"/>
          </a:p>
        </p:txBody>
      </p:sp>
      <p:sp>
        <p:nvSpPr>
          <p:cNvPr id="15" name="Shape 13"/>
          <p:cNvSpPr/>
          <p:nvPr/>
        </p:nvSpPr>
        <p:spPr>
          <a:xfrm>
            <a:off x="731520" y="3794760"/>
            <a:ext cx="4937760" cy="420624"/>
          </a:xfrm>
          <a:prstGeom prst="rect">
            <a:avLst/>
          </a:prstGeom>
          <a:solidFill>
            <a:srgbClr val="FFFFFF"/>
          </a:solidFill>
          <a:ln w="12700">
            <a:solidFill>
              <a:srgbClr val="E1E5EA"/>
            </a:solidFill>
            <a:prstDash val="solid"/>
          </a:ln>
        </p:spPr>
      </p:sp>
      <p:sp>
        <p:nvSpPr>
          <p:cNvPr id="16" name="Text 14"/>
          <p:cNvSpPr/>
          <p:nvPr/>
        </p:nvSpPr>
        <p:spPr>
          <a:xfrm>
            <a:off x="868680" y="3794760"/>
            <a:ext cx="2743200" cy="420624"/>
          </a:xfrm>
          <a:prstGeom prst="rect">
            <a:avLst/>
          </a:prstGeom>
          <a:noFill/>
          <a:ln/>
        </p:spPr>
        <p:txBody>
          <a:bodyPr wrap="square" lIns="0" tIns="0" rIns="0" bIns="0" rtlCol="0" anchor="ctr"/>
          <a:lstStyle/>
          <a:p>
            <a:pPr algn="l" indent="0" marL="0">
              <a:buNone/>
            </a:pPr>
            <a:r>
              <a:rPr lang="en-US" sz="1200" dirty="0">
                <a:solidFill>
                  <a:srgbClr val="1A2B40"/>
                </a:solidFill>
                <a:latin typeface="Noto Sans CJK JP" pitchFamily="34" charset="0"/>
                <a:ea typeface="Noto Sans CJK JP" pitchFamily="34" charset="-122"/>
                <a:cs typeface="Noto Sans CJK JP" pitchFamily="34" charset="-120"/>
              </a:rPr>
              <a:t>年間電気代 ( 現状 )</a:t>
            </a:r>
            <a:endParaRPr lang="en-US" sz="1200" dirty="0"/>
          </a:p>
        </p:txBody>
      </p:sp>
      <p:sp>
        <p:nvSpPr>
          <p:cNvPr id="17" name="Text 15"/>
          <p:cNvSpPr/>
          <p:nvPr/>
        </p:nvSpPr>
        <p:spPr>
          <a:xfrm>
            <a:off x="3200400" y="3794760"/>
            <a:ext cx="2331720" cy="420624"/>
          </a:xfrm>
          <a:prstGeom prst="rect">
            <a:avLst/>
          </a:prstGeom>
          <a:noFill/>
          <a:ln/>
        </p:spPr>
        <p:txBody>
          <a:bodyPr wrap="square" lIns="0" tIns="0" rIns="0" bIns="0" rtlCol="0" anchor="ctr"/>
          <a:lstStyle/>
          <a:p>
            <a:pPr algn="r" indent="0" marL="0">
              <a:buNone/>
            </a:pPr>
            <a:r>
              <a:rPr lang="en-US" sz="1350" b="1" dirty="0">
                <a:solidFill>
                  <a:srgbClr val="0F2747"/>
                </a:solidFill>
                <a:latin typeface="Noto Sans CJK JP" pitchFamily="34" charset="0"/>
                <a:ea typeface="Noto Sans CJK JP" pitchFamily="34" charset="-122"/>
                <a:cs typeface="Noto Sans CJK JP" pitchFamily="34" charset="-120"/>
              </a:rPr>
              <a:t>約 232 万円</a:t>
            </a:r>
            <a:endParaRPr lang="en-US" sz="1350" dirty="0"/>
          </a:p>
        </p:txBody>
      </p:sp>
      <p:sp>
        <p:nvSpPr>
          <p:cNvPr id="18" name="Shape 16"/>
          <p:cNvSpPr/>
          <p:nvPr/>
        </p:nvSpPr>
        <p:spPr>
          <a:xfrm>
            <a:off x="731520" y="4297680"/>
            <a:ext cx="4937760" cy="420624"/>
          </a:xfrm>
          <a:prstGeom prst="rect">
            <a:avLst/>
          </a:prstGeom>
          <a:solidFill>
            <a:srgbClr val="FFFFFF"/>
          </a:solidFill>
          <a:ln w="12700">
            <a:solidFill>
              <a:srgbClr val="E1E5EA"/>
            </a:solidFill>
            <a:prstDash val="solid"/>
          </a:ln>
        </p:spPr>
      </p:sp>
      <p:sp>
        <p:nvSpPr>
          <p:cNvPr id="19" name="Text 17"/>
          <p:cNvSpPr/>
          <p:nvPr/>
        </p:nvSpPr>
        <p:spPr>
          <a:xfrm>
            <a:off x="868680" y="4297680"/>
            <a:ext cx="2743200" cy="420624"/>
          </a:xfrm>
          <a:prstGeom prst="rect">
            <a:avLst/>
          </a:prstGeom>
          <a:noFill/>
          <a:ln/>
        </p:spPr>
        <p:txBody>
          <a:bodyPr wrap="square" lIns="0" tIns="0" rIns="0" bIns="0" rtlCol="0" anchor="ctr"/>
          <a:lstStyle/>
          <a:p>
            <a:pPr algn="l" indent="0" marL="0">
              <a:buNone/>
            </a:pPr>
            <a:r>
              <a:rPr lang="en-US" sz="1200" dirty="0">
                <a:solidFill>
                  <a:srgbClr val="1A2B40"/>
                </a:solidFill>
                <a:latin typeface="Noto Sans CJK JP" pitchFamily="34" charset="0"/>
                <a:ea typeface="Noto Sans CJK JP" pitchFamily="34" charset="-122"/>
                <a:cs typeface="Noto Sans CJK JP" pitchFamily="34" charset="-120"/>
              </a:rPr>
              <a:t>契約電力</a:t>
            </a:r>
            <a:endParaRPr lang="en-US" sz="1200" dirty="0"/>
          </a:p>
        </p:txBody>
      </p:sp>
      <p:sp>
        <p:nvSpPr>
          <p:cNvPr id="20" name="Text 18"/>
          <p:cNvSpPr/>
          <p:nvPr/>
        </p:nvSpPr>
        <p:spPr>
          <a:xfrm>
            <a:off x="3200400" y="4297680"/>
            <a:ext cx="2331720" cy="420624"/>
          </a:xfrm>
          <a:prstGeom prst="rect">
            <a:avLst/>
          </a:prstGeom>
          <a:noFill/>
          <a:ln/>
        </p:spPr>
        <p:txBody>
          <a:bodyPr wrap="square" lIns="0" tIns="0" rIns="0" bIns="0" rtlCol="0" anchor="ctr"/>
          <a:lstStyle/>
          <a:p>
            <a:pPr algn="r" indent="0" marL="0">
              <a:buNone/>
            </a:pPr>
            <a:r>
              <a:rPr lang="en-US" sz="1350" b="1" dirty="0">
                <a:solidFill>
                  <a:srgbClr val="0F2747"/>
                </a:solidFill>
                <a:latin typeface="Noto Sans CJK JP" pitchFamily="34" charset="0"/>
                <a:ea typeface="Noto Sans CJK JP" pitchFamily="34" charset="-122"/>
                <a:cs typeface="Noto Sans CJK JP" pitchFamily="34" charset="-120"/>
              </a:rPr>
              <a:t>高圧 50kW 級</a:t>
            </a:r>
            <a:endParaRPr lang="en-US" sz="1350" dirty="0"/>
          </a:p>
        </p:txBody>
      </p:sp>
      <p:sp>
        <p:nvSpPr>
          <p:cNvPr id="21" name="Shape 19"/>
          <p:cNvSpPr/>
          <p:nvPr/>
        </p:nvSpPr>
        <p:spPr>
          <a:xfrm>
            <a:off x="731520" y="4983480"/>
            <a:ext cx="4937760" cy="960120"/>
          </a:xfrm>
          <a:prstGeom prst="rect">
            <a:avLst/>
          </a:prstGeom>
          <a:solidFill>
            <a:srgbClr val="1FA383"/>
          </a:solidFill>
          <a:ln/>
        </p:spPr>
      </p:sp>
      <p:sp>
        <p:nvSpPr>
          <p:cNvPr id="22" name="Text 20"/>
          <p:cNvSpPr/>
          <p:nvPr/>
        </p:nvSpPr>
        <p:spPr>
          <a:xfrm>
            <a:off x="896112" y="5056632"/>
            <a:ext cx="4572000" cy="274320"/>
          </a:xfrm>
          <a:prstGeom prst="rect">
            <a:avLst/>
          </a:prstGeom>
          <a:noFill/>
          <a:ln/>
        </p:spPr>
        <p:txBody>
          <a:bodyPr wrap="square" lIns="0" tIns="0" rIns="0" bIns="0" rtlCol="0" anchor="ctr"/>
          <a:lstStyle/>
          <a:p>
            <a:pPr algn="l" indent="0" marL="0">
              <a:buNone/>
            </a:pPr>
            <a:r>
              <a:rPr lang="en-US" sz="1100" b="1" dirty="0">
                <a:solidFill>
                  <a:srgbClr val="D7F2E9"/>
                </a:solidFill>
                <a:latin typeface="Noto Sans CJK JP" pitchFamily="34" charset="0"/>
                <a:ea typeface="Noto Sans CJK JP" pitchFamily="34" charset="-122"/>
                <a:cs typeface="Noto Sans CJK JP" pitchFamily="34" charset="-120"/>
              </a:rPr>
              <a:t>ポイント</a:t>
            </a:r>
            <a:endParaRPr lang="en-US" sz="1100" dirty="0"/>
          </a:p>
        </p:txBody>
      </p:sp>
      <p:sp>
        <p:nvSpPr>
          <p:cNvPr id="23" name="Text 21"/>
          <p:cNvSpPr/>
          <p:nvPr/>
        </p:nvSpPr>
        <p:spPr>
          <a:xfrm>
            <a:off x="896112" y="5321808"/>
            <a:ext cx="4617720" cy="548640"/>
          </a:xfrm>
          <a:prstGeom prst="rect">
            <a:avLst/>
          </a:prstGeom>
          <a:noFill/>
          <a:ln/>
        </p:spPr>
        <p:txBody>
          <a:bodyPr wrap="square" lIns="0" tIns="0" rIns="0" bIns="0" rtlCol="0" anchor="ctr"/>
          <a:lstStyle/>
          <a:p>
            <a:pPr algn="l" indent="0" marL="0">
              <a:lnSpc>
                <a:spcPct val="120000"/>
              </a:lnSpc>
              <a:buNone/>
            </a:pPr>
            <a:r>
              <a:rPr lang="en-US" sz="1200" b="1" dirty="0">
                <a:solidFill>
                  <a:srgbClr val="FFFFFF"/>
                </a:solidFill>
                <a:latin typeface="Noto Sans CJK JP" pitchFamily="34" charset="0"/>
                <a:ea typeface="Noto Sans CJK JP" pitchFamily="34" charset="-122"/>
                <a:cs typeface="Noto Sans CJK JP" pitchFamily="34" charset="-120"/>
              </a:rPr>
              <a:t>日中使用 84% の理想的な負荷プロファイル。</a:t>
            </a:r>
            <a:endParaRPr lang="en-US" sz="1200" dirty="0"/>
          </a:p>
          <a:p>
            <a:pPr algn="l" indent="0" marL="0">
              <a:lnSpc>
                <a:spcPct val="120000"/>
              </a:lnSpc>
              <a:buNone/>
            </a:pPr>
            <a:r>
              <a:rPr lang="en-US" sz="1200" b="1" dirty="0">
                <a:solidFill>
                  <a:srgbClr val="FFFFFF"/>
                </a:solidFill>
                <a:latin typeface="Noto Sans CJK JP" pitchFamily="34" charset="0"/>
                <a:ea typeface="Noto Sans CJK JP" pitchFamily="34" charset="-122"/>
                <a:cs typeface="Noto Sans CJK JP" pitchFamily="34" charset="-120"/>
              </a:rPr>
              <a:t>太陽光自家消費と蓄電池の効果が極めて高い。</a:t>
            </a:r>
            <a:endParaRPr lang="en-US" sz="1200" dirty="0"/>
          </a:p>
        </p:txBody>
      </p:sp>
      <p:sp>
        <p:nvSpPr>
          <p:cNvPr id="24" name="Shape 22"/>
          <p:cNvSpPr/>
          <p:nvPr/>
        </p:nvSpPr>
        <p:spPr>
          <a:xfrm>
            <a:off x="6245352"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25" name="Text 23"/>
          <p:cNvSpPr/>
          <p:nvPr/>
        </p:nvSpPr>
        <p:spPr>
          <a:xfrm>
            <a:off x="6519672" y="1783080"/>
            <a:ext cx="5029200" cy="365760"/>
          </a:xfrm>
          <a:prstGeom prst="rect">
            <a:avLst/>
          </a:prstGeom>
          <a:noFill/>
          <a:ln/>
        </p:spPr>
        <p:txBody>
          <a:bodyPr wrap="square" lIns="0" tIns="0" rIns="0" bIns="0" rtlCol="0" anchor="ctr"/>
          <a:lstStyle/>
          <a:p>
            <a:pPr algn="l" indent="0" marL="0">
              <a:buNone/>
            </a:pPr>
            <a:r>
              <a:rPr lang="en-US" sz="1500" b="1" dirty="0">
                <a:solidFill>
                  <a:srgbClr val="0F2747"/>
                </a:solidFill>
                <a:latin typeface="Noto Sans CJK JP" pitchFamily="34" charset="0"/>
                <a:ea typeface="Noto Sans CJK JP" pitchFamily="34" charset="-122"/>
                <a:cs typeface="Noto Sans CJK JP" pitchFamily="34" charset="-120"/>
              </a:rPr>
              <a:t>建物概況 (Google Map 目視推定 )</a:t>
            </a:r>
            <a:endParaRPr lang="en-US" sz="1500" dirty="0"/>
          </a:p>
        </p:txBody>
      </p:sp>
      <p:sp>
        <p:nvSpPr>
          <p:cNvPr id="26" name="Shape 24"/>
          <p:cNvSpPr/>
          <p:nvPr/>
        </p:nvSpPr>
        <p:spPr>
          <a:xfrm>
            <a:off x="6519672" y="2286000"/>
            <a:ext cx="4937760" cy="365760"/>
          </a:xfrm>
          <a:prstGeom prst="rect">
            <a:avLst/>
          </a:prstGeom>
          <a:solidFill>
            <a:srgbClr val="FFFFFF"/>
          </a:solidFill>
          <a:ln w="12700">
            <a:solidFill>
              <a:srgbClr val="E1E5EA"/>
            </a:solidFill>
            <a:prstDash val="solid"/>
          </a:ln>
        </p:spPr>
      </p:sp>
      <p:sp>
        <p:nvSpPr>
          <p:cNvPr id="27" name="Text 25"/>
          <p:cNvSpPr/>
          <p:nvPr/>
        </p:nvSpPr>
        <p:spPr>
          <a:xfrm>
            <a:off x="6656832" y="2286000"/>
            <a:ext cx="1828800" cy="365760"/>
          </a:xfrm>
          <a:prstGeom prst="rect">
            <a:avLst/>
          </a:prstGeom>
          <a:noFill/>
          <a:ln/>
        </p:spPr>
        <p:txBody>
          <a:bodyPr wrap="square" lIns="0" tIns="0" rIns="0" bIns="0" rtlCol="0" anchor="ctr"/>
          <a:lstStyle/>
          <a:p>
            <a:pPr algn="l" indent="0" marL="0">
              <a:buNone/>
            </a:pPr>
            <a:r>
              <a:rPr lang="en-US" sz="1150" dirty="0">
                <a:solidFill>
                  <a:srgbClr val="1A2B40"/>
                </a:solidFill>
                <a:latin typeface="Noto Sans CJK JP" pitchFamily="34" charset="0"/>
                <a:ea typeface="Noto Sans CJK JP" pitchFamily="34" charset="-122"/>
                <a:cs typeface="Noto Sans CJK JP" pitchFamily="34" charset="-120"/>
              </a:rPr>
              <a:t>屋根面積</a:t>
            </a:r>
            <a:endParaRPr lang="en-US" sz="1150" dirty="0"/>
          </a:p>
        </p:txBody>
      </p:sp>
      <p:sp>
        <p:nvSpPr>
          <p:cNvPr id="28" name="Text 26"/>
          <p:cNvSpPr/>
          <p:nvPr/>
        </p:nvSpPr>
        <p:spPr>
          <a:xfrm>
            <a:off x="8138160" y="2286000"/>
            <a:ext cx="3200400" cy="365760"/>
          </a:xfrm>
          <a:prstGeom prst="rect">
            <a:avLst/>
          </a:prstGeom>
          <a:noFill/>
          <a:ln/>
        </p:spPr>
        <p:txBody>
          <a:bodyPr wrap="square" lIns="0" tIns="0" rIns="0" bIns="0" rtlCol="0" anchor="ctr"/>
          <a:lstStyle/>
          <a:p>
            <a:pPr algn="r" indent="0" marL="0">
              <a:buNone/>
            </a:pPr>
            <a:r>
              <a:rPr lang="en-US" sz="1200" b="1" dirty="0">
                <a:solidFill>
                  <a:srgbClr val="0F2747"/>
                </a:solidFill>
                <a:latin typeface="Noto Sans CJK JP" pitchFamily="34" charset="0"/>
                <a:ea typeface="Noto Sans CJK JP" pitchFamily="34" charset="-122"/>
                <a:cs typeface="Noto Sans CJK JP" pitchFamily="34" charset="-120"/>
              </a:rPr>
              <a:t>約 1,400 ㎡</a:t>
            </a:r>
            <a:endParaRPr lang="en-US" sz="1200" dirty="0"/>
          </a:p>
        </p:txBody>
      </p:sp>
      <p:sp>
        <p:nvSpPr>
          <p:cNvPr id="29" name="Shape 27"/>
          <p:cNvSpPr/>
          <p:nvPr/>
        </p:nvSpPr>
        <p:spPr>
          <a:xfrm>
            <a:off x="6519672" y="2706624"/>
            <a:ext cx="4937760" cy="365760"/>
          </a:xfrm>
          <a:prstGeom prst="rect">
            <a:avLst/>
          </a:prstGeom>
          <a:solidFill>
            <a:srgbClr val="FFFFFF"/>
          </a:solidFill>
          <a:ln w="12700">
            <a:solidFill>
              <a:srgbClr val="E1E5EA"/>
            </a:solidFill>
            <a:prstDash val="solid"/>
          </a:ln>
        </p:spPr>
      </p:sp>
      <p:sp>
        <p:nvSpPr>
          <p:cNvPr id="30" name="Text 28"/>
          <p:cNvSpPr/>
          <p:nvPr/>
        </p:nvSpPr>
        <p:spPr>
          <a:xfrm>
            <a:off x="6656832" y="2706624"/>
            <a:ext cx="1828800" cy="365760"/>
          </a:xfrm>
          <a:prstGeom prst="rect">
            <a:avLst/>
          </a:prstGeom>
          <a:noFill/>
          <a:ln/>
        </p:spPr>
        <p:txBody>
          <a:bodyPr wrap="square" lIns="0" tIns="0" rIns="0" bIns="0" rtlCol="0" anchor="ctr"/>
          <a:lstStyle/>
          <a:p>
            <a:pPr algn="l" indent="0" marL="0">
              <a:buNone/>
            </a:pPr>
            <a:r>
              <a:rPr lang="en-US" sz="1150" dirty="0">
                <a:solidFill>
                  <a:srgbClr val="1A2B40"/>
                </a:solidFill>
                <a:latin typeface="Noto Sans CJK JP" pitchFamily="34" charset="0"/>
                <a:ea typeface="Noto Sans CJK JP" pitchFamily="34" charset="-122"/>
                <a:cs typeface="Noto Sans CJK JP" pitchFamily="34" charset="-120"/>
              </a:rPr>
              <a:t>外壁面積</a:t>
            </a:r>
            <a:endParaRPr lang="en-US" sz="1150" dirty="0"/>
          </a:p>
        </p:txBody>
      </p:sp>
      <p:sp>
        <p:nvSpPr>
          <p:cNvPr id="31" name="Text 29"/>
          <p:cNvSpPr/>
          <p:nvPr/>
        </p:nvSpPr>
        <p:spPr>
          <a:xfrm>
            <a:off x="8138160" y="2706624"/>
            <a:ext cx="3200400" cy="365760"/>
          </a:xfrm>
          <a:prstGeom prst="rect">
            <a:avLst/>
          </a:prstGeom>
          <a:noFill/>
          <a:ln/>
        </p:spPr>
        <p:txBody>
          <a:bodyPr wrap="square" lIns="0" tIns="0" rIns="0" bIns="0" rtlCol="0" anchor="ctr"/>
          <a:lstStyle/>
          <a:p>
            <a:pPr algn="r" indent="0" marL="0">
              <a:buNone/>
            </a:pPr>
            <a:r>
              <a:rPr lang="en-US" sz="1200" b="1" dirty="0">
                <a:solidFill>
                  <a:srgbClr val="0F2747"/>
                </a:solidFill>
                <a:latin typeface="Noto Sans CJK JP" pitchFamily="34" charset="0"/>
                <a:ea typeface="Noto Sans CJK JP" pitchFamily="34" charset="-122"/>
                <a:cs typeface="Noto Sans CJK JP" pitchFamily="34" charset="-120"/>
              </a:rPr>
              <a:t>約 1,500 ㎡</a:t>
            </a:r>
            <a:endParaRPr lang="en-US" sz="1200" dirty="0"/>
          </a:p>
        </p:txBody>
      </p:sp>
      <p:sp>
        <p:nvSpPr>
          <p:cNvPr id="32" name="Shape 30"/>
          <p:cNvSpPr/>
          <p:nvPr/>
        </p:nvSpPr>
        <p:spPr>
          <a:xfrm>
            <a:off x="6519672" y="3127248"/>
            <a:ext cx="4937760" cy="365760"/>
          </a:xfrm>
          <a:prstGeom prst="rect">
            <a:avLst/>
          </a:prstGeom>
          <a:solidFill>
            <a:srgbClr val="FFFFFF"/>
          </a:solidFill>
          <a:ln w="12700">
            <a:solidFill>
              <a:srgbClr val="E1E5EA"/>
            </a:solidFill>
            <a:prstDash val="solid"/>
          </a:ln>
        </p:spPr>
      </p:sp>
      <p:sp>
        <p:nvSpPr>
          <p:cNvPr id="33" name="Text 31"/>
          <p:cNvSpPr/>
          <p:nvPr/>
        </p:nvSpPr>
        <p:spPr>
          <a:xfrm>
            <a:off x="6656832" y="3127248"/>
            <a:ext cx="1828800" cy="365760"/>
          </a:xfrm>
          <a:prstGeom prst="rect">
            <a:avLst/>
          </a:prstGeom>
          <a:noFill/>
          <a:ln/>
        </p:spPr>
        <p:txBody>
          <a:bodyPr wrap="square" lIns="0" tIns="0" rIns="0" bIns="0" rtlCol="0" anchor="ctr"/>
          <a:lstStyle/>
          <a:p>
            <a:pPr algn="l" indent="0" marL="0">
              <a:buNone/>
            </a:pPr>
            <a:r>
              <a:rPr lang="en-US" sz="1150" dirty="0">
                <a:solidFill>
                  <a:srgbClr val="1A2B40"/>
                </a:solidFill>
                <a:latin typeface="Noto Sans CJK JP" pitchFamily="34" charset="0"/>
                <a:ea typeface="Noto Sans CJK JP" pitchFamily="34" charset="-122"/>
                <a:cs typeface="Noto Sans CJK JP" pitchFamily="34" charset="-120"/>
              </a:rPr>
              <a:t>窓面積</a:t>
            </a:r>
            <a:endParaRPr lang="en-US" sz="1150" dirty="0"/>
          </a:p>
        </p:txBody>
      </p:sp>
      <p:sp>
        <p:nvSpPr>
          <p:cNvPr id="34" name="Text 32"/>
          <p:cNvSpPr/>
          <p:nvPr/>
        </p:nvSpPr>
        <p:spPr>
          <a:xfrm>
            <a:off x="8138160" y="3127248"/>
            <a:ext cx="3200400" cy="365760"/>
          </a:xfrm>
          <a:prstGeom prst="rect">
            <a:avLst/>
          </a:prstGeom>
          <a:noFill/>
          <a:ln/>
        </p:spPr>
        <p:txBody>
          <a:bodyPr wrap="square" lIns="0" tIns="0" rIns="0" bIns="0" rtlCol="0" anchor="ctr"/>
          <a:lstStyle/>
          <a:p>
            <a:pPr algn="r" indent="0" marL="0">
              <a:buNone/>
            </a:pPr>
            <a:r>
              <a:rPr lang="en-US" sz="1200" b="1" dirty="0">
                <a:solidFill>
                  <a:srgbClr val="0F2747"/>
                </a:solidFill>
                <a:latin typeface="Noto Sans CJK JP" pitchFamily="34" charset="0"/>
                <a:ea typeface="Noto Sans CJK JP" pitchFamily="34" charset="-122"/>
                <a:cs typeface="Noto Sans CJK JP" pitchFamily="34" charset="-120"/>
              </a:rPr>
              <a:t>約 120 ㎡</a:t>
            </a:r>
            <a:endParaRPr lang="en-US" sz="1200" dirty="0"/>
          </a:p>
        </p:txBody>
      </p:sp>
      <p:sp>
        <p:nvSpPr>
          <p:cNvPr id="35" name="Shape 33"/>
          <p:cNvSpPr/>
          <p:nvPr/>
        </p:nvSpPr>
        <p:spPr>
          <a:xfrm>
            <a:off x="6519672" y="3547872"/>
            <a:ext cx="4937760" cy="365760"/>
          </a:xfrm>
          <a:prstGeom prst="rect">
            <a:avLst/>
          </a:prstGeom>
          <a:solidFill>
            <a:srgbClr val="FFFFFF"/>
          </a:solidFill>
          <a:ln w="12700">
            <a:solidFill>
              <a:srgbClr val="E1E5EA"/>
            </a:solidFill>
            <a:prstDash val="solid"/>
          </a:ln>
        </p:spPr>
      </p:sp>
      <p:sp>
        <p:nvSpPr>
          <p:cNvPr id="36" name="Text 34"/>
          <p:cNvSpPr/>
          <p:nvPr/>
        </p:nvSpPr>
        <p:spPr>
          <a:xfrm>
            <a:off x="6656832" y="3547872"/>
            <a:ext cx="1828800" cy="365760"/>
          </a:xfrm>
          <a:prstGeom prst="rect">
            <a:avLst/>
          </a:prstGeom>
          <a:noFill/>
          <a:ln/>
        </p:spPr>
        <p:txBody>
          <a:bodyPr wrap="square" lIns="0" tIns="0" rIns="0" bIns="0" rtlCol="0" anchor="ctr"/>
          <a:lstStyle/>
          <a:p>
            <a:pPr algn="l" indent="0" marL="0">
              <a:buNone/>
            </a:pPr>
            <a:r>
              <a:rPr lang="en-US" sz="1150" dirty="0">
                <a:solidFill>
                  <a:srgbClr val="1A2B40"/>
                </a:solidFill>
                <a:latin typeface="Noto Sans CJK JP" pitchFamily="34" charset="0"/>
                <a:ea typeface="Noto Sans CJK JP" pitchFamily="34" charset="-122"/>
                <a:cs typeface="Noto Sans CJK JP" pitchFamily="34" charset="-120"/>
              </a:rPr>
              <a:t>既設太陽光</a:t>
            </a:r>
            <a:endParaRPr lang="en-US" sz="1150" dirty="0"/>
          </a:p>
        </p:txBody>
      </p:sp>
      <p:sp>
        <p:nvSpPr>
          <p:cNvPr id="37" name="Text 35"/>
          <p:cNvSpPr/>
          <p:nvPr/>
        </p:nvSpPr>
        <p:spPr>
          <a:xfrm>
            <a:off x="8138160" y="3547872"/>
            <a:ext cx="3200400" cy="365760"/>
          </a:xfrm>
          <a:prstGeom prst="rect">
            <a:avLst/>
          </a:prstGeom>
          <a:noFill/>
          <a:ln/>
        </p:spPr>
        <p:txBody>
          <a:bodyPr wrap="square" lIns="0" tIns="0" rIns="0" bIns="0" rtlCol="0" anchor="ctr"/>
          <a:lstStyle/>
          <a:p>
            <a:pPr algn="r" indent="0" marL="0">
              <a:buNone/>
            </a:pPr>
            <a:r>
              <a:rPr lang="en-US" sz="1200" b="1" dirty="0">
                <a:solidFill>
                  <a:srgbClr val="0F2747"/>
                </a:solidFill>
                <a:latin typeface="Noto Sans CJK JP" pitchFamily="34" charset="0"/>
                <a:ea typeface="Noto Sans CJK JP" pitchFamily="34" charset="-122"/>
                <a:cs typeface="Noto Sans CJK JP" pitchFamily="34" charset="-120"/>
              </a:rPr>
              <a:t>63 kW (BYD250P×252 枚 )</a:t>
            </a:r>
            <a:endParaRPr lang="en-US" sz="1200" dirty="0"/>
          </a:p>
        </p:txBody>
      </p:sp>
      <p:sp>
        <p:nvSpPr>
          <p:cNvPr id="38" name="Shape 36"/>
          <p:cNvSpPr/>
          <p:nvPr/>
        </p:nvSpPr>
        <p:spPr>
          <a:xfrm>
            <a:off x="6519672" y="3968496"/>
            <a:ext cx="4937760" cy="365760"/>
          </a:xfrm>
          <a:prstGeom prst="rect">
            <a:avLst/>
          </a:prstGeom>
          <a:solidFill>
            <a:srgbClr val="FFFFFF"/>
          </a:solidFill>
          <a:ln w="12700">
            <a:solidFill>
              <a:srgbClr val="E1E5EA"/>
            </a:solidFill>
            <a:prstDash val="solid"/>
          </a:ln>
        </p:spPr>
      </p:sp>
      <p:sp>
        <p:nvSpPr>
          <p:cNvPr id="39" name="Text 37"/>
          <p:cNvSpPr/>
          <p:nvPr/>
        </p:nvSpPr>
        <p:spPr>
          <a:xfrm>
            <a:off x="6656832" y="3968496"/>
            <a:ext cx="1828800" cy="365760"/>
          </a:xfrm>
          <a:prstGeom prst="rect">
            <a:avLst/>
          </a:prstGeom>
          <a:noFill/>
          <a:ln/>
        </p:spPr>
        <p:txBody>
          <a:bodyPr wrap="square" lIns="0" tIns="0" rIns="0" bIns="0" rtlCol="0" anchor="ctr"/>
          <a:lstStyle/>
          <a:p>
            <a:pPr algn="l" indent="0" marL="0">
              <a:buNone/>
            </a:pPr>
            <a:r>
              <a:rPr lang="en-US" sz="1150" dirty="0">
                <a:solidFill>
                  <a:srgbClr val="1A2B40"/>
                </a:solidFill>
                <a:latin typeface="Noto Sans CJK JP" pitchFamily="34" charset="0"/>
                <a:ea typeface="Noto Sans CJK JP" pitchFamily="34" charset="-122"/>
                <a:cs typeface="Noto Sans CJK JP" pitchFamily="34" charset="-120"/>
              </a:rPr>
              <a:t>建物用途</a:t>
            </a:r>
            <a:endParaRPr lang="en-US" sz="1150" dirty="0"/>
          </a:p>
        </p:txBody>
      </p:sp>
      <p:sp>
        <p:nvSpPr>
          <p:cNvPr id="40" name="Text 38"/>
          <p:cNvSpPr/>
          <p:nvPr/>
        </p:nvSpPr>
        <p:spPr>
          <a:xfrm>
            <a:off x="8138160" y="3968496"/>
            <a:ext cx="3200400" cy="365760"/>
          </a:xfrm>
          <a:prstGeom prst="rect">
            <a:avLst/>
          </a:prstGeom>
          <a:noFill/>
          <a:ln/>
        </p:spPr>
        <p:txBody>
          <a:bodyPr wrap="square" lIns="0" tIns="0" rIns="0" bIns="0" rtlCol="0" anchor="ctr"/>
          <a:lstStyle/>
          <a:p>
            <a:pPr algn="r" indent="0" marL="0">
              <a:buNone/>
            </a:pPr>
            <a:r>
              <a:rPr lang="en-US" sz="1200" b="1" dirty="0">
                <a:solidFill>
                  <a:srgbClr val="0F2747"/>
                </a:solidFill>
                <a:latin typeface="Noto Sans CJK JP" pitchFamily="34" charset="0"/>
                <a:ea typeface="Noto Sans CJK JP" pitchFamily="34" charset="-122"/>
                <a:cs typeface="Noto Sans CJK JP" pitchFamily="34" charset="-120"/>
              </a:rPr>
              <a:t>リサイクルショップ・ STUDIO Can!</a:t>
            </a:r>
            <a:endParaRPr lang="en-US" sz="1200" dirty="0"/>
          </a:p>
        </p:txBody>
      </p:sp>
      <p:sp>
        <p:nvSpPr>
          <p:cNvPr id="41" name="Shape 39"/>
          <p:cNvSpPr/>
          <p:nvPr/>
        </p:nvSpPr>
        <p:spPr>
          <a:xfrm>
            <a:off x="6519672" y="4389120"/>
            <a:ext cx="4937760" cy="365760"/>
          </a:xfrm>
          <a:prstGeom prst="rect">
            <a:avLst/>
          </a:prstGeom>
          <a:solidFill>
            <a:srgbClr val="FFFFFF"/>
          </a:solidFill>
          <a:ln w="12700">
            <a:solidFill>
              <a:srgbClr val="E1E5EA"/>
            </a:solidFill>
            <a:prstDash val="solid"/>
          </a:ln>
        </p:spPr>
      </p:sp>
      <p:sp>
        <p:nvSpPr>
          <p:cNvPr id="42" name="Text 40"/>
          <p:cNvSpPr/>
          <p:nvPr/>
        </p:nvSpPr>
        <p:spPr>
          <a:xfrm>
            <a:off x="6656832" y="4389120"/>
            <a:ext cx="1828800" cy="365760"/>
          </a:xfrm>
          <a:prstGeom prst="rect">
            <a:avLst/>
          </a:prstGeom>
          <a:noFill/>
          <a:ln/>
        </p:spPr>
        <p:txBody>
          <a:bodyPr wrap="square" lIns="0" tIns="0" rIns="0" bIns="0" rtlCol="0" anchor="ctr"/>
          <a:lstStyle/>
          <a:p>
            <a:pPr algn="l" indent="0" marL="0">
              <a:buNone/>
            </a:pPr>
            <a:r>
              <a:rPr lang="en-US" sz="1150" dirty="0">
                <a:solidFill>
                  <a:srgbClr val="1A2B40"/>
                </a:solidFill>
                <a:latin typeface="Noto Sans CJK JP" pitchFamily="34" charset="0"/>
                <a:ea typeface="Noto Sans CJK JP" pitchFamily="34" charset="-122"/>
                <a:cs typeface="Noto Sans CJK JP" pitchFamily="34" charset="-120"/>
              </a:rPr>
              <a:t>立地</a:t>
            </a:r>
            <a:endParaRPr lang="en-US" sz="1150" dirty="0"/>
          </a:p>
        </p:txBody>
      </p:sp>
      <p:sp>
        <p:nvSpPr>
          <p:cNvPr id="43" name="Text 41"/>
          <p:cNvSpPr/>
          <p:nvPr/>
        </p:nvSpPr>
        <p:spPr>
          <a:xfrm>
            <a:off x="8138160" y="4389120"/>
            <a:ext cx="3200400" cy="365760"/>
          </a:xfrm>
          <a:prstGeom prst="rect">
            <a:avLst/>
          </a:prstGeom>
          <a:noFill/>
          <a:ln/>
        </p:spPr>
        <p:txBody>
          <a:bodyPr wrap="square" lIns="0" tIns="0" rIns="0" bIns="0" rtlCol="0" anchor="ctr"/>
          <a:lstStyle/>
          <a:p>
            <a:pPr algn="r" indent="0" marL="0">
              <a:buNone/>
            </a:pPr>
            <a:r>
              <a:rPr lang="en-US" sz="1200" b="1" dirty="0">
                <a:solidFill>
                  <a:srgbClr val="0F2747"/>
                </a:solidFill>
                <a:latin typeface="Noto Sans CJK JP" pitchFamily="34" charset="0"/>
                <a:ea typeface="Noto Sans CJK JP" pitchFamily="34" charset="-122"/>
                <a:cs typeface="Noto Sans CJK JP" pitchFamily="34" charset="-120"/>
              </a:rPr>
              <a:t>八街市内陸（塩害なし）</a:t>
            </a:r>
            <a:endParaRPr lang="en-US" sz="1200" dirty="0"/>
          </a:p>
        </p:txBody>
      </p:sp>
      <p:sp>
        <p:nvSpPr>
          <p:cNvPr id="44" name="Shape 42"/>
          <p:cNvSpPr/>
          <p:nvPr/>
        </p:nvSpPr>
        <p:spPr>
          <a:xfrm>
            <a:off x="6519672" y="4956048"/>
            <a:ext cx="4937760" cy="987552"/>
          </a:xfrm>
          <a:prstGeom prst="rect">
            <a:avLst/>
          </a:prstGeom>
          <a:solidFill>
            <a:srgbClr val="0F2747"/>
          </a:solidFill>
          <a:ln/>
        </p:spPr>
      </p:sp>
      <p:sp>
        <p:nvSpPr>
          <p:cNvPr id="45" name="Text 43"/>
          <p:cNvSpPr/>
          <p:nvPr/>
        </p:nvSpPr>
        <p:spPr>
          <a:xfrm>
            <a:off x="6684264" y="5029200"/>
            <a:ext cx="4617720" cy="868680"/>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Noto Sans CJK JP" pitchFamily="34" charset="0"/>
                <a:ea typeface="Noto Sans CJK JP" pitchFamily="34" charset="-122"/>
                <a:cs typeface="Noto Sans CJK JP" pitchFamily="34" charset="-120"/>
              </a:rPr>
              <a:t>提案前提：消費構成は三相 30% 仮定、 D 案ポリウレア 2,900 ㎡、 A/B/C 案は屋根 1,400 ㎡塗装メンテ、窓 120 ㎡の断熱コート、既設 63kW PV を自家消費へ転換</a:t>
            </a:r>
            <a:endParaRPr lang="en-US" sz="1100" dirty="0"/>
          </a:p>
        </p:txBody>
      </p:sp>
      <p:sp>
        <p:nvSpPr>
          <p:cNvPr id="46" name="Text 44"/>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47" name="Text 45"/>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5 / 20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04</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サニックス提案の評価 ― 何ができて、何が足りないか</a:t>
            </a:r>
            <a:endParaRPr lang="en-US" sz="3000" dirty="0"/>
          </a:p>
        </p:txBody>
      </p:sp>
      <p:sp>
        <p:nvSpPr>
          <p:cNvPr id="4" name="Shape 2"/>
          <p:cNvSpPr/>
          <p:nvPr/>
        </p:nvSpPr>
        <p:spPr>
          <a:xfrm>
            <a:off x="457200"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5" name="Text 3"/>
          <p:cNvSpPr/>
          <p:nvPr/>
        </p:nvSpPr>
        <p:spPr>
          <a:xfrm>
            <a:off x="731520" y="1737360"/>
            <a:ext cx="5029200" cy="347472"/>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サニックス提案 (B 案 ) の内容</a:t>
            </a:r>
            <a:endParaRPr lang="en-US" sz="1400" dirty="0"/>
          </a:p>
        </p:txBody>
      </p:sp>
      <p:sp>
        <p:nvSpPr>
          <p:cNvPr id="6" name="Shape 4"/>
          <p:cNvSpPr/>
          <p:nvPr/>
        </p:nvSpPr>
        <p:spPr>
          <a:xfrm>
            <a:off x="731520" y="2176272"/>
            <a:ext cx="1417320" cy="338328"/>
          </a:xfrm>
          <a:prstGeom prst="rect">
            <a:avLst/>
          </a:prstGeom>
          <a:solidFill>
            <a:srgbClr val="0F2747"/>
          </a:solidFill>
          <a:ln/>
        </p:spPr>
      </p:sp>
      <p:sp>
        <p:nvSpPr>
          <p:cNvPr id="7" name="Text 5"/>
          <p:cNvSpPr/>
          <p:nvPr/>
        </p:nvSpPr>
        <p:spPr>
          <a:xfrm>
            <a:off x="731520" y="2176272"/>
            <a:ext cx="1417320" cy="338328"/>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JP" pitchFamily="34" charset="0"/>
                <a:ea typeface="Noto Sans CJK JP" pitchFamily="34" charset="-122"/>
                <a:cs typeface="Noto Sans CJK JP" pitchFamily="34" charset="-120"/>
              </a:rPr>
              <a:t>既設 PV 流用</a:t>
            </a:r>
            <a:endParaRPr lang="en-US" sz="950" dirty="0"/>
          </a:p>
        </p:txBody>
      </p:sp>
      <p:sp>
        <p:nvSpPr>
          <p:cNvPr id="8" name="Text 6"/>
          <p:cNvSpPr/>
          <p:nvPr/>
        </p:nvSpPr>
        <p:spPr>
          <a:xfrm>
            <a:off x="2286000" y="2176272"/>
            <a:ext cx="3474720" cy="338328"/>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BYD250P 252 枚 (63kW)</a:t>
            </a:r>
            <a:endParaRPr lang="en-US" sz="1050" dirty="0"/>
          </a:p>
        </p:txBody>
      </p:sp>
      <p:sp>
        <p:nvSpPr>
          <p:cNvPr id="9" name="Shape 7"/>
          <p:cNvSpPr/>
          <p:nvPr/>
        </p:nvSpPr>
        <p:spPr>
          <a:xfrm>
            <a:off x="731520" y="2569464"/>
            <a:ext cx="1417320" cy="338328"/>
          </a:xfrm>
          <a:prstGeom prst="rect">
            <a:avLst/>
          </a:prstGeom>
          <a:solidFill>
            <a:srgbClr val="0F2747"/>
          </a:solidFill>
          <a:ln/>
        </p:spPr>
      </p:sp>
      <p:sp>
        <p:nvSpPr>
          <p:cNvPr id="10" name="Text 8"/>
          <p:cNvSpPr/>
          <p:nvPr/>
        </p:nvSpPr>
        <p:spPr>
          <a:xfrm>
            <a:off x="731520" y="2569464"/>
            <a:ext cx="1417320" cy="338328"/>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JP" pitchFamily="34" charset="0"/>
                <a:ea typeface="Noto Sans CJK JP" pitchFamily="34" charset="-122"/>
                <a:cs typeface="Noto Sans CJK JP" pitchFamily="34" charset="-120"/>
              </a:rPr>
              <a:t>パワコン</a:t>
            </a:r>
            <a:endParaRPr lang="en-US" sz="950" dirty="0"/>
          </a:p>
        </p:txBody>
      </p:sp>
      <p:sp>
        <p:nvSpPr>
          <p:cNvPr id="11" name="Text 9"/>
          <p:cNvSpPr/>
          <p:nvPr/>
        </p:nvSpPr>
        <p:spPr>
          <a:xfrm>
            <a:off x="2286000" y="2569464"/>
            <a:ext cx="3474720" cy="338328"/>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HUAWEI SUN2000-4.95KTL ×10 台</a:t>
            </a:r>
            <a:endParaRPr lang="en-US" sz="1050" dirty="0"/>
          </a:p>
        </p:txBody>
      </p:sp>
      <p:sp>
        <p:nvSpPr>
          <p:cNvPr id="12" name="Shape 10"/>
          <p:cNvSpPr/>
          <p:nvPr/>
        </p:nvSpPr>
        <p:spPr>
          <a:xfrm>
            <a:off x="731520" y="2962656"/>
            <a:ext cx="1417320" cy="338328"/>
          </a:xfrm>
          <a:prstGeom prst="rect">
            <a:avLst/>
          </a:prstGeom>
          <a:solidFill>
            <a:srgbClr val="0F2747"/>
          </a:solidFill>
          <a:ln/>
        </p:spPr>
      </p:sp>
      <p:sp>
        <p:nvSpPr>
          <p:cNvPr id="13" name="Text 11"/>
          <p:cNvSpPr/>
          <p:nvPr/>
        </p:nvSpPr>
        <p:spPr>
          <a:xfrm>
            <a:off x="731520" y="2962656"/>
            <a:ext cx="1417320" cy="338328"/>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JP" pitchFamily="34" charset="0"/>
                <a:ea typeface="Noto Sans CJK JP" pitchFamily="34" charset="-122"/>
                <a:cs typeface="Noto Sans CJK JP" pitchFamily="34" charset="-120"/>
              </a:rPr>
              <a:t>AC 集電箱</a:t>
            </a:r>
            <a:endParaRPr lang="en-US" sz="950" dirty="0"/>
          </a:p>
        </p:txBody>
      </p:sp>
      <p:sp>
        <p:nvSpPr>
          <p:cNvPr id="14" name="Text 12"/>
          <p:cNvSpPr/>
          <p:nvPr/>
        </p:nvSpPr>
        <p:spPr>
          <a:xfrm>
            <a:off x="2286000" y="2962656"/>
            <a:ext cx="3474720" cy="338328"/>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単相用 1 台</a:t>
            </a:r>
            <a:endParaRPr lang="en-US" sz="1050" dirty="0"/>
          </a:p>
        </p:txBody>
      </p:sp>
      <p:sp>
        <p:nvSpPr>
          <p:cNvPr id="15" name="Shape 13"/>
          <p:cNvSpPr/>
          <p:nvPr/>
        </p:nvSpPr>
        <p:spPr>
          <a:xfrm>
            <a:off x="731520" y="3355848"/>
            <a:ext cx="1417320" cy="338328"/>
          </a:xfrm>
          <a:prstGeom prst="rect">
            <a:avLst/>
          </a:prstGeom>
          <a:solidFill>
            <a:srgbClr val="0F2747"/>
          </a:solidFill>
          <a:ln/>
        </p:spPr>
      </p:sp>
      <p:sp>
        <p:nvSpPr>
          <p:cNvPr id="16" name="Text 14"/>
          <p:cNvSpPr/>
          <p:nvPr/>
        </p:nvSpPr>
        <p:spPr>
          <a:xfrm>
            <a:off x="731520" y="3355848"/>
            <a:ext cx="1417320" cy="338328"/>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JP" pitchFamily="34" charset="0"/>
                <a:ea typeface="Noto Sans CJK JP" pitchFamily="34" charset="-122"/>
                <a:cs typeface="Noto Sans CJK JP" pitchFamily="34" charset="-120"/>
              </a:rPr>
              <a:t>データ収集</a:t>
            </a:r>
            <a:endParaRPr lang="en-US" sz="950" dirty="0"/>
          </a:p>
        </p:txBody>
      </p:sp>
      <p:sp>
        <p:nvSpPr>
          <p:cNvPr id="17" name="Text 15"/>
          <p:cNvSpPr/>
          <p:nvPr/>
        </p:nvSpPr>
        <p:spPr>
          <a:xfrm>
            <a:off x="2286000" y="3355848"/>
            <a:ext cx="3474720" cy="338328"/>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SmartLogger 3000A</a:t>
            </a:r>
            <a:endParaRPr lang="en-US" sz="1050" dirty="0"/>
          </a:p>
        </p:txBody>
      </p:sp>
      <p:sp>
        <p:nvSpPr>
          <p:cNvPr id="18" name="Shape 16"/>
          <p:cNvSpPr/>
          <p:nvPr/>
        </p:nvSpPr>
        <p:spPr>
          <a:xfrm>
            <a:off x="731520" y="3749040"/>
            <a:ext cx="1417320" cy="338328"/>
          </a:xfrm>
          <a:prstGeom prst="rect">
            <a:avLst/>
          </a:prstGeom>
          <a:solidFill>
            <a:srgbClr val="0F2747"/>
          </a:solidFill>
          <a:ln/>
        </p:spPr>
      </p:sp>
      <p:sp>
        <p:nvSpPr>
          <p:cNvPr id="19" name="Text 17"/>
          <p:cNvSpPr/>
          <p:nvPr/>
        </p:nvSpPr>
        <p:spPr>
          <a:xfrm>
            <a:off x="731520" y="3749040"/>
            <a:ext cx="1417320" cy="338328"/>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JP" pitchFamily="34" charset="0"/>
                <a:ea typeface="Noto Sans CJK JP" pitchFamily="34" charset="-122"/>
                <a:cs typeface="Noto Sans CJK JP" pitchFamily="34" charset="-120"/>
              </a:rPr>
              <a:t>自家消費 BOX</a:t>
            </a:r>
            <a:endParaRPr lang="en-US" sz="950" dirty="0"/>
          </a:p>
        </p:txBody>
      </p:sp>
      <p:sp>
        <p:nvSpPr>
          <p:cNvPr id="20" name="Text 18"/>
          <p:cNvSpPr/>
          <p:nvPr/>
        </p:nvSpPr>
        <p:spPr>
          <a:xfrm>
            <a:off x="2286000" y="3749040"/>
            <a:ext cx="3474720" cy="338328"/>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1 式</a:t>
            </a:r>
            <a:endParaRPr lang="en-US" sz="1050" dirty="0"/>
          </a:p>
        </p:txBody>
      </p:sp>
      <p:sp>
        <p:nvSpPr>
          <p:cNvPr id="21" name="Shape 19"/>
          <p:cNvSpPr/>
          <p:nvPr/>
        </p:nvSpPr>
        <p:spPr>
          <a:xfrm>
            <a:off x="731520" y="4142232"/>
            <a:ext cx="1417320" cy="338328"/>
          </a:xfrm>
          <a:prstGeom prst="rect">
            <a:avLst/>
          </a:prstGeom>
          <a:solidFill>
            <a:srgbClr val="0F2747"/>
          </a:solidFill>
          <a:ln/>
        </p:spPr>
      </p:sp>
      <p:sp>
        <p:nvSpPr>
          <p:cNvPr id="22" name="Text 20"/>
          <p:cNvSpPr/>
          <p:nvPr/>
        </p:nvSpPr>
        <p:spPr>
          <a:xfrm>
            <a:off x="731520" y="4142232"/>
            <a:ext cx="1417320" cy="338328"/>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JP" pitchFamily="34" charset="0"/>
                <a:ea typeface="Noto Sans CJK JP" pitchFamily="34" charset="-122"/>
                <a:cs typeface="Noto Sans CJK JP" pitchFamily="34" charset="-120"/>
              </a:rPr>
              <a:t>別途工事</a:t>
            </a:r>
            <a:endParaRPr lang="en-US" sz="950" dirty="0"/>
          </a:p>
        </p:txBody>
      </p:sp>
      <p:sp>
        <p:nvSpPr>
          <p:cNvPr id="23" name="Text 21"/>
          <p:cNvSpPr/>
          <p:nvPr/>
        </p:nvSpPr>
        <p:spPr>
          <a:xfrm>
            <a:off x="2286000" y="4142232"/>
            <a:ext cx="3474720" cy="338328"/>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配電盤改造・キュービクル工事 等</a:t>
            </a:r>
            <a:endParaRPr lang="en-US" sz="1050" dirty="0"/>
          </a:p>
        </p:txBody>
      </p:sp>
      <p:sp>
        <p:nvSpPr>
          <p:cNvPr id="24" name="Shape 22"/>
          <p:cNvSpPr/>
          <p:nvPr/>
        </p:nvSpPr>
        <p:spPr>
          <a:xfrm>
            <a:off x="731520" y="4572000"/>
            <a:ext cx="4937760" cy="502920"/>
          </a:xfrm>
          <a:prstGeom prst="rect">
            <a:avLst/>
          </a:prstGeom>
          <a:solidFill>
            <a:srgbClr val="0F2747"/>
          </a:solidFill>
          <a:ln/>
        </p:spPr>
      </p:sp>
      <p:sp>
        <p:nvSpPr>
          <p:cNvPr id="25" name="Text 23"/>
          <p:cNvSpPr/>
          <p:nvPr/>
        </p:nvSpPr>
        <p:spPr>
          <a:xfrm>
            <a:off x="731520" y="4572000"/>
            <a:ext cx="4937760" cy="502920"/>
          </a:xfrm>
          <a:prstGeom prst="rect">
            <a:avLst/>
          </a:prstGeom>
          <a:noFill/>
          <a:ln/>
        </p:spPr>
        <p:txBody>
          <a:bodyPr wrap="square" lIns="0" tIns="0" rIns="0" bIns="0" rtlCol="0" anchor="ctr"/>
          <a:lstStyle/>
          <a:p>
            <a:pPr algn="ctr" indent="0" marL="0">
              <a:buNone/>
            </a:pPr>
            <a:r>
              <a:rPr lang="en-US" sz="1600" b="1" dirty="0">
                <a:solidFill>
                  <a:srgbClr val="C7A867"/>
                </a:solidFill>
                <a:latin typeface="Noto Sans CJK JP" pitchFamily="34" charset="0"/>
                <a:ea typeface="Noto Sans CJK JP" pitchFamily="34" charset="-122"/>
                <a:cs typeface="Noto Sans CJK JP" pitchFamily="34" charset="-120"/>
              </a:rPr>
              <a:t>合計金額  6,160,000 円（税込）</a:t>
            </a:r>
            <a:endParaRPr lang="en-US" sz="1600" dirty="0"/>
          </a:p>
        </p:txBody>
      </p:sp>
      <p:sp>
        <p:nvSpPr>
          <p:cNvPr id="26" name="Text 24"/>
          <p:cNvSpPr/>
          <p:nvPr/>
        </p:nvSpPr>
        <p:spPr>
          <a:xfrm>
            <a:off x="731520" y="5166360"/>
            <a:ext cx="4937760" cy="274320"/>
          </a:xfrm>
          <a:prstGeom prst="rect">
            <a:avLst/>
          </a:prstGeom>
          <a:noFill/>
          <a:ln/>
        </p:spPr>
        <p:txBody>
          <a:bodyPr wrap="square" lIns="0" tIns="0" rIns="0" bIns="0" rtlCol="0" anchor="ctr"/>
          <a:lstStyle/>
          <a:p>
            <a:pPr algn="l" indent="0" marL="0">
              <a:buNone/>
            </a:pPr>
            <a:r>
              <a:rPr lang="en-US" sz="1100" b="1" dirty="0">
                <a:solidFill>
                  <a:srgbClr val="1FA383"/>
                </a:solidFill>
                <a:latin typeface="Noto Sans CJK JP" pitchFamily="34" charset="0"/>
                <a:ea typeface="Noto Sans CJK JP" pitchFamily="34" charset="-122"/>
                <a:cs typeface="Noto Sans CJK JP" pitchFamily="34" charset="-120"/>
              </a:rPr>
              <a:t>◎ 評価できる点</a:t>
            </a:r>
            <a:endParaRPr lang="en-US" sz="1100" dirty="0"/>
          </a:p>
        </p:txBody>
      </p:sp>
      <p:sp>
        <p:nvSpPr>
          <p:cNvPr id="27" name="Text 25"/>
          <p:cNvSpPr/>
          <p:nvPr/>
        </p:nvSpPr>
        <p:spPr>
          <a:xfrm>
            <a:off x="777240" y="5440680"/>
            <a:ext cx="4846320" cy="685800"/>
          </a:xfrm>
          <a:prstGeom prst="rect">
            <a:avLst/>
          </a:prstGeom>
          <a:noFill/>
          <a:ln/>
        </p:spPr>
        <p:txBody>
          <a:bodyPr wrap="square" lIns="0" tIns="0" rIns="0" bIns="0" rtlCol="0" anchor="t"/>
          <a:lstStyle/>
          <a:p>
            <a:pPr algn="l" marL="342900" indent="-342900">
              <a:spcAft>
                <a:spcPts val="300"/>
              </a:spcAft>
              <a:buSzPct val="100000"/>
              <a:buChar char="●"/>
            </a:pPr>
            <a:r>
              <a:rPr lang="en-US" sz="1000" dirty="0">
                <a:solidFill>
                  <a:srgbClr val="1A2B40"/>
                </a:solidFill>
                <a:latin typeface="Noto Sans CJK JP" pitchFamily="34" charset="0"/>
                <a:ea typeface="Noto Sans CJK JP" pitchFamily="34" charset="-122"/>
                <a:cs typeface="Noto Sans CJK JP" pitchFamily="34" charset="-120"/>
              </a:rPr>
              <a:t>既設 PV252 枚を活かす再活用（廃棄ロス回避）</a:t>
            </a:r>
            <a:endParaRPr lang="en-US" sz="1000" dirty="0"/>
          </a:p>
          <a:p>
            <a:pPr algn="l" marL="342900" indent="-342900">
              <a:spcAft>
                <a:spcPts val="300"/>
              </a:spcAft>
              <a:buSzPct val="100000"/>
              <a:buChar char="●"/>
            </a:pPr>
            <a:r>
              <a:rPr lang="en-US" sz="1000" dirty="0">
                <a:solidFill>
                  <a:srgbClr val="1A2B40"/>
                </a:solidFill>
                <a:latin typeface="Noto Sans CJK JP" pitchFamily="34" charset="0"/>
                <a:ea typeface="Noto Sans CJK JP" pitchFamily="34" charset="-122"/>
                <a:cs typeface="Noto Sans CJK JP" pitchFamily="34" charset="-120"/>
              </a:rPr>
              <a:t>HUAWEI パワコン 20 年保証は業界水準を上回る</a:t>
            </a:r>
            <a:endParaRPr lang="en-US" sz="1000" dirty="0"/>
          </a:p>
          <a:p>
            <a:pPr algn="l" marL="342900" indent="-342900">
              <a:buSzPct val="100000"/>
              <a:buChar char="●"/>
            </a:pPr>
            <a:r>
              <a:rPr lang="en-US" sz="1000" dirty="0">
                <a:solidFill>
                  <a:srgbClr val="1A2B40"/>
                </a:solidFill>
                <a:latin typeface="Noto Sans CJK JP" pitchFamily="34" charset="0"/>
                <a:ea typeface="Noto Sans CJK JP" pitchFamily="34" charset="-122"/>
                <a:cs typeface="Noto Sans CJK JP" pitchFamily="34" charset="-120"/>
              </a:rPr>
              <a:t>25 年シミュレーションが詳細・透明性◎</a:t>
            </a:r>
            <a:endParaRPr lang="en-US" sz="1000" dirty="0"/>
          </a:p>
        </p:txBody>
      </p:sp>
      <p:sp>
        <p:nvSpPr>
          <p:cNvPr id="28" name="Shape 26"/>
          <p:cNvSpPr/>
          <p:nvPr/>
        </p:nvSpPr>
        <p:spPr>
          <a:xfrm>
            <a:off x="6245352"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29" name="Text 27"/>
          <p:cNvSpPr/>
          <p:nvPr/>
        </p:nvSpPr>
        <p:spPr>
          <a:xfrm>
            <a:off x="6519672" y="1737360"/>
            <a:ext cx="5029200" cy="347472"/>
          </a:xfrm>
          <a:prstGeom prst="rect">
            <a:avLst/>
          </a:prstGeom>
          <a:noFill/>
          <a:ln/>
        </p:spPr>
        <p:txBody>
          <a:bodyPr wrap="square" lIns="0" tIns="0" rIns="0" bIns="0" rtlCol="0" anchor="ctr"/>
          <a:lstStyle/>
          <a:p>
            <a:pPr algn="l" indent="0" marL="0">
              <a:buNone/>
            </a:pPr>
            <a:r>
              <a:rPr lang="en-US" sz="1400" b="1" dirty="0">
                <a:solidFill>
                  <a:srgbClr val="E58027"/>
                </a:solidFill>
                <a:latin typeface="Noto Sans CJK JP" pitchFamily="34" charset="0"/>
                <a:ea typeface="Noto Sans CJK JP" pitchFamily="34" charset="-122"/>
                <a:cs typeface="Noto Sans CJK JP" pitchFamily="34" charset="-120"/>
              </a:rPr>
              <a:t>△ 物足りない点 →  C/D  で解決</a:t>
            </a:r>
            <a:endParaRPr lang="en-US" sz="1400" dirty="0"/>
          </a:p>
        </p:txBody>
      </p:sp>
      <p:sp>
        <p:nvSpPr>
          <p:cNvPr id="30" name="Text 28"/>
          <p:cNvSpPr/>
          <p:nvPr/>
        </p:nvSpPr>
        <p:spPr>
          <a:xfrm>
            <a:off x="6519672" y="2194560"/>
            <a:ext cx="5074920" cy="27432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 単相のみ自家消費 → 余剰 37,286kWh/ 年 (PV の 49%) を捨てる</a:t>
            </a:r>
            <a:endParaRPr lang="en-US" sz="1000" dirty="0"/>
          </a:p>
        </p:txBody>
      </p:sp>
      <p:sp>
        <p:nvSpPr>
          <p:cNvPr id="31" name="Shape 29"/>
          <p:cNvSpPr/>
          <p:nvPr/>
        </p:nvSpPr>
        <p:spPr>
          <a:xfrm>
            <a:off x="6519672" y="2468880"/>
            <a:ext cx="5074920" cy="310896"/>
          </a:xfrm>
          <a:prstGeom prst="rect">
            <a:avLst/>
          </a:prstGeom>
          <a:solidFill>
            <a:srgbClr val="1FA383"/>
          </a:solidFill>
          <a:ln/>
        </p:spPr>
      </p:sp>
      <p:sp>
        <p:nvSpPr>
          <p:cNvPr id="32" name="Text 30"/>
          <p:cNvSpPr/>
          <p:nvPr/>
        </p:nvSpPr>
        <p:spPr>
          <a:xfrm>
            <a:off x="6629400" y="2468880"/>
            <a:ext cx="4937760" cy="310896"/>
          </a:xfrm>
          <a:prstGeom prst="rect">
            <a:avLst/>
          </a:prstGeom>
          <a:noFill/>
          <a:ln/>
        </p:spPr>
        <p:txBody>
          <a:bodyPr wrap="square" lIns="0" tIns="0" rIns="0" bIns="0" rtlCol="0" anchor="ctr"/>
          <a:lstStyle/>
          <a:p>
            <a:pPr algn="l" indent="0" marL="0">
              <a:buNone/>
            </a:pPr>
            <a:r>
              <a:rPr lang="en-US" sz="980" b="1" dirty="0">
                <a:solidFill>
                  <a:srgbClr val="FFFFFF"/>
                </a:solidFill>
                <a:latin typeface="Noto Sans CJK JP" pitchFamily="34" charset="0"/>
                <a:ea typeface="Noto Sans CJK JP" pitchFamily="34" charset="-122"/>
                <a:cs typeface="Noto Sans CJK JP" pitchFamily="34" charset="-120"/>
              </a:rPr>
              <a:t>→ C:  オムロン完全自家消費型 +PW3 で 100% 自家消費 ( 三相含む )</a:t>
            </a:r>
            <a:endParaRPr lang="en-US" sz="980" dirty="0"/>
          </a:p>
        </p:txBody>
      </p:sp>
      <p:sp>
        <p:nvSpPr>
          <p:cNvPr id="33" name="Text 31"/>
          <p:cNvSpPr/>
          <p:nvPr/>
        </p:nvSpPr>
        <p:spPr>
          <a:xfrm>
            <a:off x="6519672" y="2852928"/>
            <a:ext cx="5074920" cy="27432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 停電時に発電を活用できない (BCP×)</a:t>
            </a:r>
            <a:endParaRPr lang="en-US" sz="1000" dirty="0"/>
          </a:p>
        </p:txBody>
      </p:sp>
      <p:sp>
        <p:nvSpPr>
          <p:cNvPr id="34" name="Shape 32"/>
          <p:cNvSpPr/>
          <p:nvPr/>
        </p:nvSpPr>
        <p:spPr>
          <a:xfrm>
            <a:off x="6519672" y="3127248"/>
            <a:ext cx="5074920" cy="310896"/>
          </a:xfrm>
          <a:prstGeom prst="rect">
            <a:avLst/>
          </a:prstGeom>
          <a:solidFill>
            <a:srgbClr val="1FA383"/>
          </a:solidFill>
          <a:ln/>
        </p:spPr>
      </p:sp>
      <p:sp>
        <p:nvSpPr>
          <p:cNvPr id="35" name="Text 33"/>
          <p:cNvSpPr/>
          <p:nvPr/>
        </p:nvSpPr>
        <p:spPr>
          <a:xfrm>
            <a:off x="6629400" y="3127248"/>
            <a:ext cx="4937760" cy="310896"/>
          </a:xfrm>
          <a:prstGeom prst="rect">
            <a:avLst/>
          </a:prstGeom>
          <a:noFill/>
          <a:ln/>
        </p:spPr>
        <p:txBody>
          <a:bodyPr wrap="square" lIns="0" tIns="0" rIns="0" bIns="0" rtlCol="0" anchor="ctr"/>
          <a:lstStyle/>
          <a:p>
            <a:pPr algn="l" indent="0" marL="0">
              <a:buNone/>
            </a:pPr>
            <a:r>
              <a:rPr lang="en-US" sz="980" b="1" dirty="0">
                <a:solidFill>
                  <a:srgbClr val="FFFFFF"/>
                </a:solidFill>
                <a:latin typeface="Noto Sans CJK JP" pitchFamily="34" charset="0"/>
                <a:ea typeface="Noto Sans CJK JP" pitchFamily="34" charset="-122"/>
                <a:cs typeface="Noto Sans CJK JP" pitchFamily="34" charset="-120"/>
              </a:rPr>
              <a:t>→ C:  重要負荷 5kW で 11 時間 /3kW で 18 時間継続</a:t>
            </a:r>
            <a:endParaRPr lang="en-US" sz="980" dirty="0"/>
          </a:p>
        </p:txBody>
      </p:sp>
      <p:sp>
        <p:nvSpPr>
          <p:cNvPr id="36" name="Text 34"/>
          <p:cNvSpPr/>
          <p:nvPr/>
        </p:nvSpPr>
        <p:spPr>
          <a:xfrm>
            <a:off x="6519672" y="3511296"/>
            <a:ext cx="5074920" cy="27432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 千葉県補助金の活用提案なし</a:t>
            </a:r>
            <a:endParaRPr lang="en-US" sz="1000" dirty="0"/>
          </a:p>
        </p:txBody>
      </p:sp>
      <p:sp>
        <p:nvSpPr>
          <p:cNvPr id="37" name="Shape 35"/>
          <p:cNvSpPr/>
          <p:nvPr/>
        </p:nvSpPr>
        <p:spPr>
          <a:xfrm>
            <a:off x="6519672" y="3785616"/>
            <a:ext cx="5074920" cy="310896"/>
          </a:xfrm>
          <a:prstGeom prst="rect">
            <a:avLst/>
          </a:prstGeom>
          <a:solidFill>
            <a:srgbClr val="1FA383"/>
          </a:solidFill>
          <a:ln/>
        </p:spPr>
      </p:sp>
      <p:sp>
        <p:nvSpPr>
          <p:cNvPr id="38" name="Text 36"/>
          <p:cNvSpPr/>
          <p:nvPr/>
        </p:nvSpPr>
        <p:spPr>
          <a:xfrm>
            <a:off x="6629400" y="3785616"/>
            <a:ext cx="4937760" cy="310896"/>
          </a:xfrm>
          <a:prstGeom prst="rect">
            <a:avLst/>
          </a:prstGeom>
          <a:noFill/>
          <a:ln/>
        </p:spPr>
        <p:txBody>
          <a:bodyPr wrap="square" lIns="0" tIns="0" rIns="0" bIns="0" rtlCol="0" anchor="ctr"/>
          <a:lstStyle/>
          <a:p>
            <a:pPr algn="l" indent="0" marL="0">
              <a:buNone/>
            </a:pPr>
            <a:r>
              <a:rPr lang="en-US" sz="980" b="1" dirty="0">
                <a:solidFill>
                  <a:srgbClr val="FFFFFF"/>
                </a:solidFill>
                <a:latin typeface="Noto Sans CJK JP" pitchFamily="34" charset="0"/>
                <a:ea typeface="Noto Sans CJK JP" pitchFamily="34" charset="-122"/>
                <a:cs typeface="Noto Sans CJK JP" pitchFamily="34" charset="-120"/>
              </a:rPr>
              <a:t>→ D:  蓄電池 + ポリウレア合算で上限 1,000 万円獲得</a:t>
            </a:r>
            <a:endParaRPr lang="en-US" sz="980" dirty="0"/>
          </a:p>
        </p:txBody>
      </p:sp>
      <p:sp>
        <p:nvSpPr>
          <p:cNvPr id="39" name="Text 37"/>
          <p:cNvSpPr/>
          <p:nvPr/>
        </p:nvSpPr>
        <p:spPr>
          <a:xfrm>
            <a:off x="6519672" y="4169664"/>
            <a:ext cx="5074920" cy="27432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 5 年後の塗装工事 800 万円 が別途発生</a:t>
            </a:r>
            <a:endParaRPr lang="en-US" sz="1000" dirty="0"/>
          </a:p>
        </p:txBody>
      </p:sp>
      <p:sp>
        <p:nvSpPr>
          <p:cNvPr id="40" name="Shape 38"/>
          <p:cNvSpPr/>
          <p:nvPr/>
        </p:nvSpPr>
        <p:spPr>
          <a:xfrm>
            <a:off x="6519672" y="4443984"/>
            <a:ext cx="5074920" cy="310896"/>
          </a:xfrm>
          <a:prstGeom prst="rect">
            <a:avLst/>
          </a:prstGeom>
          <a:solidFill>
            <a:srgbClr val="B89A55"/>
          </a:solidFill>
          <a:ln/>
        </p:spPr>
      </p:sp>
      <p:sp>
        <p:nvSpPr>
          <p:cNvPr id="41" name="Text 39"/>
          <p:cNvSpPr/>
          <p:nvPr/>
        </p:nvSpPr>
        <p:spPr>
          <a:xfrm>
            <a:off x="6629400" y="4443984"/>
            <a:ext cx="4937760" cy="310896"/>
          </a:xfrm>
          <a:prstGeom prst="rect">
            <a:avLst/>
          </a:prstGeom>
          <a:noFill/>
          <a:ln/>
        </p:spPr>
        <p:txBody>
          <a:bodyPr wrap="square" lIns="0" tIns="0" rIns="0" bIns="0" rtlCol="0" anchor="ctr"/>
          <a:lstStyle/>
          <a:p>
            <a:pPr algn="l" indent="0" marL="0">
              <a:buNone/>
            </a:pPr>
            <a:r>
              <a:rPr lang="en-US" sz="980" b="1" dirty="0">
                <a:solidFill>
                  <a:srgbClr val="FFFFFF"/>
                </a:solidFill>
                <a:latin typeface="Noto Sans CJK JP" pitchFamily="34" charset="0"/>
                <a:ea typeface="Noto Sans CJK JP" pitchFamily="34" charset="-122"/>
                <a:cs typeface="Noto Sans CJK JP" pitchFamily="34" charset="-120"/>
              </a:rPr>
              <a:t>→ D:  ポリウレアで 20 年以上耐候 → 塗装工事不要</a:t>
            </a:r>
            <a:endParaRPr lang="en-US" sz="980" dirty="0"/>
          </a:p>
        </p:txBody>
      </p:sp>
      <p:sp>
        <p:nvSpPr>
          <p:cNvPr id="42" name="Text 40"/>
          <p:cNvSpPr/>
          <p:nvPr/>
        </p:nvSpPr>
        <p:spPr>
          <a:xfrm>
            <a:off x="6519672" y="4828032"/>
            <a:ext cx="5074920" cy="27432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 15 年後の塗装工事 1,200 万円 が別途発生</a:t>
            </a:r>
            <a:endParaRPr lang="en-US" sz="1000" dirty="0"/>
          </a:p>
        </p:txBody>
      </p:sp>
      <p:sp>
        <p:nvSpPr>
          <p:cNvPr id="43" name="Shape 41"/>
          <p:cNvSpPr/>
          <p:nvPr/>
        </p:nvSpPr>
        <p:spPr>
          <a:xfrm>
            <a:off x="6519672" y="5102352"/>
            <a:ext cx="5074920" cy="310896"/>
          </a:xfrm>
          <a:prstGeom prst="rect">
            <a:avLst/>
          </a:prstGeom>
          <a:solidFill>
            <a:srgbClr val="B89A55"/>
          </a:solidFill>
          <a:ln/>
        </p:spPr>
      </p:sp>
      <p:sp>
        <p:nvSpPr>
          <p:cNvPr id="44" name="Text 42"/>
          <p:cNvSpPr/>
          <p:nvPr/>
        </p:nvSpPr>
        <p:spPr>
          <a:xfrm>
            <a:off x="6629400" y="5102352"/>
            <a:ext cx="4937760" cy="310896"/>
          </a:xfrm>
          <a:prstGeom prst="rect">
            <a:avLst/>
          </a:prstGeom>
          <a:noFill/>
          <a:ln/>
        </p:spPr>
        <p:txBody>
          <a:bodyPr wrap="square" lIns="0" tIns="0" rIns="0" bIns="0" rtlCol="0" anchor="ctr"/>
          <a:lstStyle/>
          <a:p>
            <a:pPr algn="l" indent="0" marL="0">
              <a:buNone/>
            </a:pPr>
            <a:r>
              <a:rPr lang="en-US" sz="980" b="1" dirty="0">
                <a:solidFill>
                  <a:srgbClr val="FFFFFF"/>
                </a:solidFill>
                <a:latin typeface="Noto Sans CJK JP" pitchFamily="34" charset="0"/>
                <a:ea typeface="Noto Sans CJK JP" pitchFamily="34" charset="-122"/>
                <a:cs typeface="Noto Sans CJK JP" pitchFamily="34" charset="-120"/>
              </a:rPr>
              <a:t>→ D:  千葉県補助金 1/2 で実質 600 万円のみ</a:t>
            </a:r>
            <a:endParaRPr lang="en-US" sz="980" dirty="0"/>
          </a:p>
        </p:txBody>
      </p:sp>
      <p:sp>
        <p:nvSpPr>
          <p:cNvPr id="45" name="Text 43"/>
          <p:cNvSpPr/>
          <p:nvPr/>
        </p:nvSpPr>
        <p:spPr>
          <a:xfrm>
            <a:off x="6519672" y="5486400"/>
            <a:ext cx="5074920" cy="27432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 屋根防水時のパネル脱着工事 63 万 ×2 回</a:t>
            </a:r>
            <a:endParaRPr lang="en-US" sz="1000" dirty="0"/>
          </a:p>
        </p:txBody>
      </p:sp>
      <p:sp>
        <p:nvSpPr>
          <p:cNvPr id="46" name="Shape 44"/>
          <p:cNvSpPr/>
          <p:nvPr/>
        </p:nvSpPr>
        <p:spPr>
          <a:xfrm>
            <a:off x="6519672" y="5760720"/>
            <a:ext cx="5074920" cy="310896"/>
          </a:xfrm>
          <a:prstGeom prst="rect">
            <a:avLst/>
          </a:prstGeom>
          <a:solidFill>
            <a:srgbClr val="B89A55"/>
          </a:solidFill>
          <a:ln/>
        </p:spPr>
      </p:sp>
      <p:sp>
        <p:nvSpPr>
          <p:cNvPr id="47" name="Text 45"/>
          <p:cNvSpPr/>
          <p:nvPr/>
        </p:nvSpPr>
        <p:spPr>
          <a:xfrm>
            <a:off x="6629400" y="5760720"/>
            <a:ext cx="4937760" cy="310896"/>
          </a:xfrm>
          <a:prstGeom prst="rect">
            <a:avLst/>
          </a:prstGeom>
          <a:noFill/>
          <a:ln/>
        </p:spPr>
        <p:txBody>
          <a:bodyPr wrap="square" lIns="0" tIns="0" rIns="0" bIns="0" rtlCol="0" anchor="ctr"/>
          <a:lstStyle/>
          <a:p>
            <a:pPr algn="l" indent="0" marL="0">
              <a:buNone/>
            </a:pPr>
            <a:r>
              <a:rPr lang="en-US" sz="980" b="1" dirty="0">
                <a:solidFill>
                  <a:srgbClr val="FFFFFF"/>
                </a:solidFill>
                <a:latin typeface="Noto Sans CJK JP" pitchFamily="34" charset="0"/>
                <a:ea typeface="Noto Sans CJK JP" pitchFamily="34" charset="-122"/>
                <a:cs typeface="Noto Sans CJK JP" pitchFamily="34" charset="-120"/>
              </a:rPr>
              <a:t>→ D:  屋根防水とポリウレア一体施工で不要</a:t>
            </a:r>
            <a:endParaRPr lang="en-US" sz="980" dirty="0"/>
          </a:p>
        </p:txBody>
      </p:sp>
      <p:sp>
        <p:nvSpPr>
          <p:cNvPr id="48" name="Text 46"/>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49" name="Text 47"/>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6 / 20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04</a:t>
            </a:r>
            <a:endParaRPr lang="en-US" sz="1300" dirty="0"/>
          </a:p>
        </p:txBody>
      </p:sp>
      <p:sp>
        <p:nvSpPr>
          <p:cNvPr id="3" name="Text 1"/>
          <p:cNvSpPr/>
          <p:nvPr/>
        </p:nvSpPr>
        <p:spPr>
          <a:xfrm>
            <a:off x="457200" y="566928"/>
            <a:ext cx="11247120" cy="868680"/>
          </a:xfrm>
          <a:prstGeom prst="rect">
            <a:avLst/>
          </a:prstGeom>
          <a:noFill/>
          <a:ln/>
        </p:spPr>
        <p:txBody>
          <a:bodyPr wrap="square" lIns="0" tIns="0" rIns="0" bIns="0" rtlCol="0" anchor="ctr"/>
          <a:lstStyle/>
          <a:p>
            <a:pPr algn="l" indent="0" marL="0">
              <a:lnSpc>
                <a:spcPct val="105000"/>
              </a:lnSpc>
              <a:buNone/>
            </a:pPr>
            <a:r>
              <a:rPr lang="en-US" sz="2100" b="1" dirty="0">
                <a:solidFill>
                  <a:srgbClr val="0F2747"/>
                </a:solidFill>
                <a:latin typeface="Noto Sans CJK JP" pitchFamily="34" charset="0"/>
                <a:ea typeface="Noto Sans CJK JP" pitchFamily="34" charset="-122"/>
                <a:cs typeface="Noto Sans CJK JP" pitchFamily="34" charset="-120"/>
              </a:rPr>
              <a:t>自家消費パワコンの根本差 ― HUAWEI 単相（サニックス様） vs オムロン単相200V→三相へ（シスコムネット）</a:t>
            </a:r>
            <a:endParaRPr lang="en-US" sz="2100" dirty="0"/>
          </a:p>
        </p:txBody>
      </p:sp>
      <p:sp>
        <p:nvSpPr>
          <p:cNvPr id="4" name="Shape 2"/>
          <p:cNvSpPr/>
          <p:nvPr/>
        </p:nvSpPr>
        <p:spPr>
          <a:xfrm>
            <a:off x="457200" y="1517904"/>
            <a:ext cx="11274552" cy="548640"/>
          </a:xfrm>
          <a:prstGeom prst="rect">
            <a:avLst/>
          </a:prstGeom>
          <a:solidFill>
            <a:srgbClr val="0F2747"/>
          </a:solidFill>
          <a:ln/>
        </p:spPr>
      </p:sp>
      <p:sp>
        <p:nvSpPr>
          <p:cNvPr id="5" name="Text 3"/>
          <p:cNvSpPr/>
          <p:nvPr/>
        </p:nvSpPr>
        <p:spPr>
          <a:xfrm>
            <a:off x="640080" y="1517904"/>
            <a:ext cx="10972800" cy="548640"/>
          </a:xfrm>
          <a:prstGeom prst="rect">
            <a:avLst/>
          </a:prstGeom>
          <a:noFill/>
          <a:ln/>
        </p:spPr>
        <p:txBody>
          <a:bodyPr wrap="square" lIns="0" tIns="0" rIns="0" bIns="0" rtlCol="0" anchor="ctr"/>
          <a:lstStyle/>
          <a:p>
            <a:pPr algn="l" indent="0" marL="0">
              <a:buNone/>
            </a:pPr>
            <a:r>
              <a:rPr lang="en-US" sz="1350" b="1" dirty="0">
                <a:solidFill>
                  <a:srgbClr val="FFFFFF"/>
                </a:solidFill>
                <a:latin typeface="Noto Sans CJK JP" pitchFamily="34" charset="0"/>
                <a:ea typeface="Noto Sans CJK JP" pitchFamily="34" charset="-122"/>
                <a:cs typeface="Noto Sans CJK JP" pitchFamily="34" charset="-120"/>
              </a:rPr>
              <a:t>蓄電池なしでも、</a:t>
            </a:r>
            <a:pPr algn="l" indent="0" marL="0">
              <a:buNone/>
            </a:pPr>
            <a:r>
              <a:rPr lang="en-US" sz="1350" b="1" dirty="0">
                <a:solidFill>
                  <a:srgbClr val="C7A867"/>
                </a:solidFill>
                <a:latin typeface="Noto Sans CJK JP" pitchFamily="34" charset="0"/>
                <a:ea typeface="Noto Sans CJK JP" pitchFamily="34" charset="-122"/>
                <a:cs typeface="Noto Sans CJK JP" pitchFamily="34" charset="-120"/>
              </a:rPr>
              <a:t>年間 44.5 万円・ 20 年で約 1,082 万円 </a:t>
            </a:r>
            <a:pPr algn="l" indent="0" marL="0">
              <a:buNone/>
            </a:pPr>
            <a:r>
              <a:rPr lang="en-US" sz="1350" b="1" dirty="0">
                <a:solidFill>
                  <a:srgbClr val="FFFFFF"/>
                </a:solidFill>
                <a:latin typeface="Noto Sans CJK JP" pitchFamily="34" charset="0"/>
                <a:ea typeface="Noto Sans CJK JP" pitchFamily="34" charset="-122"/>
                <a:cs typeface="Noto Sans CJK JP" pitchFamily="34" charset="-120"/>
              </a:rPr>
              <a:t>の自家消費差（三相 30% 仮定・歴然たる提案の差）</a:t>
            </a:r>
            <a:endParaRPr lang="en-US" sz="1350" dirty="0"/>
          </a:p>
        </p:txBody>
      </p:sp>
      <p:sp>
        <p:nvSpPr>
          <p:cNvPr id="6" name="Shape 4"/>
          <p:cNvSpPr/>
          <p:nvPr/>
        </p:nvSpPr>
        <p:spPr>
          <a:xfrm>
            <a:off x="457200" y="2240280"/>
            <a:ext cx="5486400" cy="457200"/>
          </a:xfrm>
          <a:prstGeom prst="rect">
            <a:avLst/>
          </a:prstGeom>
          <a:solidFill>
            <a:srgbClr val="C0392B"/>
          </a:solidFill>
          <a:ln/>
        </p:spPr>
      </p:sp>
      <p:sp>
        <p:nvSpPr>
          <p:cNvPr id="7" name="Text 5"/>
          <p:cNvSpPr/>
          <p:nvPr/>
        </p:nvSpPr>
        <p:spPr>
          <a:xfrm>
            <a:off x="640080" y="2240280"/>
            <a:ext cx="5212080" cy="457200"/>
          </a:xfrm>
          <a:prstGeom prst="rect">
            <a:avLst/>
          </a:prstGeom>
          <a:noFill/>
          <a:ln/>
        </p:spPr>
        <p:txBody>
          <a:bodyPr wrap="square" lIns="0" tIns="0" rIns="0" bIns="0" rtlCol="0" anchor="ctr"/>
          <a:lstStyle/>
          <a:p>
            <a:pPr algn="l" indent="0" marL="0">
              <a:buNone/>
            </a:pPr>
            <a:r>
              <a:rPr lang="en-US" sz="1350" b="1" dirty="0">
                <a:solidFill>
                  <a:srgbClr val="FFFFFF"/>
                </a:solidFill>
                <a:latin typeface="Noto Sans CJK JP" pitchFamily="34" charset="0"/>
                <a:ea typeface="Noto Sans CJK JP" pitchFamily="34" charset="-122"/>
                <a:cs typeface="Noto Sans CJK JP" pitchFamily="34" charset="-120"/>
              </a:rPr>
              <a:t>× B 案 : HUAWEI 単相パワコン</a:t>
            </a:r>
            <a:endParaRPr lang="en-US" sz="1350" dirty="0"/>
          </a:p>
        </p:txBody>
      </p:sp>
      <p:sp>
        <p:nvSpPr>
          <p:cNvPr id="8" name="Shape 6"/>
          <p:cNvSpPr/>
          <p:nvPr/>
        </p:nvSpPr>
        <p:spPr>
          <a:xfrm>
            <a:off x="457200" y="2697480"/>
            <a:ext cx="5486400" cy="2788920"/>
          </a:xfrm>
          <a:prstGeom prst="rect">
            <a:avLst/>
          </a:prstGeom>
          <a:solidFill>
            <a:srgbClr val="FFFFFF"/>
          </a:solidFill>
          <a:ln w="12700">
            <a:solidFill>
              <a:srgbClr val="E1E5EA"/>
            </a:solidFill>
            <a:prstDash val="solid"/>
          </a:ln>
        </p:spPr>
      </p:sp>
      <p:sp>
        <p:nvSpPr>
          <p:cNvPr id="9" name="Shape 7"/>
          <p:cNvSpPr/>
          <p:nvPr/>
        </p:nvSpPr>
        <p:spPr>
          <a:xfrm>
            <a:off x="777240" y="2880360"/>
            <a:ext cx="1554480" cy="502920"/>
          </a:xfrm>
          <a:prstGeom prst="rect">
            <a:avLst/>
          </a:prstGeom>
          <a:solidFill>
            <a:srgbClr val="B89A55"/>
          </a:solidFill>
          <a:ln/>
        </p:spPr>
      </p:sp>
      <p:sp>
        <p:nvSpPr>
          <p:cNvPr id="10" name="Text 8"/>
          <p:cNvSpPr/>
          <p:nvPr/>
        </p:nvSpPr>
        <p:spPr>
          <a:xfrm>
            <a:off x="804672" y="2880360"/>
            <a:ext cx="1499616" cy="50292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Noto Sans CJK JP" pitchFamily="34" charset="0"/>
                <a:ea typeface="Noto Sans CJK JP" pitchFamily="34" charset="-122"/>
                <a:cs typeface="Noto Sans CJK JP" pitchFamily="34" charset="-120"/>
              </a:rPr>
              <a:t>太陽光 63kW</a:t>
            </a:r>
            <a:endParaRPr lang="en-US" sz="1000" dirty="0"/>
          </a:p>
        </p:txBody>
      </p:sp>
      <p:sp>
        <p:nvSpPr>
          <p:cNvPr id="11" name="Text 9"/>
          <p:cNvSpPr/>
          <p:nvPr/>
        </p:nvSpPr>
        <p:spPr>
          <a:xfrm>
            <a:off x="777240" y="3383280"/>
            <a:ext cx="1554480" cy="274320"/>
          </a:xfrm>
          <a:prstGeom prst="rect">
            <a:avLst/>
          </a:prstGeom>
          <a:noFill/>
          <a:ln/>
        </p:spPr>
        <p:txBody>
          <a:bodyPr wrap="square" lIns="0" tIns="0" rIns="0" bIns="0" rtlCol="0" anchor="ctr"/>
          <a:lstStyle/>
          <a:p>
            <a:pPr algn="ctr" indent="0" marL="0">
              <a:buNone/>
            </a:pPr>
            <a:r>
              <a:rPr lang="en-US" sz="1300" dirty="0">
                <a:solidFill>
                  <a:srgbClr val="1A2B40"/>
                </a:solidFill>
                <a:latin typeface="Noto Sans CJK JP" pitchFamily="34" charset="0"/>
                <a:ea typeface="Noto Sans CJK JP" pitchFamily="34" charset="-122"/>
                <a:cs typeface="Noto Sans CJK JP" pitchFamily="34" charset="-120"/>
              </a:rPr>
              <a:t>↓</a:t>
            </a:r>
            <a:endParaRPr lang="en-US" sz="1300" dirty="0"/>
          </a:p>
        </p:txBody>
      </p:sp>
      <p:sp>
        <p:nvSpPr>
          <p:cNvPr id="12" name="Shape 10"/>
          <p:cNvSpPr/>
          <p:nvPr/>
        </p:nvSpPr>
        <p:spPr>
          <a:xfrm>
            <a:off x="777240" y="3657600"/>
            <a:ext cx="1554480" cy="502920"/>
          </a:xfrm>
          <a:prstGeom prst="rect">
            <a:avLst/>
          </a:prstGeom>
          <a:solidFill>
            <a:srgbClr val="4A90D9"/>
          </a:solidFill>
          <a:ln/>
        </p:spPr>
      </p:sp>
      <p:sp>
        <p:nvSpPr>
          <p:cNvPr id="13" name="Text 11"/>
          <p:cNvSpPr/>
          <p:nvPr/>
        </p:nvSpPr>
        <p:spPr>
          <a:xfrm>
            <a:off x="804672" y="3657600"/>
            <a:ext cx="1499616" cy="50292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Noto Sans CJK JP" pitchFamily="34" charset="0"/>
                <a:ea typeface="Noto Sans CJK JP" pitchFamily="34" charset="-122"/>
                <a:cs typeface="Noto Sans CJK JP" pitchFamily="34" charset="-120"/>
              </a:rPr>
              <a:t>HUAWEI 単相</a:t>
            </a:r>
            <a:endParaRPr lang="en-US" sz="1000" dirty="0"/>
          </a:p>
        </p:txBody>
      </p:sp>
      <p:sp>
        <p:nvSpPr>
          <p:cNvPr id="14" name="Text 12"/>
          <p:cNvSpPr/>
          <p:nvPr/>
        </p:nvSpPr>
        <p:spPr>
          <a:xfrm>
            <a:off x="777240" y="4160520"/>
            <a:ext cx="1554480" cy="274320"/>
          </a:xfrm>
          <a:prstGeom prst="rect">
            <a:avLst/>
          </a:prstGeom>
          <a:noFill/>
          <a:ln/>
        </p:spPr>
        <p:txBody>
          <a:bodyPr wrap="square" lIns="0" tIns="0" rIns="0" bIns="0" rtlCol="0" anchor="ctr"/>
          <a:lstStyle/>
          <a:p>
            <a:pPr algn="ctr" indent="0" marL="0">
              <a:buNone/>
            </a:pPr>
            <a:r>
              <a:rPr lang="en-US" sz="1300" dirty="0">
                <a:solidFill>
                  <a:srgbClr val="1A2B40"/>
                </a:solidFill>
                <a:latin typeface="Noto Sans CJK JP" pitchFamily="34" charset="0"/>
                <a:ea typeface="Noto Sans CJK JP" pitchFamily="34" charset="-122"/>
                <a:cs typeface="Noto Sans CJK JP" pitchFamily="34" charset="-120"/>
              </a:rPr>
              <a:t>↓</a:t>
            </a:r>
            <a:endParaRPr lang="en-US" sz="1300" dirty="0"/>
          </a:p>
        </p:txBody>
      </p:sp>
      <p:sp>
        <p:nvSpPr>
          <p:cNvPr id="15" name="Shape 13"/>
          <p:cNvSpPr/>
          <p:nvPr/>
        </p:nvSpPr>
        <p:spPr>
          <a:xfrm>
            <a:off x="777240" y="4434840"/>
            <a:ext cx="1554480" cy="502920"/>
          </a:xfrm>
          <a:prstGeom prst="rect">
            <a:avLst/>
          </a:prstGeom>
          <a:solidFill>
            <a:srgbClr val="FFFFFF"/>
          </a:solidFill>
          <a:ln w="16510">
            <a:solidFill>
              <a:srgbClr val="4A90D9"/>
            </a:solidFill>
            <a:prstDash val="solid"/>
          </a:ln>
        </p:spPr>
      </p:sp>
      <p:sp>
        <p:nvSpPr>
          <p:cNvPr id="16" name="Text 14"/>
          <p:cNvSpPr/>
          <p:nvPr/>
        </p:nvSpPr>
        <p:spPr>
          <a:xfrm>
            <a:off x="804672" y="4434840"/>
            <a:ext cx="1499616" cy="502920"/>
          </a:xfrm>
          <a:prstGeom prst="rect">
            <a:avLst/>
          </a:prstGeom>
          <a:noFill/>
          <a:ln/>
        </p:spPr>
        <p:txBody>
          <a:bodyPr wrap="square" lIns="0" tIns="0" rIns="0" bIns="0" rtlCol="0" anchor="ctr"/>
          <a:lstStyle/>
          <a:p>
            <a:pPr algn="ctr" indent="0" marL="0">
              <a:lnSpc>
                <a:spcPct val="100000"/>
              </a:lnSpc>
              <a:buNone/>
            </a:pPr>
            <a:r>
              <a:rPr lang="en-US" sz="950" b="1" dirty="0">
                <a:solidFill>
                  <a:srgbClr val="4A90D9"/>
                </a:solidFill>
                <a:latin typeface="Noto Sans CJK JP" pitchFamily="34" charset="0"/>
                <a:ea typeface="Noto Sans CJK JP" pitchFamily="34" charset="-122"/>
                <a:cs typeface="Noto Sans CJK JP" pitchFamily="34" charset="-120"/>
              </a:rPr>
              <a:t>単相負荷</a:t>
            </a:r>
            <a:endParaRPr lang="en-US" sz="950" dirty="0"/>
          </a:p>
          <a:p>
            <a:pPr algn="ctr" indent="0" marL="0">
              <a:lnSpc>
                <a:spcPct val="100000"/>
              </a:lnSpc>
              <a:buNone/>
            </a:pPr>
            <a:r>
              <a:rPr lang="en-US" sz="950" b="1" dirty="0">
                <a:solidFill>
                  <a:srgbClr val="4A90D9"/>
                </a:solidFill>
                <a:latin typeface="Noto Sans CJK JP" pitchFamily="34" charset="0"/>
                <a:ea typeface="Noto Sans CJK JP" pitchFamily="34" charset="-122"/>
                <a:cs typeface="Noto Sans CJK JP" pitchFamily="34" charset="-120"/>
              </a:rPr>
              <a:t>(30%)</a:t>
            </a:r>
            <a:endParaRPr lang="en-US" sz="950" dirty="0"/>
          </a:p>
        </p:txBody>
      </p:sp>
      <p:sp>
        <p:nvSpPr>
          <p:cNvPr id="17" name="Shape 15"/>
          <p:cNvSpPr/>
          <p:nvPr/>
        </p:nvSpPr>
        <p:spPr>
          <a:xfrm>
            <a:off x="2606040" y="3611880"/>
            <a:ext cx="1508760" cy="713232"/>
          </a:xfrm>
          <a:prstGeom prst="rect">
            <a:avLst/>
          </a:prstGeom>
          <a:solidFill>
            <a:srgbClr val="FFFFFF"/>
          </a:solidFill>
          <a:ln w="15240">
            <a:solidFill>
              <a:srgbClr val="C0392B"/>
            </a:solidFill>
            <a:prstDash val="dash"/>
          </a:ln>
        </p:spPr>
      </p:sp>
      <p:sp>
        <p:nvSpPr>
          <p:cNvPr id="18" name="Text 16"/>
          <p:cNvSpPr/>
          <p:nvPr/>
        </p:nvSpPr>
        <p:spPr>
          <a:xfrm>
            <a:off x="2606040" y="3611880"/>
            <a:ext cx="1508760" cy="713232"/>
          </a:xfrm>
          <a:prstGeom prst="rect">
            <a:avLst/>
          </a:prstGeom>
          <a:noFill/>
          <a:ln/>
        </p:spPr>
        <p:txBody>
          <a:bodyPr wrap="square" lIns="0" tIns="0" rIns="0" bIns="0" rtlCol="0" anchor="ctr"/>
          <a:lstStyle/>
          <a:p>
            <a:pPr algn="ctr" indent="0" marL="0">
              <a:buNone/>
            </a:pPr>
            <a:r>
              <a:rPr lang="en-US" sz="950" b="1" dirty="0">
                <a:solidFill>
                  <a:srgbClr val="C0392B"/>
                </a:solidFill>
                <a:latin typeface="Noto Sans CJK JP" pitchFamily="34" charset="0"/>
                <a:ea typeface="Noto Sans CJK JP" pitchFamily="34" charset="-122"/>
                <a:cs typeface="Noto Sans CJK JP" pitchFamily="34" charset="-120"/>
              </a:rPr>
              <a:t>三相負荷</a:t>
            </a:r>
            <a:endParaRPr lang="en-US" sz="950" dirty="0"/>
          </a:p>
          <a:p>
            <a:pPr algn="ctr" indent="0" marL="0">
              <a:buNone/>
            </a:pPr>
            <a:r>
              <a:rPr lang="en-US" sz="950" b="1" dirty="0">
                <a:solidFill>
                  <a:srgbClr val="C0392B"/>
                </a:solidFill>
                <a:latin typeface="Noto Sans CJK JP" pitchFamily="34" charset="0"/>
                <a:ea typeface="Noto Sans CJK JP" pitchFamily="34" charset="-122"/>
                <a:cs typeface="Noto Sans CJK JP" pitchFamily="34" charset="-120"/>
              </a:rPr>
              <a:t>(70%)</a:t>
            </a:r>
            <a:endParaRPr lang="en-US" sz="950" dirty="0"/>
          </a:p>
        </p:txBody>
      </p:sp>
      <p:sp>
        <p:nvSpPr>
          <p:cNvPr id="19" name="Text 17"/>
          <p:cNvSpPr/>
          <p:nvPr/>
        </p:nvSpPr>
        <p:spPr>
          <a:xfrm>
            <a:off x="2606040" y="4343400"/>
            <a:ext cx="1508760" cy="228600"/>
          </a:xfrm>
          <a:prstGeom prst="rect">
            <a:avLst/>
          </a:prstGeom>
          <a:noFill/>
          <a:ln/>
        </p:spPr>
        <p:txBody>
          <a:bodyPr wrap="square" lIns="0" tIns="0" rIns="0" bIns="0" rtlCol="0" anchor="ctr"/>
          <a:lstStyle/>
          <a:p>
            <a:pPr algn="ctr" indent="0" marL="0">
              <a:buNone/>
            </a:pPr>
            <a:r>
              <a:rPr lang="en-US" sz="900" dirty="0">
                <a:solidFill>
                  <a:srgbClr val="C0392B"/>
                </a:solidFill>
                <a:latin typeface="Noto Sans CJK JP" pitchFamily="34" charset="0"/>
                <a:ea typeface="Noto Sans CJK JP" pitchFamily="34" charset="-122"/>
                <a:cs typeface="Noto Sans CJK JP" pitchFamily="34" charset="-120"/>
              </a:rPr>
              <a:t>× 届かない</a:t>
            </a:r>
            <a:endParaRPr lang="en-US" sz="900" dirty="0"/>
          </a:p>
        </p:txBody>
      </p:sp>
      <p:sp>
        <p:nvSpPr>
          <p:cNvPr id="20" name="Shape 18"/>
          <p:cNvSpPr/>
          <p:nvPr/>
        </p:nvSpPr>
        <p:spPr>
          <a:xfrm>
            <a:off x="4206240" y="3611880"/>
            <a:ext cx="1463040" cy="713232"/>
          </a:xfrm>
          <a:prstGeom prst="rect">
            <a:avLst/>
          </a:prstGeom>
          <a:solidFill>
            <a:srgbClr val="FFFFFF"/>
          </a:solidFill>
          <a:ln w="15240">
            <a:solidFill>
              <a:srgbClr val="E58027"/>
            </a:solidFill>
            <a:prstDash val="dash"/>
          </a:ln>
        </p:spPr>
      </p:sp>
      <p:sp>
        <p:nvSpPr>
          <p:cNvPr id="21" name="Text 19"/>
          <p:cNvSpPr/>
          <p:nvPr/>
        </p:nvSpPr>
        <p:spPr>
          <a:xfrm>
            <a:off x="4206240" y="3611880"/>
            <a:ext cx="1463040" cy="713232"/>
          </a:xfrm>
          <a:prstGeom prst="rect">
            <a:avLst/>
          </a:prstGeom>
          <a:noFill/>
          <a:ln/>
        </p:spPr>
        <p:txBody>
          <a:bodyPr wrap="square" lIns="0" tIns="0" rIns="0" bIns="0" rtlCol="0" anchor="ctr"/>
          <a:lstStyle/>
          <a:p>
            <a:pPr algn="ctr" indent="0" marL="0">
              <a:buNone/>
            </a:pPr>
            <a:r>
              <a:rPr lang="en-US" sz="900" b="1" dirty="0">
                <a:solidFill>
                  <a:srgbClr val="E58027"/>
                </a:solidFill>
                <a:latin typeface="Noto Sans CJK JP" pitchFamily="34" charset="0"/>
                <a:ea typeface="Noto Sans CJK JP" pitchFamily="34" charset="-122"/>
                <a:cs typeface="Noto Sans CJK JP" pitchFamily="34" charset="-120"/>
              </a:rPr>
              <a:t>余剰電力</a:t>
            </a:r>
            <a:endParaRPr lang="en-US" sz="900" dirty="0"/>
          </a:p>
          <a:p>
            <a:pPr algn="ctr" indent="0" marL="0">
              <a:buNone/>
            </a:pPr>
            <a:r>
              <a:rPr lang="en-US" sz="900" b="1" dirty="0">
                <a:solidFill>
                  <a:srgbClr val="E58027"/>
                </a:solidFill>
                <a:latin typeface="Noto Sans CJK JP" pitchFamily="34" charset="0"/>
                <a:ea typeface="Noto Sans CJK JP" pitchFamily="34" charset="-122"/>
                <a:cs typeface="Noto Sans CJK JP" pitchFamily="34" charset="-120"/>
              </a:rPr>
              <a:t>逆潮流 / 捨てる</a:t>
            </a:r>
            <a:endParaRPr lang="en-US" sz="900" dirty="0"/>
          </a:p>
        </p:txBody>
      </p:sp>
      <p:sp>
        <p:nvSpPr>
          <p:cNvPr id="22" name="Text 20"/>
          <p:cNvSpPr/>
          <p:nvPr/>
        </p:nvSpPr>
        <p:spPr>
          <a:xfrm>
            <a:off x="4206240" y="4343400"/>
            <a:ext cx="1463040" cy="228600"/>
          </a:xfrm>
          <a:prstGeom prst="rect">
            <a:avLst/>
          </a:prstGeom>
          <a:noFill/>
          <a:ln/>
        </p:spPr>
        <p:txBody>
          <a:bodyPr wrap="square" lIns="0" tIns="0" rIns="0" bIns="0" rtlCol="0" anchor="ctr"/>
          <a:lstStyle/>
          <a:p>
            <a:pPr algn="ctr" indent="0" marL="0">
              <a:buNone/>
            </a:pPr>
            <a:r>
              <a:rPr lang="en-US" sz="900" dirty="0">
                <a:solidFill>
                  <a:srgbClr val="E58027"/>
                </a:solidFill>
                <a:latin typeface="Noto Sans CJK JP" pitchFamily="34" charset="0"/>
                <a:ea typeface="Noto Sans CJK JP" pitchFamily="34" charset="-122"/>
                <a:cs typeface="Noto Sans CJK JP" pitchFamily="34" charset="-120"/>
              </a:rPr>
              <a:t>× 蓄電池なし</a:t>
            </a:r>
            <a:endParaRPr lang="en-US" sz="900" dirty="0"/>
          </a:p>
        </p:txBody>
      </p:sp>
      <p:sp>
        <p:nvSpPr>
          <p:cNvPr id="23" name="Shape 21"/>
          <p:cNvSpPr/>
          <p:nvPr/>
        </p:nvSpPr>
        <p:spPr>
          <a:xfrm>
            <a:off x="457200" y="5486400"/>
            <a:ext cx="5486400" cy="658368"/>
          </a:xfrm>
          <a:prstGeom prst="rect">
            <a:avLst/>
          </a:prstGeom>
          <a:solidFill>
            <a:srgbClr val="C0392B"/>
          </a:solidFill>
          <a:ln/>
        </p:spPr>
      </p:sp>
      <p:sp>
        <p:nvSpPr>
          <p:cNvPr id="24" name="Text 22"/>
          <p:cNvSpPr/>
          <p:nvPr/>
        </p:nvSpPr>
        <p:spPr>
          <a:xfrm>
            <a:off x="457200" y="5532120"/>
            <a:ext cx="5486400"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Noto Sans CJK JP" pitchFamily="34" charset="0"/>
                <a:ea typeface="Noto Sans CJK JP" pitchFamily="34" charset="-122"/>
                <a:cs typeface="Noto Sans CJK JP" pitchFamily="34" charset="-120"/>
              </a:rPr>
              <a:t>自家消費 38,714 kWh/ 年（PVの51%）</a:t>
            </a:r>
            <a:endParaRPr lang="en-US" sz="1350" dirty="0"/>
          </a:p>
        </p:txBody>
      </p:sp>
      <p:sp>
        <p:nvSpPr>
          <p:cNvPr id="25" name="Text 23"/>
          <p:cNvSpPr/>
          <p:nvPr/>
        </p:nvSpPr>
        <p:spPr>
          <a:xfrm>
            <a:off x="457200" y="5870448"/>
            <a:ext cx="5486400" cy="256032"/>
          </a:xfrm>
          <a:prstGeom prst="rect">
            <a:avLst/>
          </a:prstGeom>
          <a:noFill/>
          <a:ln/>
        </p:spPr>
        <p:txBody>
          <a:bodyPr wrap="square" lIns="0" tIns="0" rIns="0" bIns="0" rtlCol="0" anchor="ctr"/>
          <a:lstStyle/>
          <a:p>
            <a:pPr algn="ctr" indent="0" marL="0">
              <a:buNone/>
            </a:pPr>
            <a:r>
              <a:rPr lang="en-US" sz="950" dirty="0">
                <a:solidFill>
                  <a:srgbClr val="FBE0DC"/>
                </a:solidFill>
                <a:latin typeface="Noto Sans CJK JP" pitchFamily="34" charset="0"/>
                <a:ea typeface="Noto Sans CJK JP" pitchFamily="34" charset="-122"/>
                <a:cs typeface="Noto Sans CJK JP" pitchFamily="34" charset="-120"/>
              </a:rPr>
              <a:t>三相負荷に流せず、PVの49%＝37,286kWh/年を捨てる</a:t>
            </a:r>
            <a:endParaRPr lang="en-US" sz="950" dirty="0"/>
          </a:p>
        </p:txBody>
      </p:sp>
      <p:sp>
        <p:nvSpPr>
          <p:cNvPr id="26" name="Shape 24"/>
          <p:cNvSpPr/>
          <p:nvPr/>
        </p:nvSpPr>
        <p:spPr>
          <a:xfrm>
            <a:off x="6245352" y="2240280"/>
            <a:ext cx="5486400" cy="457200"/>
          </a:xfrm>
          <a:prstGeom prst="rect">
            <a:avLst/>
          </a:prstGeom>
          <a:solidFill>
            <a:srgbClr val="1FA383"/>
          </a:solidFill>
          <a:ln/>
        </p:spPr>
      </p:sp>
      <p:sp>
        <p:nvSpPr>
          <p:cNvPr id="27" name="Text 25"/>
          <p:cNvSpPr/>
          <p:nvPr/>
        </p:nvSpPr>
        <p:spPr>
          <a:xfrm>
            <a:off x="6428232" y="2240280"/>
            <a:ext cx="5212080" cy="457200"/>
          </a:xfrm>
          <a:prstGeom prst="rect">
            <a:avLst/>
          </a:prstGeom>
          <a:noFill/>
          <a:ln/>
        </p:spPr>
        <p:txBody>
          <a:bodyPr wrap="square" lIns="0" tIns="0" rIns="0" bIns="0" rtlCol="0" anchor="ctr"/>
          <a:lstStyle/>
          <a:p>
            <a:pPr algn="l" indent="0" marL="0">
              <a:buNone/>
            </a:pPr>
            <a:r>
              <a:rPr lang="en-US" sz="1250" b="1" dirty="0">
                <a:solidFill>
                  <a:srgbClr val="FFFFFF"/>
                </a:solidFill>
                <a:latin typeface="Noto Sans CJK JP" pitchFamily="34" charset="0"/>
                <a:ea typeface="Noto Sans CJK JP" pitchFamily="34" charset="-122"/>
                <a:cs typeface="Noto Sans CJK JP" pitchFamily="34" charset="-120"/>
              </a:rPr>
              <a:t>◎ C 案 : オムロン 単相200V→三相へ ( トランス昇圧 )</a:t>
            </a:r>
            <a:endParaRPr lang="en-US" sz="1250" dirty="0"/>
          </a:p>
        </p:txBody>
      </p:sp>
      <p:sp>
        <p:nvSpPr>
          <p:cNvPr id="28" name="Shape 26"/>
          <p:cNvSpPr/>
          <p:nvPr/>
        </p:nvSpPr>
        <p:spPr>
          <a:xfrm>
            <a:off x="6245352" y="2697480"/>
            <a:ext cx="5486400" cy="2788920"/>
          </a:xfrm>
          <a:prstGeom prst="rect">
            <a:avLst/>
          </a:prstGeom>
          <a:solidFill>
            <a:srgbClr val="FFFFFF"/>
          </a:solidFill>
          <a:ln w="12700">
            <a:solidFill>
              <a:srgbClr val="E1E5EA"/>
            </a:solidFill>
            <a:prstDash val="solid"/>
          </a:ln>
        </p:spPr>
      </p:sp>
      <p:sp>
        <p:nvSpPr>
          <p:cNvPr id="29" name="Shape 27"/>
          <p:cNvSpPr/>
          <p:nvPr/>
        </p:nvSpPr>
        <p:spPr>
          <a:xfrm>
            <a:off x="6519672" y="2862072"/>
            <a:ext cx="1417320" cy="457200"/>
          </a:xfrm>
          <a:prstGeom prst="rect">
            <a:avLst/>
          </a:prstGeom>
          <a:solidFill>
            <a:srgbClr val="B89A55"/>
          </a:solidFill>
          <a:ln/>
        </p:spPr>
      </p:sp>
      <p:sp>
        <p:nvSpPr>
          <p:cNvPr id="30" name="Text 28"/>
          <p:cNvSpPr/>
          <p:nvPr/>
        </p:nvSpPr>
        <p:spPr>
          <a:xfrm>
            <a:off x="6547104" y="2862072"/>
            <a:ext cx="1362456" cy="45720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Noto Sans CJK JP" pitchFamily="34" charset="0"/>
                <a:ea typeface="Noto Sans CJK JP" pitchFamily="34" charset="-122"/>
                <a:cs typeface="Noto Sans CJK JP" pitchFamily="34" charset="-120"/>
              </a:rPr>
              <a:t>太陽光 63kW</a:t>
            </a:r>
            <a:endParaRPr lang="en-US" sz="1000" dirty="0"/>
          </a:p>
        </p:txBody>
      </p:sp>
      <p:sp>
        <p:nvSpPr>
          <p:cNvPr id="31" name="Text 29"/>
          <p:cNvSpPr/>
          <p:nvPr/>
        </p:nvSpPr>
        <p:spPr>
          <a:xfrm>
            <a:off x="6519672" y="3319272"/>
            <a:ext cx="1417320" cy="219456"/>
          </a:xfrm>
          <a:prstGeom prst="rect">
            <a:avLst/>
          </a:prstGeom>
          <a:noFill/>
          <a:ln/>
        </p:spPr>
        <p:txBody>
          <a:bodyPr wrap="square" lIns="0" tIns="0" rIns="0" bIns="0" rtlCol="0" anchor="ctr"/>
          <a:lstStyle/>
          <a:p>
            <a:pPr algn="ctr" indent="0" marL="0">
              <a:buNone/>
            </a:pPr>
            <a:r>
              <a:rPr lang="en-US" sz="850" dirty="0">
                <a:solidFill>
                  <a:srgbClr val="1A2B40"/>
                </a:solidFill>
                <a:latin typeface="Noto Sans CJK JP" pitchFamily="34" charset="0"/>
                <a:ea typeface="Noto Sans CJK JP" pitchFamily="34" charset="-122"/>
                <a:cs typeface="Noto Sans CJK JP" pitchFamily="34" charset="-120"/>
              </a:rPr>
              <a:t>↓ 単相</a:t>
            </a:r>
            <a:endParaRPr lang="en-US" sz="850" dirty="0"/>
          </a:p>
        </p:txBody>
      </p:sp>
      <p:sp>
        <p:nvSpPr>
          <p:cNvPr id="32" name="Shape 30"/>
          <p:cNvSpPr/>
          <p:nvPr/>
        </p:nvSpPr>
        <p:spPr>
          <a:xfrm>
            <a:off x="6519672" y="3538728"/>
            <a:ext cx="1417320" cy="457200"/>
          </a:xfrm>
          <a:prstGeom prst="rect">
            <a:avLst/>
          </a:prstGeom>
          <a:solidFill>
            <a:srgbClr val="1FA383"/>
          </a:solidFill>
          <a:ln/>
        </p:spPr>
      </p:sp>
      <p:sp>
        <p:nvSpPr>
          <p:cNvPr id="33" name="Text 31"/>
          <p:cNvSpPr/>
          <p:nvPr/>
        </p:nvSpPr>
        <p:spPr>
          <a:xfrm>
            <a:off x="6547104" y="3538728"/>
            <a:ext cx="1362456" cy="457200"/>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Noto Sans CJK JP" pitchFamily="34" charset="0"/>
                <a:ea typeface="Noto Sans CJK JP" pitchFamily="34" charset="-122"/>
                <a:cs typeface="Noto Sans CJK JP" pitchFamily="34" charset="-120"/>
              </a:rPr>
              <a:t>オムロン PCS</a:t>
            </a:r>
            <a:endParaRPr lang="en-US" sz="850" dirty="0"/>
          </a:p>
          <a:p>
            <a:pPr algn="ctr" indent="0" marL="0">
              <a:lnSpc>
                <a:spcPct val="100000"/>
              </a:lnSpc>
              <a:buNone/>
            </a:pPr>
            <a:r>
              <a:rPr lang="en-US" sz="850" b="1" dirty="0">
                <a:solidFill>
                  <a:srgbClr val="FFFFFF"/>
                </a:solidFill>
                <a:latin typeface="Noto Sans CJK JP" pitchFamily="34" charset="0"/>
                <a:ea typeface="Noto Sans CJK JP" pitchFamily="34" charset="-122"/>
                <a:cs typeface="Noto Sans CJK JP" pitchFamily="34" charset="-120"/>
              </a:rPr>
              <a:t>( 単相出力 )</a:t>
            </a:r>
            <a:endParaRPr lang="en-US" sz="850" dirty="0"/>
          </a:p>
        </p:txBody>
      </p:sp>
      <p:sp>
        <p:nvSpPr>
          <p:cNvPr id="34" name="Text 32"/>
          <p:cNvSpPr/>
          <p:nvPr/>
        </p:nvSpPr>
        <p:spPr>
          <a:xfrm>
            <a:off x="6519672" y="3995928"/>
            <a:ext cx="1417320" cy="219456"/>
          </a:xfrm>
          <a:prstGeom prst="rect">
            <a:avLst/>
          </a:prstGeom>
          <a:noFill/>
          <a:ln/>
        </p:spPr>
        <p:txBody>
          <a:bodyPr wrap="square" lIns="0" tIns="0" rIns="0" bIns="0" rtlCol="0" anchor="ctr"/>
          <a:lstStyle/>
          <a:p>
            <a:pPr algn="ctr" indent="0" marL="0">
              <a:buNone/>
            </a:pPr>
            <a:r>
              <a:rPr lang="en-US" sz="850" dirty="0">
                <a:solidFill>
                  <a:srgbClr val="1A2B40"/>
                </a:solidFill>
                <a:latin typeface="Noto Sans CJK JP" pitchFamily="34" charset="0"/>
                <a:ea typeface="Noto Sans CJK JP" pitchFamily="34" charset="-122"/>
                <a:cs typeface="Noto Sans CJK JP" pitchFamily="34" charset="-120"/>
              </a:rPr>
              <a:t>↓ 単相</a:t>
            </a:r>
            <a:endParaRPr lang="en-US" sz="850" dirty="0"/>
          </a:p>
        </p:txBody>
      </p:sp>
      <p:sp>
        <p:nvSpPr>
          <p:cNvPr id="35" name="Shape 33"/>
          <p:cNvSpPr/>
          <p:nvPr/>
        </p:nvSpPr>
        <p:spPr>
          <a:xfrm>
            <a:off x="6519672" y="4215384"/>
            <a:ext cx="1417320" cy="457200"/>
          </a:xfrm>
          <a:prstGeom prst="rect">
            <a:avLst/>
          </a:prstGeom>
          <a:solidFill>
            <a:srgbClr val="0F2747"/>
          </a:solidFill>
          <a:ln/>
        </p:spPr>
      </p:sp>
      <p:sp>
        <p:nvSpPr>
          <p:cNvPr id="36" name="Text 34"/>
          <p:cNvSpPr/>
          <p:nvPr/>
        </p:nvSpPr>
        <p:spPr>
          <a:xfrm>
            <a:off x="6547104" y="4215384"/>
            <a:ext cx="1362456" cy="457200"/>
          </a:xfrm>
          <a:prstGeom prst="rect">
            <a:avLst/>
          </a:prstGeom>
          <a:noFill/>
          <a:ln/>
        </p:spPr>
        <p:txBody>
          <a:bodyPr wrap="square" lIns="0" tIns="0" rIns="0" bIns="0" rtlCol="0" anchor="ctr"/>
          <a:lstStyle/>
          <a:p>
            <a:pPr algn="ctr" indent="0" marL="0">
              <a:lnSpc>
                <a:spcPct val="100000"/>
              </a:lnSpc>
              <a:buNone/>
            </a:pPr>
            <a:r>
              <a:rPr lang="en-US" sz="800" b="1" dirty="0">
                <a:solidFill>
                  <a:srgbClr val="FFFFFF"/>
                </a:solidFill>
                <a:latin typeface="Noto Sans CJK JP" pitchFamily="34" charset="0"/>
                <a:ea typeface="Noto Sans CJK JP" pitchFamily="34" charset="-122"/>
                <a:cs typeface="Noto Sans CJK JP" pitchFamily="34" charset="-120"/>
              </a:rPr>
              <a:t>トランス</a:t>
            </a:r>
            <a:endParaRPr lang="en-US" sz="800" dirty="0"/>
          </a:p>
          <a:p>
            <a:pPr algn="ctr" indent="0" marL="0">
              <a:lnSpc>
                <a:spcPct val="100000"/>
              </a:lnSpc>
              <a:buNone/>
            </a:pPr>
            <a:r>
              <a:rPr lang="en-US" sz="800" b="1" dirty="0">
                <a:solidFill>
                  <a:srgbClr val="FFFFFF"/>
                </a:solidFill>
                <a:latin typeface="Noto Sans CJK JP" pitchFamily="34" charset="0"/>
                <a:ea typeface="Noto Sans CJK JP" pitchFamily="34" charset="-122"/>
                <a:cs typeface="Noto Sans CJK JP" pitchFamily="34" charset="-120"/>
              </a:rPr>
              <a:t>単相→三相昇圧</a:t>
            </a:r>
            <a:endParaRPr lang="en-US" sz="800" dirty="0"/>
          </a:p>
        </p:txBody>
      </p:sp>
      <p:sp>
        <p:nvSpPr>
          <p:cNvPr id="37" name="Text 35"/>
          <p:cNvSpPr/>
          <p:nvPr/>
        </p:nvSpPr>
        <p:spPr>
          <a:xfrm>
            <a:off x="6519672" y="4672584"/>
            <a:ext cx="1417320" cy="201168"/>
          </a:xfrm>
          <a:prstGeom prst="rect">
            <a:avLst/>
          </a:prstGeom>
          <a:noFill/>
          <a:ln/>
        </p:spPr>
        <p:txBody>
          <a:bodyPr wrap="square" lIns="0" tIns="0" rIns="0" bIns="0" rtlCol="0" anchor="ctr"/>
          <a:lstStyle/>
          <a:p>
            <a:pPr algn="ctr" indent="0" marL="0">
              <a:buNone/>
            </a:pPr>
            <a:r>
              <a:rPr lang="en-US" sz="850" dirty="0">
                <a:solidFill>
                  <a:srgbClr val="1A2B40"/>
                </a:solidFill>
                <a:latin typeface="Noto Sans CJK JP" pitchFamily="34" charset="0"/>
                <a:ea typeface="Noto Sans CJK JP" pitchFamily="34" charset="-122"/>
                <a:cs typeface="Noto Sans CJK JP" pitchFamily="34" charset="-120"/>
              </a:rPr>
              <a:t>↓ 三相</a:t>
            </a:r>
            <a:endParaRPr lang="en-US" sz="850" dirty="0"/>
          </a:p>
        </p:txBody>
      </p:sp>
      <p:sp>
        <p:nvSpPr>
          <p:cNvPr id="38" name="Shape 36"/>
          <p:cNvSpPr/>
          <p:nvPr/>
        </p:nvSpPr>
        <p:spPr>
          <a:xfrm>
            <a:off x="6519672" y="4855464"/>
            <a:ext cx="1417320" cy="420624"/>
          </a:xfrm>
          <a:prstGeom prst="rect">
            <a:avLst/>
          </a:prstGeom>
          <a:solidFill>
            <a:srgbClr val="1A2B40"/>
          </a:solidFill>
          <a:ln/>
        </p:spPr>
      </p:sp>
      <p:sp>
        <p:nvSpPr>
          <p:cNvPr id="39" name="Text 37"/>
          <p:cNvSpPr/>
          <p:nvPr/>
        </p:nvSpPr>
        <p:spPr>
          <a:xfrm>
            <a:off x="6547104" y="4855464"/>
            <a:ext cx="1362456" cy="420624"/>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Noto Sans CJK JP" pitchFamily="34" charset="0"/>
                <a:ea typeface="Noto Sans CJK JP" pitchFamily="34" charset="-122"/>
                <a:cs typeface="Noto Sans CJK JP" pitchFamily="34" charset="-120"/>
              </a:rPr>
              <a:t>配電盤</a:t>
            </a:r>
            <a:endParaRPr lang="en-US" sz="950" dirty="0"/>
          </a:p>
        </p:txBody>
      </p:sp>
      <p:sp>
        <p:nvSpPr>
          <p:cNvPr id="40" name="Text 38"/>
          <p:cNvSpPr/>
          <p:nvPr/>
        </p:nvSpPr>
        <p:spPr>
          <a:xfrm>
            <a:off x="7982712" y="4215384"/>
            <a:ext cx="548640" cy="457200"/>
          </a:xfrm>
          <a:prstGeom prst="rect">
            <a:avLst/>
          </a:prstGeom>
          <a:noFill/>
          <a:ln/>
        </p:spPr>
        <p:txBody>
          <a:bodyPr wrap="square" lIns="0" tIns="0" rIns="0" bIns="0" rtlCol="0" anchor="ctr"/>
          <a:lstStyle/>
          <a:p>
            <a:pPr algn="ctr" indent="0" marL="0">
              <a:buNone/>
            </a:pPr>
            <a:r>
              <a:rPr lang="en-US" sz="800" dirty="0">
                <a:solidFill>
                  <a:srgbClr val="1A2B40"/>
                </a:solidFill>
                <a:latin typeface="Noto Sans CJK JP" pitchFamily="34" charset="0"/>
                <a:ea typeface="Noto Sans CJK JP" pitchFamily="34" charset="-122"/>
                <a:cs typeface="Noto Sans CJK JP" pitchFamily="34" charset="-120"/>
              </a:rPr>
              <a:t>→ 三相</a:t>
            </a:r>
            <a:endParaRPr lang="en-US" sz="800" dirty="0"/>
          </a:p>
        </p:txBody>
      </p:sp>
      <p:sp>
        <p:nvSpPr>
          <p:cNvPr id="41" name="Shape 39"/>
          <p:cNvSpPr/>
          <p:nvPr/>
        </p:nvSpPr>
        <p:spPr>
          <a:xfrm>
            <a:off x="8531352" y="4215384"/>
            <a:ext cx="1371600" cy="457200"/>
          </a:xfrm>
          <a:prstGeom prst="rect">
            <a:avLst/>
          </a:prstGeom>
          <a:solidFill>
            <a:srgbClr val="1FA383"/>
          </a:solidFill>
          <a:ln/>
        </p:spPr>
      </p:sp>
      <p:sp>
        <p:nvSpPr>
          <p:cNvPr id="42" name="Text 40"/>
          <p:cNvSpPr/>
          <p:nvPr/>
        </p:nvSpPr>
        <p:spPr>
          <a:xfrm>
            <a:off x="8558784" y="4215384"/>
            <a:ext cx="1316736" cy="457200"/>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Noto Sans CJK JP" pitchFamily="34" charset="0"/>
                <a:ea typeface="Noto Sans CJK JP" pitchFamily="34" charset="-122"/>
                <a:cs typeface="Noto Sans CJK JP" pitchFamily="34" charset="-120"/>
              </a:rPr>
              <a:t>三相負荷 OK</a:t>
            </a:r>
            <a:endParaRPr lang="en-US" sz="850" dirty="0"/>
          </a:p>
          <a:p>
            <a:pPr algn="ctr" indent="0" marL="0">
              <a:lnSpc>
                <a:spcPct val="100000"/>
              </a:lnSpc>
              <a:buNone/>
            </a:pPr>
            <a:r>
              <a:rPr lang="en-US" sz="850" b="1" dirty="0">
                <a:solidFill>
                  <a:srgbClr val="FFFFFF"/>
                </a:solidFill>
                <a:latin typeface="Noto Sans CJK JP" pitchFamily="34" charset="0"/>
                <a:ea typeface="Noto Sans CJK JP" pitchFamily="34" charset="-122"/>
                <a:cs typeface="Noto Sans CJK JP" pitchFamily="34" charset="-120"/>
              </a:rPr>
              <a:t>(70%)</a:t>
            </a:r>
            <a:endParaRPr lang="en-US" sz="850" dirty="0"/>
          </a:p>
        </p:txBody>
      </p:sp>
      <p:sp>
        <p:nvSpPr>
          <p:cNvPr id="43" name="Text 41"/>
          <p:cNvSpPr/>
          <p:nvPr/>
        </p:nvSpPr>
        <p:spPr>
          <a:xfrm>
            <a:off x="7982712" y="4855464"/>
            <a:ext cx="548640" cy="420624"/>
          </a:xfrm>
          <a:prstGeom prst="rect">
            <a:avLst/>
          </a:prstGeom>
          <a:noFill/>
          <a:ln/>
        </p:spPr>
        <p:txBody>
          <a:bodyPr wrap="square" lIns="0" tIns="0" rIns="0" bIns="0" rtlCol="0" anchor="ctr"/>
          <a:lstStyle/>
          <a:p>
            <a:pPr algn="ctr" indent="0" marL="0">
              <a:buNone/>
            </a:pPr>
            <a:r>
              <a:rPr lang="en-US" sz="800" dirty="0">
                <a:solidFill>
                  <a:srgbClr val="1A2B40"/>
                </a:solidFill>
                <a:latin typeface="Noto Sans CJK JP" pitchFamily="34" charset="0"/>
                <a:ea typeface="Noto Sans CJK JP" pitchFamily="34" charset="-122"/>
                <a:cs typeface="Noto Sans CJK JP" pitchFamily="34" charset="-120"/>
              </a:rPr>
              <a:t>→ 単相</a:t>
            </a:r>
            <a:endParaRPr lang="en-US" sz="800" dirty="0"/>
          </a:p>
        </p:txBody>
      </p:sp>
      <p:sp>
        <p:nvSpPr>
          <p:cNvPr id="44" name="Shape 42"/>
          <p:cNvSpPr/>
          <p:nvPr/>
        </p:nvSpPr>
        <p:spPr>
          <a:xfrm>
            <a:off x="8531352" y="4855464"/>
            <a:ext cx="1371600" cy="420624"/>
          </a:xfrm>
          <a:prstGeom prst="rect">
            <a:avLst/>
          </a:prstGeom>
          <a:solidFill>
            <a:srgbClr val="4A90D9"/>
          </a:solidFill>
          <a:ln/>
        </p:spPr>
      </p:sp>
      <p:sp>
        <p:nvSpPr>
          <p:cNvPr id="45" name="Text 43"/>
          <p:cNvSpPr/>
          <p:nvPr/>
        </p:nvSpPr>
        <p:spPr>
          <a:xfrm>
            <a:off x="8558784" y="4855464"/>
            <a:ext cx="1316736" cy="420624"/>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Noto Sans CJK JP" pitchFamily="34" charset="0"/>
                <a:ea typeface="Noto Sans CJK JP" pitchFamily="34" charset="-122"/>
                <a:cs typeface="Noto Sans CJK JP" pitchFamily="34" charset="-120"/>
              </a:rPr>
              <a:t>単相負荷 OK</a:t>
            </a:r>
            <a:endParaRPr lang="en-US" sz="850" dirty="0"/>
          </a:p>
          <a:p>
            <a:pPr algn="ctr" indent="0" marL="0">
              <a:lnSpc>
                <a:spcPct val="100000"/>
              </a:lnSpc>
              <a:buNone/>
            </a:pPr>
            <a:r>
              <a:rPr lang="en-US" sz="850" b="1" dirty="0">
                <a:solidFill>
                  <a:srgbClr val="FFFFFF"/>
                </a:solidFill>
                <a:latin typeface="Noto Sans CJK JP" pitchFamily="34" charset="0"/>
                <a:ea typeface="Noto Sans CJK JP" pitchFamily="34" charset="-122"/>
                <a:cs typeface="Noto Sans CJK JP" pitchFamily="34" charset="-120"/>
              </a:rPr>
              <a:t>(30%)</a:t>
            </a:r>
            <a:endParaRPr lang="en-US" sz="850" dirty="0"/>
          </a:p>
        </p:txBody>
      </p:sp>
      <p:sp>
        <p:nvSpPr>
          <p:cNvPr id="46" name="Shape 44"/>
          <p:cNvSpPr/>
          <p:nvPr/>
        </p:nvSpPr>
        <p:spPr>
          <a:xfrm>
            <a:off x="9994392" y="4215384"/>
            <a:ext cx="1463040" cy="1060704"/>
          </a:xfrm>
          <a:prstGeom prst="rect">
            <a:avLst/>
          </a:prstGeom>
          <a:solidFill>
            <a:srgbClr val="F4F6F8"/>
          </a:solidFill>
          <a:ln w="12700">
            <a:solidFill>
              <a:srgbClr val="B89A55"/>
            </a:solidFill>
            <a:prstDash val="dash"/>
          </a:ln>
        </p:spPr>
      </p:sp>
      <p:sp>
        <p:nvSpPr>
          <p:cNvPr id="47" name="Text 45"/>
          <p:cNvSpPr/>
          <p:nvPr/>
        </p:nvSpPr>
        <p:spPr>
          <a:xfrm>
            <a:off x="9994392" y="4215384"/>
            <a:ext cx="1463040" cy="1060704"/>
          </a:xfrm>
          <a:prstGeom prst="rect">
            <a:avLst/>
          </a:prstGeom>
          <a:noFill/>
          <a:ln/>
        </p:spPr>
        <p:txBody>
          <a:bodyPr wrap="square" lIns="0" tIns="0" rIns="0" bIns="0" rtlCol="0" anchor="ctr"/>
          <a:lstStyle/>
          <a:p>
            <a:pPr algn="ctr" indent="0" marL="0">
              <a:lnSpc>
                <a:spcPct val="110000"/>
              </a:lnSpc>
              <a:buNone/>
            </a:pPr>
            <a:r>
              <a:rPr lang="en-US" sz="850" b="1" dirty="0">
                <a:solidFill>
                  <a:srgbClr val="B89A55"/>
                </a:solidFill>
                <a:latin typeface="Noto Sans CJK JP" pitchFamily="34" charset="0"/>
                <a:ea typeface="Noto Sans CJK JP" pitchFamily="34" charset="-122"/>
                <a:cs typeface="Noto Sans CJK JP" pitchFamily="34" charset="-120"/>
              </a:rPr>
              <a:t>余剰 16,139kWh</a:t>
            </a:r>
            <a:endParaRPr lang="en-US" sz="850" dirty="0"/>
          </a:p>
          <a:p>
            <a:pPr algn="ctr" indent="0" marL="0">
              <a:lnSpc>
                <a:spcPct val="110000"/>
              </a:lnSpc>
              <a:buNone/>
            </a:pPr>
            <a:r>
              <a:rPr lang="en-US" sz="850" b="1" dirty="0">
                <a:solidFill>
                  <a:srgbClr val="B89A55"/>
                </a:solidFill>
                <a:latin typeface="Noto Sans CJK JP" pitchFamily="34" charset="0"/>
                <a:ea typeface="Noto Sans CJK JP" pitchFamily="34" charset="-122"/>
                <a:cs typeface="Noto Sans CJK JP" pitchFamily="34" charset="-120"/>
              </a:rPr>
              <a:t>は次ページの</a:t>
            </a:r>
            <a:endParaRPr lang="en-US" sz="850" dirty="0"/>
          </a:p>
          <a:p>
            <a:pPr algn="ctr" indent="0" marL="0">
              <a:lnSpc>
                <a:spcPct val="110000"/>
              </a:lnSpc>
              <a:buNone/>
            </a:pPr>
            <a:r>
              <a:rPr lang="en-US" sz="850" b="1" dirty="0">
                <a:solidFill>
                  <a:srgbClr val="B89A55"/>
                </a:solidFill>
                <a:latin typeface="Noto Sans CJK JP" pitchFamily="34" charset="0"/>
                <a:ea typeface="Noto Sans CJK JP" pitchFamily="34" charset="-122"/>
                <a:cs typeface="Noto Sans CJK JP" pitchFamily="34" charset="-120"/>
              </a:rPr>
              <a:t>蓄電池で</a:t>
            </a:r>
            <a:endParaRPr lang="en-US" sz="850" dirty="0"/>
          </a:p>
          <a:p>
            <a:pPr algn="ctr" indent="0" marL="0">
              <a:lnSpc>
                <a:spcPct val="110000"/>
              </a:lnSpc>
              <a:buNone/>
            </a:pPr>
            <a:r>
              <a:rPr lang="en-US" sz="850" b="1" dirty="0">
                <a:solidFill>
                  <a:srgbClr val="B89A55"/>
                </a:solidFill>
                <a:latin typeface="Noto Sans CJK JP" pitchFamily="34" charset="0"/>
                <a:ea typeface="Noto Sans CJK JP" pitchFamily="34" charset="-122"/>
                <a:cs typeface="Noto Sans CJK JP" pitchFamily="34" charset="-120"/>
              </a:rPr>
              <a:t>夜間活用</a:t>
            </a:r>
            <a:endParaRPr lang="en-US" sz="850" dirty="0"/>
          </a:p>
        </p:txBody>
      </p:sp>
      <p:sp>
        <p:nvSpPr>
          <p:cNvPr id="48" name="Shape 46"/>
          <p:cNvSpPr/>
          <p:nvPr/>
        </p:nvSpPr>
        <p:spPr>
          <a:xfrm>
            <a:off x="6245352" y="5486400"/>
            <a:ext cx="5486400" cy="658368"/>
          </a:xfrm>
          <a:prstGeom prst="rect">
            <a:avLst/>
          </a:prstGeom>
          <a:solidFill>
            <a:srgbClr val="1FA383"/>
          </a:solidFill>
          <a:ln/>
        </p:spPr>
      </p:sp>
      <p:sp>
        <p:nvSpPr>
          <p:cNvPr id="49" name="Text 47"/>
          <p:cNvSpPr/>
          <p:nvPr/>
        </p:nvSpPr>
        <p:spPr>
          <a:xfrm>
            <a:off x="6245352" y="5532120"/>
            <a:ext cx="5486400" cy="347472"/>
          </a:xfrm>
          <a:prstGeom prst="rect">
            <a:avLst/>
          </a:prstGeom>
          <a:noFill/>
          <a:ln/>
        </p:spPr>
        <p:txBody>
          <a:bodyPr wrap="square" lIns="0" tIns="0" rIns="0" bIns="0" rtlCol="0" anchor="ctr"/>
          <a:lstStyle/>
          <a:p>
            <a:pPr algn="ctr" indent="0" marL="0">
              <a:buNone/>
            </a:pPr>
            <a:r>
              <a:rPr lang="en-US" sz="1350" b="1" dirty="0">
                <a:solidFill>
                  <a:srgbClr val="FFFFFF"/>
                </a:solidFill>
                <a:latin typeface="Noto Sans CJK JP" pitchFamily="34" charset="0"/>
                <a:ea typeface="Noto Sans CJK JP" pitchFamily="34" charset="-122"/>
                <a:cs typeface="Noto Sans CJK JP" pitchFamily="34" charset="-120"/>
              </a:rPr>
              <a:t>自家消費 59,861 kWh/ 年（PVの79%）</a:t>
            </a:r>
            <a:endParaRPr lang="en-US" sz="1350" dirty="0"/>
          </a:p>
        </p:txBody>
      </p:sp>
      <p:sp>
        <p:nvSpPr>
          <p:cNvPr id="50" name="Text 48"/>
          <p:cNvSpPr/>
          <p:nvPr/>
        </p:nvSpPr>
        <p:spPr>
          <a:xfrm>
            <a:off x="6245352" y="5870448"/>
            <a:ext cx="5486400" cy="256032"/>
          </a:xfrm>
          <a:prstGeom prst="rect">
            <a:avLst/>
          </a:prstGeom>
          <a:noFill/>
          <a:ln/>
        </p:spPr>
        <p:txBody>
          <a:bodyPr wrap="square" lIns="0" tIns="0" rIns="0" bIns="0" rtlCol="0" anchor="ctr"/>
          <a:lstStyle/>
          <a:p>
            <a:pPr algn="ctr" indent="0" marL="0">
              <a:buNone/>
            </a:pPr>
            <a:r>
              <a:rPr lang="en-US" sz="900" dirty="0">
                <a:solidFill>
                  <a:srgbClr val="D7F2E9"/>
                </a:solidFill>
                <a:latin typeface="Noto Sans CJK JP" pitchFamily="34" charset="0"/>
                <a:ea typeface="Noto Sans CJK JP" pitchFamily="34" charset="-122"/>
                <a:cs typeface="Noto Sans CJK JP" pitchFamily="34" charset="-120"/>
              </a:rPr>
              <a:t>単相200V→トランス昇圧→三相で全負荷給電。蓄電池なしでも捨てる量が激減</a:t>
            </a:r>
            <a:endParaRPr lang="en-US" sz="900" dirty="0"/>
          </a:p>
        </p:txBody>
      </p:sp>
      <p:sp>
        <p:nvSpPr>
          <p:cNvPr id="51" name="Shape 49"/>
          <p:cNvSpPr/>
          <p:nvPr/>
        </p:nvSpPr>
        <p:spPr>
          <a:xfrm>
            <a:off x="457200" y="6053328"/>
            <a:ext cx="11274552" cy="457200"/>
          </a:xfrm>
          <a:prstGeom prst="rect">
            <a:avLst/>
          </a:prstGeom>
          <a:solidFill>
            <a:srgbClr val="B89A55"/>
          </a:solidFill>
          <a:ln/>
        </p:spPr>
      </p:sp>
      <p:sp>
        <p:nvSpPr>
          <p:cNvPr id="52" name="Text 50"/>
          <p:cNvSpPr/>
          <p:nvPr/>
        </p:nvSpPr>
        <p:spPr>
          <a:xfrm>
            <a:off x="457200" y="6053328"/>
            <a:ext cx="11274552" cy="457200"/>
          </a:xfrm>
          <a:prstGeom prst="rect">
            <a:avLst/>
          </a:prstGeom>
          <a:noFill/>
          <a:ln/>
        </p:spPr>
        <p:txBody>
          <a:bodyPr wrap="square" lIns="0" tIns="0" rIns="0" bIns="0" rtlCol="0" anchor="ctr"/>
          <a:lstStyle/>
          <a:p>
            <a:pPr algn="ctr" indent="0" marL="0">
              <a:buNone/>
            </a:pPr>
            <a:r>
              <a:rPr lang="en-US" sz="1300" b="1" dirty="0">
                <a:solidFill>
                  <a:srgbClr val="0F2747"/>
                </a:solidFill>
                <a:latin typeface="Noto Sans CJK JP" pitchFamily="34" charset="0"/>
                <a:ea typeface="Noto Sans CJK JP" pitchFamily="34" charset="-122"/>
                <a:cs typeface="Noto Sans CJK JP" pitchFamily="34" charset="-120"/>
              </a:rPr>
              <a:t>年間 +21,147kWh ＝ 電気代 +44.5 万円 / 年 → 20 年累計 約 1,082 万円の差（蓄電池なし・パワコンの差だけで）</a:t>
            </a:r>
            <a:endParaRPr lang="en-US" sz="1300" dirty="0"/>
          </a:p>
        </p:txBody>
      </p:sp>
      <p:sp>
        <p:nvSpPr>
          <p:cNvPr id="53" name="Text 51"/>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54" name="Text 52"/>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7 / 20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04</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C 案：シスコムネット案（自家消費＋蓄電池＋千葉県補助金）</a:t>
            </a:r>
            <a:endParaRPr lang="en-US" sz="3000" dirty="0"/>
          </a:p>
        </p:txBody>
      </p:sp>
      <p:sp>
        <p:nvSpPr>
          <p:cNvPr id="4" name="Shape 2"/>
          <p:cNvSpPr/>
          <p:nvPr/>
        </p:nvSpPr>
        <p:spPr>
          <a:xfrm>
            <a:off x="457200"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5" name="Text 3"/>
          <p:cNvSpPr/>
          <p:nvPr/>
        </p:nvSpPr>
        <p:spPr>
          <a:xfrm>
            <a:off x="731520" y="1755648"/>
            <a:ext cx="5029200" cy="329184"/>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運用イメージ (Tesla Powerwall 3 × 4 台 )</a:t>
            </a:r>
            <a:endParaRPr lang="en-US" sz="1400" dirty="0"/>
          </a:p>
        </p:txBody>
      </p:sp>
      <p:sp>
        <p:nvSpPr>
          <p:cNvPr id="6" name="Shape 4"/>
          <p:cNvSpPr/>
          <p:nvPr/>
        </p:nvSpPr>
        <p:spPr>
          <a:xfrm>
            <a:off x="731520" y="2194560"/>
            <a:ext cx="2377440" cy="868680"/>
          </a:xfrm>
          <a:prstGeom prst="rect">
            <a:avLst/>
          </a:prstGeom>
          <a:solidFill>
            <a:srgbClr val="B89A55"/>
          </a:solidFill>
          <a:ln/>
        </p:spPr>
      </p:sp>
      <p:sp>
        <p:nvSpPr>
          <p:cNvPr id="7" name="Text 5"/>
          <p:cNvSpPr/>
          <p:nvPr/>
        </p:nvSpPr>
        <p:spPr>
          <a:xfrm>
            <a:off x="731520" y="2286000"/>
            <a:ext cx="23774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太陽光 63kW PV</a:t>
            </a:r>
            <a:endParaRPr lang="en-US" sz="1100" dirty="0"/>
          </a:p>
        </p:txBody>
      </p:sp>
      <p:sp>
        <p:nvSpPr>
          <p:cNvPr id="8" name="Text 6"/>
          <p:cNvSpPr/>
          <p:nvPr/>
        </p:nvSpPr>
        <p:spPr>
          <a:xfrm>
            <a:off x="731520" y="2578608"/>
            <a:ext cx="237744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CJK JP" pitchFamily="34" charset="0"/>
                <a:ea typeface="Noto Sans CJK JP" pitchFamily="34" charset="-122"/>
                <a:cs typeface="Noto Sans CJK JP" pitchFamily="34" charset="-120"/>
              </a:rPr>
              <a:t>76,000 kWh/ 年</a:t>
            </a:r>
            <a:endParaRPr lang="en-US" sz="1400" dirty="0"/>
          </a:p>
        </p:txBody>
      </p:sp>
      <p:sp>
        <p:nvSpPr>
          <p:cNvPr id="9" name="Shape 7"/>
          <p:cNvSpPr/>
          <p:nvPr/>
        </p:nvSpPr>
        <p:spPr>
          <a:xfrm>
            <a:off x="3291840" y="2194560"/>
            <a:ext cx="2377440" cy="868680"/>
          </a:xfrm>
          <a:prstGeom prst="rect">
            <a:avLst/>
          </a:prstGeom>
          <a:solidFill>
            <a:srgbClr val="1FA383"/>
          </a:solidFill>
          <a:ln/>
        </p:spPr>
      </p:sp>
      <p:sp>
        <p:nvSpPr>
          <p:cNvPr id="10" name="Text 8"/>
          <p:cNvSpPr/>
          <p:nvPr/>
        </p:nvSpPr>
        <p:spPr>
          <a:xfrm>
            <a:off x="3291840" y="2286000"/>
            <a:ext cx="23774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単相自家消費 (49%)</a:t>
            </a:r>
            <a:endParaRPr lang="en-US" sz="1100" dirty="0"/>
          </a:p>
        </p:txBody>
      </p:sp>
      <p:sp>
        <p:nvSpPr>
          <p:cNvPr id="11" name="Text 9"/>
          <p:cNvSpPr/>
          <p:nvPr/>
        </p:nvSpPr>
        <p:spPr>
          <a:xfrm>
            <a:off x="3291840" y="2578608"/>
            <a:ext cx="237744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CJK JP" pitchFamily="34" charset="0"/>
                <a:ea typeface="Noto Sans CJK JP" pitchFamily="34" charset="-122"/>
                <a:cs typeface="Noto Sans CJK JP" pitchFamily="34" charset="-120"/>
              </a:rPr>
              <a:t>37,240 kWh/ 年</a:t>
            </a:r>
            <a:endParaRPr lang="en-US" sz="1400" dirty="0"/>
          </a:p>
        </p:txBody>
      </p:sp>
      <p:sp>
        <p:nvSpPr>
          <p:cNvPr id="12" name="Shape 10"/>
          <p:cNvSpPr/>
          <p:nvPr/>
        </p:nvSpPr>
        <p:spPr>
          <a:xfrm>
            <a:off x="731520" y="3200400"/>
            <a:ext cx="2377440" cy="868680"/>
          </a:xfrm>
          <a:prstGeom prst="rect">
            <a:avLst/>
          </a:prstGeom>
          <a:solidFill>
            <a:srgbClr val="E58027"/>
          </a:solidFill>
          <a:ln/>
        </p:spPr>
      </p:sp>
      <p:sp>
        <p:nvSpPr>
          <p:cNvPr id="13" name="Text 11"/>
          <p:cNvSpPr/>
          <p:nvPr/>
        </p:nvSpPr>
        <p:spPr>
          <a:xfrm>
            <a:off x="731520" y="3291840"/>
            <a:ext cx="23774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蓄電池+三相へ</a:t>
            </a:r>
            <a:endParaRPr lang="en-US" sz="1100" dirty="0"/>
          </a:p>
        </p:txBody>
      </p:sp>
      <p:sp>
        <p:nvSpPr>
          <p:cNvPr id="14" name="Text 12"/>
          <p:cNvSpPr/>
          <p:nvPr/>
        </p:nvSpPr>
        <p:spPr>
          <a:xfrm>
            <a:off x="731520" y="3584448"/>
            <a:ext cx="237744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CJK JP" pitchFamily="34" charset="0"/>
                <a:ea typeface="Noto Sans CJK JP" pitchFamily="34" charset="-122"/>
                <a:cs typeface="Noto Sans CJK JP" pitchFamily="34" charset="-120"/>
              </a:rPr>
              <a:t>32,680 kWh/ 年</a:t>
            </a:r>
            <a:endParaRPr lang="en-US" sz="1400" dirty="0"/>
          </a:p>
        </p:txBody>
      </p:sp>
      <p:sp>
        <p:nvSpPr>
          <p:cNvPr id="15" name="Shape 13"/>
          <p:cNvSpPr/>
          <p:nvPr/>
        </p:nvSpPr>
        <p:spPr>
          <a:xfrm>
            <a:off x="3291840" y="3200400"/>
            <a:ext cx="2377440" cy="868680"/>
          </a:xfrm>
          <a:prstGeom prst="rect">
            <a:avLst/>
          </a:prstGeom>
          <a:solidFill>
            <a:srgbClr val="0F2747"/>
          </a:solidFill>
          <a:ln/>
        </p:spPr>
      </p:sp>
      <p:sp>
        <p:nvSpPr>
          <p:cNvPr id="16" name="Text 14"/>
          <p:cNvSpPr/>
          <p:nvPr/>
        </p:nvSpPr>
        <p:spPr>
          <a:xfrm>
            <a:off x="3291840" y="3291840"/>
            <a:ext cx="23774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蓄電池 54kWh</a:t>
            </a:r>
            <a:endParaRPr lang="en-US" sz="1100" dirty="0"/>
          </a:p>
        </p:txBody>
      </p:sp>
      <p:sp>
        <p:nvSpPr>
          <p:cNvPr id="17" name="Text 15"/>
          <p:cNvSpPr/>
          <p:nvPr/>
        </p:nvSpPr>
        <p:spPr>
          <a:xfrm>
            <a:off x="3291840" y="3584448"/>
            <a:ext cx="237744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CJK JP" pitchFamily="34" charset="0"/>
                <a:ea typeface="Noto Sans CJK JP" pitchFamily="34" charset="-122"/>
                <a:cs typeface="Noto Sans CJK JP" pitchFamily="34" charset="-120"/>
              </a:rPr>
              <a:t>充電→夜間放電</a:t>
            </a:r>
            <a:endParaRPr lang="en-US" sz="1400" dirty="0"/>
          </a:p>
        </p:txBody>
      </p:sp>
      <p:sp>
        <p:nvSpPr>
          <p:cNvPr id="18" name="Shape 16"/>
          <p:cNvSpPr/>
          <p:nvPr/>
        </p:nvSpPr>
        <p:spPr>
          <a:xfrm>
            <a:off x="731520" y="4206240"/>
            <a:ext cx="4937760" cy="777240"/>
          </a:xfrm>
          <a:prstGeom prst="rect">
            <a:avLst/>
          </a:prstGeom>
          <a:solidFill>
            <a:srgbClr val="1FA383"/>
          </a:solidFill>
          <a:ln/>
        </p:spPr>
      </p:sp>
      <p:sp>
        <p:nvSpPr>
          <p:cNvPr id="19" name="Text 17"/>
          <p:cNvSpPr/>
          <p:nvPr/>
        </p:nvSpPr>
        <p:spPr>
          <a:xfrm>
            <a:off x="731520" y="4297680"/>
            <a:ext cx="49377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自家消費合計 ( PVの92% ≒ ほぼ使い切り )</a:t>
            </a:r>
            <a:endParaRPr lang="en-US" sz="1100" dirty="0"/>
          </a:p>
        </p:txBody>
      </p:sp>
      <p:sp>
        <p:nvSpPr>
          <p:cNvPr id="20" name="Text 18"/>
          <p:cNvSpPr/>
          <p:nvPr/>
        </p:nvSpPr>
        <p:spPr>
          <a:xfrm>
            <a:off x="731520" y="4590288"/>
            <a:ext cx="49377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Noto Sans CJK JP" pitchFamily="34" charset="0"/>
                <a:ea typeface="Noto Sans CJK JP" pitchFamily="34" charset="-122"/>
                <a:cs typeface="Noto Sans CJK JP" pitchFamily="34" charset="-120"/>
              </a:rPr>
              <a:t>69,920 kWh/ 年</a:t>
            </a:r>
            <a:endParaRPr lang="en-US" sz="1400" dirty="0"/>
          </a:p>
        </p:txBody>
      </p:sp>
      <p:sp>
        <p:nvSpPr>
          <p:cNvPr id="21" name="Shape 19"/>
          <p:cNvSpPr/>
          <p:nvPr/>
        </p:nvSpPr>
        <p:spPr>
          <a:xfrm>
            <a:off x="731520" y="5120640"/>
            <a:ext cx="4937760" cy="868680"/>
          </a:xfrm>
          <a:prstGeom prst="rect">
            <a:avLst/>
          </a:prstGeom>
          <a:solidFill>
            <a:srgbClr val="0F2747"/>
          </a:solidFill>
          <a:ln/>
        </p:spPr>
      </p:sp>
      <p:sp>
        <p:nvSpPr>
          <p:cNvPr id="22" name="Text 20"/>
          <p:cNvSpPr/>
          <p:nvPr/>
        </p:nvSpPr>
        <p:spPr>
          <a:xfrm>
            <a:off x="868680" y="5175504"/>
            <a:ext cx="4572000" cy="256032"/>
          </a:xfrm>
          <a:prstGeom prst="rect">
            <a:avLst/>
          </a:prstGeom>
          <a:noFill/>
          <a:ln/>
        </p:spPr>
        <p:txBody>
          <a:bodyPr wrap="square" lIns="0" tIns="0" rIns="0" bIns="0" rtlCol="0" anchor="ctr"/>
          <a:lstStyle/>
          <a:p>
            <a:pPr algn="l" indent="0" marL="0">
              <a:buNone/>
            </a:pPr>
            <a:r>
              <a:rPr lang="en-US" sz="1050" b="1" dirty="0">
                <a:solidFill>
                  <a:srgbClr val="C7A867"/>
                </a:solidFill>
                <a:latin typeface="Noto Sans CJK JP" pitchFamily="34" charset="0"/>
                <a:ea typeface="Noto Sans CJK JP" pitchFamily="34" charset="-122"/>
                <a:cs typeface="Noto Sans CJK JP" pitchFamily="34" charset="-120"/>
              </a:rPr>
              <a:t>効果</a:t>
            </a:r>
            <a:endParaRPr lang="en-US" sz="1050" dirty="0"/>
          </a:p>
        </p:txBody>
      </p:sp>
      <p:sp>
        <p:nvSpPr>
          <p:cNvPr id="23" name="Text 21"/>
          <p:cNvSpPr/>
          <p:nvPr/>
        </p:nvSpPr>
        <p:spPr>
          <a:xfrm>
            <a:off x="868680" y="5431536"/>
            <a:ext cx="4663440" cy="502920"/>
          </a:xfrm>
          <a:prstGeom prst="rect">
            <a:avLst/>
          </a:prstGeom>
          <a:noFill/>
          <a:ln/>
        </p:spPr>
        <p:txBody>
          <a:bodyPr wrap="square" lIns="0" tIns="0" rIns="0" bIns="0" rtlCol="0" anchor="ctr"/>
          <a:lstStyle/>
          <a:p>
            <a:pPr algn="l" indent="0" marL="0">
              <a:lnSpc>
                <a:spcPct val="120000"/>
              </a:lnSpc>
              <a:buNone/>
            </a:pPr>
            <a:r>
              <a:rPr lang="en-US" sz="1100" b="1" dirty="0">
                <a:solidFill>
                  <a:srgbClr val="FFFFFF"/>
                </a:solidFill>
                <a:latin typeface="Noto Sans CJK JP" pitchFamily="34" charset="0"/>
                <a:ea typeface="Noto Sans CJK JP" pitchFamily="34" charset="-122"/>
                <a:cs typeface="Noto Sans CJK JP" pitchFamily="34" charset="-120"/>
              </a:rPr>
              <a:t>自家消費 PVの49% → 92% (単相→蓄電池→三相)</a:t>
            </a:r>
            <a:endParaRPr lang="en-US" sz="1100" dirty="0"/>
          </a:p>
          <a:p>
            <a:pPr algn="l" indent="0" marL="0">
              <a:lnSpc>
                <a:spcPct val="120000"/>
              </a:lnSpc>
              <a:buNone/>
            </a:pPr>
            <a:r>
              <a:rPr lang="en-US" sz="1100" b="1" dirty="0">
                <a:solidFill>
                  <a:srgbClr val="FFFFFF"/>
                </a:solidFill>
                <a:latin typeface="Noto Sans CJK JP" pitchFamily="34" charset="0"/>
                <a:ea typeface="Noto Sans CJK JP" pitchFamily="34" charset="-122"/>
                <a:cs typeface="Noto Sans CJK JP" pitchFamily="34" charset="-120"/>
              </a:rPr>
              <a:t>年間電気代 233万 → 86万円 / BCP 54kWh ( 重要負荷 18h)</a:t>
            </a:r>
            <a:endParaRPr lang="en-US" sz="1100" dirty="0"/>
          </a:p>
        </p:txBody>
      </p:sp>
      <p:sp>
        <p:nvSpPr>
          <p:cNvPr id="24" name="Shape 22"/>
          <p:cNvSpPr/>
          <p:nvPr/>
        </p:nvSpPr>
        <p:spPr>
          <a:xfrm>
            <a:off x="6245352"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25" name="Text 23"/>
          <p:cNvSpPr/>
          <p:nvPr/>
        </p:nvSpPr>
        <p:spPr>
          <a:xfrm>
            <a:off x="6519672" y="1755648"/>
            <a:ext cx="5029200" cy="329184"/>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投資内訳・千葉県補助金活用</a:t>
            </a:r>
            <a:endParaRPr lang="en-US" sz="1400" dirty="0"/>
          </a:p>
        </p:txBody>
      </p:sp>
      <p:sp>
        <p:nvSpPr>
          <p:cNvPr id="26" name="Shape 24"/>
          <p:cNvSpPr/>
          <p:nvPr/>
        </p:nvSpPr>
        <p:spPr>
          <a:xfrm>
            <a:off x="6519672" y="2194560"/>
            <a:ext cx="4937760" cy="457200"/>
          </a:xfrm>
          <a:prstGeom prst="rect">
            <a:avLst/>
          </a:prstGeom>
          <a:solidFill>
            <a:srgbClr val="FFFFFF"/>
          </a:solidFill>
          <a:ln w="12700">
            <a:solidFill>
              <a:srgbClr val="E1E5EA"/>
            </a:solidFill>
            <a:prstDash val="solid"/>
          </a:ln>
        </p:spPr>
      </p:sp>
      <p:sp>
        <p:nvSpPr>
          <p:cNvPr id="27" name="Text 25"/>
          <p:cNvSpPr/>
          <p:nvPr/>
        </p:nvSpPr>
        <p:spPr>
          <a:xfrm>
            <a:off x="6656832" y="2194560"/>
            <a:ext cx="3017520" cy="457200"/>
          </a:xfrm>
          <a:prstGeom prst="rect">
            <a:avLst/>
          </a:prstGeom>
          <a:noFill/>
          <a:ln/>
        </p:spPr>
        <p:txBody>
          <a:bodyPr wrap="square" lIns="0" tIns="0" rIns="0" bIns="0" rtlCol="0" anchor="ctr"/>
          <a:lstStyle/>
          <a:p>
            <a:pPr algn="l" indent="0" marL="0">
              <a:buNone/>
            </a:pPr>
            <a:r>
              <a:rPr lang="en-US" sz="1100" dirty="0">
                <a:solidFill>
                  <a:srgbClr val="1A2B40"/>
                </a:solidFill>
                <a:latin typeface="Noto Sans CJK JP" pitchFamily="34" charset="0"/>
                <a:ea typeface="Noto Sans CJK JP" pitchFamily="34" charset="-122"/>
                <a:cs typeface="Noto Sans CJK JP" pitchFamily="34" charset="-120"/>
              </a:rPr>
              <a:t>オムロンPCS 自家消費工事 ( 税込 )</a:t>
            </a:r>
            <a:endParaRPr lang="en-US" sz="1100" dirty="0"/>
          </a:p>
        </p:txBody>
      </p:sp>
      <p:sp>
        <p:nvSpPr>
          <p:cNvPr id="28" name="Text 26"/>
          <p:cNvSpPr/>
          <p:nvPr/>
        </p:nvSpPr>
        <p:spPr>
          <a:xfrm>
            <a:off x="9144000" y="2194560"/>
            <a:ext cx="2221992" cy="457200"/>
          </a:xfrm>
          <a:prstGeom prst="rect">
            <a:avLst/>
          </a:prstGeom>
          <a:noFill/>
          <a:ln/>
        </p:spPr>
        <p:txBody>
          <a:bodyPr wrap="square" lIns="0" tIns="0" rIns="0" bIns="0" rtlCol="0" anchor="ctr"/>
          <a:lstStyle/>
          <a:p>
            <a:pPr algn="r" indent="0" marL="0">
              <a:buNone/>
            </a:pPr>
            <a:r>
              <a:rPr lang="en-US" sz="1300" b="1" dirty="0">
                <a:solidFill>
                  <a:srgbClr val="1A2B40"/>
                </a:solidFill>
                <a:latin typeface="Noto Sans CJK JP" pitchFamily="34" charset="0"/>
                <a:ea typeface="Noto Sans CJK JP" pitchFamily="34" charset="-122"/>
                <a:cs typeface="Noto Sans CJK JP" pitchFamily="34" charset="-120"/>
              </a:rPr>
              <a:t>6,290,000 円</a:t>
            </a:r>
            <a:endParaRPr lang="en-US" sz="1300" dirty="0"/>
          </a:p>
        </p:txBody>
      </p:sp>
      <p:sp>
        <p:nvSpPr>
          <p:cNvPr id="29" name="Shape 27"/>
          <p:cNvSpPr/>
          <p:nvPr/>
        </p:nvSpPr>
        <p:spPr>
          <a:xfrm>
            <a:off x="6519672" y="2743200"/>
            <a:ext cx="4937760" cy="457200"/>
          </a:xfrm>
          <a:prstGeom prst="rect">
            <a:avLst/>
          </a:prstGeom>
          <a:solidFill>
            <a:srgbClr val="FFFFFF"/>
          </a:solidFill>
          <a:ln w="12700">
            <a:solidFill>
              <a:srgbClr val="E1E5EA"/>
            </a:solidFill>
            <a:prstDash val="solid"/>
          </a:ln>
        </p:spPr>
      </p:sp>
      <p:sp>
        <p:nvSpPr>
          <p:cNvPr id="30" name="Text 28"/>
          <p:cNvSpPr/>
          <p:nvPr/>
        </p:nvSpPr>
        <p:spPr>
          <a:xfrm>
            <a:off x="6656832" y="2743200"/>
            <a:ext cx="3017520" cy="457200"/>
          </a:xfrm>
          <a:prstGeom prst="rect">
            <a:avLst/>
          </a:prstGeom>
          <a:noFill/>
          <a:ln/>
        </p:spPr>
        <p:txBody>
          <a:bodyPr wrap="square" lIns="0" tIns="0" rIns="0" bIns="0" rtlCol="0" anchor="ctr"/>
          <a:lstStyle/>
          <a:p>
            <a:pPr algn="l" indent="0" marL="0">
              <a:buNone/>
            </a:pPr>
            <a:r>
              <a:rPr lang="en-US" sz="1100" dirty="0">
                <a:solidFill>
                  <a:srgbClr val="1A2B40"/>
                </a:solidFill>
                <a:latin typeface="Noto Sans CJK JP" pitchFamily="34" charset="0"/>
                <a:ea typeface="Noto Sans CJK JP" pitchFamily="34" charset="-122"/>
                <a:cs typeface="Noto Sans CJK JP" pitchFamily="34" charset="-120"/>
              </a:rPr>
              <a:t>Tesla Powerwall 3 × 4 台 ( 税込 )</a:t>
            </a:r>
            <a:endParaRPr lang="en-US" sz="1100" dirty="0"/>
          </a:p>
        </p:txBody>
      </p:sp>
      <p:sp>
        <p:nvSpPr>
          <p:cNvPr id="31" name="Text 29"/>
          <p:cNvSpPr/>
          <p:nvPr/>
        </p:nvSpPr>
        <p:spPr>
          <a:xfrm>
            <a:off x="9144000" y="2743200"/>
            <a:ext cx="2221992" cy="457200"/>
          </a:xfrm>
          <a:prstGeom prst="rect">
            <a:avLst/>
          </a:prstGeom>
          <a:noFill/>
          <a:ln/>
        </p:spPr>
        <p:txBody>
          <a:bodyPr wrap="square" lIns="0" tIns="0" rIns="0" bIns="0" rtlCol="0" anchor="ctr"/>
          <a:lstStyle/>
          <a:p>
            <a:pPr algn="r" indent="0" marL="0">
              <a:buNone/>
            </a:pPr>
            <a:r>
              <a:rPr lang="en-US" sz="1300" b="1" dirty="0">
                <a:solidFill>
                  <a:srgbClr val="1A2B40"/>
                </a:solidFill>
                <a:latin typeface="Noto Sans CJK JP" pitchFamily="34" charset="0"/>
                <a:ea typeface="Noto Sans CJK JP" pitchFamily="34" charset="-122"/>
                <a:cs typeface="Noto Sans CJK JP" pitchFamily="34" charset="-120"/>
              </a:rPr>
              <a:t>+ 9,600,000 円</a:t>
            </a:r>
            <a:endParaRPr lang="en-US" sz="1300" dirty="0"/>
          </a:p>
        </p:txBody>
      </p:sp>
      <p:sp>
        <p:nvSpPr>
          <p:cNvPr id="32" name="Shape 30"/>
          <p:cNvSpPr/>
          <p:nvPr/>
        </p:nvSpPr>
        <p:spPr>
          <a:xfrm>
            <a:off x="6519672" y="3291840"/>
            <a:ext cx="4937760" cy="457200"/>
          </a:xfrm>
          <a:prstGeom prst="rect">
            <a:avLst/>
          </a:prstGeom>
          <a:solidFill>
            <a:srgbClr val="FFFFFF"/>
          </a:solidFill>
          <a:ln w="12700">
            <a:solidFill>
              <a:srgbClr val="E1E5EA"/>
            </a:solidFill>
            <a:prstDash val="solid"/>
          </a:ln>
        </p:spPr>
      </p:sp>
      <p:sp>
        <p:nvSpPr>
          <p:cNvPr id="33" name="Text 31"/>
          <p:cNvSpPr/>
          <p:nvPr/>
        </p:nvSpPr>
        <p:spPr>
          <a:xfrm>
            <a:off x="6656832" y="3291840"/>
            <a:ext cx="3017520" cy="457200"/>
          </a:xfrm>
          <a:prstGeom prst="rect">
            <a:avLst/>
          </a:prstGeom>
          <a:noFill/>
          <a:ln/>
        </p:spPr>
        <p:txBody>
          <a:bodyPr wrap="square" lIns="0" tIns="0" rIns="0" bIns="0" rtlCol="0" anchor="ctr"/>
          <a:lstStyle/>
          <a:p>
            <a:pPr algn="l" indent="0" marL="0">
              <a:buNone/>
            </a:pPr>
            <a:r>
              <a:rPr lang="en-US" sz="1100" dirty="0">
                <a:solidFill>
                  <a:srgbClr val="1A2B40"/>
                </a:solidFill>
                <a:latin typeface="Noto Sans CJK JP" pitchFamily="34" charset="0"/>
                <a:ea typeface="Noto Sans CJK JP" pitchFamily="34" charset="-122"/>
                <a:cs typeface="Noto Sans CJK JP" pitchFamily="34" charset="-120"/>
              </a:rPr>
              <a:t>補助金前 合計</a:t>
            </a:r>
            <a:endParaRPr lang="en-US" sz="1100" dirty="0"/>
          </a:p>
        </p:txBody>
      </p:sp>
      <p:sp>
        <p:nvSpPr>
          <p:cNvPr id="34" name="Text 32"/>
          <p:cNvSpPr/>
          <p:nvPr/>
        </p:nvSpPr>
        <p:spPr>
          <a:xfrm>
            <a:off x="9144000" y="3291840"/>
            <a:ext cx="2221992" cy="457200"/>
          </a:xfrm>
          <a:prstGeom prst="rect">
            <a:avLst/>
          </a:prstGeom>
          <a:noFill/>
          <a:ln/>
        </p:spPr>
        <p:txBody>
          <a:bodyPr wrap="square" lIns="0" tIns="0" rIns="0" bIns="0" rtlCol="0" anchor="ctr"/>
          <a:lstStyle/>
          <a:p>
            <a:pPr algn="r" indent="0" marL="0">
              <a:buNone/>
            </a:pPr>
            <a:r>
              <a:rPr lang="en-US" sz="1300" b="1" dirty="0">
                <a:solidFill>
                  <a:srgbClr val="0F2747"/>
                </a:solidFill>
                <a:latin typeface="Noto Sans CJK JP" pitchFamily="34" charset="0"/>
                <a:ea typeface="Noto Sans CJK JP" pitchFamily="34" charset="-122"/>
                <a:cs typeface="Noto Sans CJK JP" pitchFamily="34" charset="-120"/>
              </a:rPr>
              <a:t>15,890,000 円</a:t>
            </a:r>
            <a:endParaRPr lang="en-US" sz="1300" dirty="0"/>
          </a:p>
        </p:txBody>
      </p:sp>
      <p:sp>
        <p:nvSpPr>
          <p:cNvPr id="35" name="Shape 33"/>
          <p:cNvSpPr/>
          <p:nvPr/>
        </p:nvSpPr>
        <p:spPr>
          <a:xfrm>
            <a:off x="6519672" y="3840480"/>
            <a:ext cx="4937760" cy="457200"/>
          </a:xfrm>
          <a:prstGeom prst="rect">
            <a:avLst/>
          </a:prstGeom>
          <a:solidFill>
            <a:srgbClr val="FFFFFF"/>
          </a:solidFill>
          <a:ln w="12700">
            <a:solidFill>
              <a:srgbClr val="E1E5EA"/>
            </a:solidFill>
            <a:prstDash val="solid"/>
          </a:ln>
        </p:spPr>
      </p:sp>
      <p:sp>
        <p:nvSpPr>
          <p:cNvPr id="36" name="Text 34"/>
          <p:cNvSpPr/>
          <p:nvPr/>
        </p:nvSpPr>
        <p:spPr>
          <a:xfrm>
            <a:off x="6656832" y="3840480"/>
            <a:ext cx="3017520" cy="457200"/>
          </a:xfrm>
          <a:prstGeom prst="rect">
            <a:avLst/>
          </a:prstGeom>
          <a:noFill/>
          <a:ln/>
        </p:spPr>
        <p:txBody>
          <a:bodyPr wrap="square" lIns="0" tIns="0" rIns="0" bIns="0" rtlCol="0" anchor="ctr"/>
          <a:lstStyle/>
          <a:p>
            <a:pPr algn="l" indent="0" marL="0">
              <a:buNone/>
            </a:pPr>
            <a:r>
              <a:rPr lang="en-US" sz="1100" dirty="0">
                <a:solidFill>
                  <a:srgbClr val="1A2B40"/>
                </a:solidFill>
                <a:latin typeface="Noto Sans CJK JP" pitchFamily="34" charset="0"/>
                <a:ea typeface="Noto Sans CJK JP" pitchFamily="34" charset="-122"/>
                <a:cs typeface="Noto Sans CJK JP" pitchFamily="34" charset="-120"/>
              </a:rPr>
              <a:t>千葉県補助金 ( 蓄電池税抜の 1/2)</a:t>
            </a:r>
            <a:endParaRPr lang="en-US" sz="1100" dirty="0"/>
          </a:p>
        </p:txBody>
      </p:sp>
      <p:sp>
        <p:nvSpPr>
          <p:cNvPr id="37" name="Text 35"/>
          <p:cNvSpPr/>
          <p:nvPr/>
        </p:nvSpPr>
        <p:spPr>
          <a:xfrm>
            <a:off x="9144000" y="3840480"/>
            <a:ext cx="2221992" cy="457200"/>
          </a:xfrm>
          <a:prstGeom prst="rect">
            <a:avLst/>
          </a:prstGeom>
          <a:noFill/>
          <a:ln/>
        </p:spPr>
        <p:txBody>
          <a:bodyPr wrap="square" lIns="0" tIns="0" rIns="0" bIns="0" rtlCol="0" anchor="ctr"/>
          <a:lstStyle/>
          <a:p>
            <a:pPr algn="r" indent="0" marL="0">
              <a:buNone/>
            </a:pPr>
            <a:r>
              <a:rPr lang="en-US" sz="1300" b="1" dirty="0">
                <a:solidFill>
                  <a:srgbClr val="4A90D9"/>
                </a:solidFill>
                <a:latin typeface="Noto Sans CJK JP" pitchFamily="34" charset="0"/>
                <a:ea typeface="Noto Sans CJK JP" pitchFamily="34" charset="-122"/>
                <a:cs typeface="Noto Sans CJK JP" pitchFamily="34" charset="-120"/>
              </a:rPr>
              <a:t>▲ 4,360,000 円</a:t>
            </a:r>
            <a:endParaRPr lang="en-US" sz="1300" dirty="0"/>
          </a:p>
        </p:txBody>
      </p:sp>
      <p:sp>
        <p:nvSpPr>
          <p:cNvPr id="38" name="Shape 36"/>
          <p:cNvSpPr/>
          <p:nvPr/>
        </p:nvSpPr>
        <p:spPr>
          <a:xfrm>
            <a:off x="6519672" y="4370832"/>
            <a:ext cx="4937760" cy="457200"/>
          </a:xfrm>
          <a:prstGeom prst="rect">
            <a:avLst/>
          </a:prstGeom>
          <a:solidFill>
            <a:srgbClr val="0F2747"/>
          </a:solidFill>
          <a:ln/>
        </p:spPr>
      </p:sp>
      <p:sp>
        <p:nvSpPr>
          <p:cNvPr id="39" name="Text 37"/>
          <p:cNvSpPr/>
          <p:nvPr/>
        </p:nvSpPr>
        <p:spPr>
          <a:xfrm>
            <a:off x="6656832" y="4370832"/>
            <a:ext cx="2743200"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Noto Sans CJK JP" pitchFamily="34" charset="0"/>
                <a:ea typeface="Noto Sans CJK JP" pitchFamily="34" charset="-122"/>
                <a:cs typeface="Noto Sans CJK JP" pitchFamily="34" charset="-120"/>
              </a:rPr>
              <a:t>実質投資合計</a:t>
            </a:r>
            <a:endParaRPr lang="en-US" sz="1200" dirty="0"/>
          </a:p>
        </p:txBody>
      </p:sp>
      <p:sp>
        <p:nvSpPr>
          <p:cNvPr id="40" name="Text 38"/>
          <p:cNvSpPr/>
          <p:nvPr/>
        </p:nvSpPr>
        <p:spPr>
          <a:xfrm>
            <a:off x="9144000" y="4370832"/>
            <a:ext cx="2221992" cy="457200"/>
          </a:xfrm>
          <a:prstGeom prst="rect">
            <a:avLst/>
          </a:prstGeom>
          <a:noFill/>
          <a:ln/>
        </p:spPr>
        <p:txBody>
          <a:bodyPr wrap="square" lIns="0" tIns="0" rIns="0" bIns="0" rtlCol="0" anchor="ctr"/>
          <a:lstStyle/>
          <a:p>
            <a:pPr algn="r" indent="0" marL="0">
              <a:buNone/>
            </a:pPr>
            <a:r>
              <a:rPr lang="en-US" sz="1400" b="1" dirty="0">
                <a:solidFill>
                  <a:srgbClr val="C7A867"/>
                </a:solidFill>
                <a:latin typeface="Noto Sans CJK JP" pitchFamily="34" charset="0"/>
                <a:ea typeface="Noto Sans CJK JP" pitchFamily="34" charset="-122"/>
                <a:cs typeface="Noto Sans CJK JP" pitchFamily="34" charset="-120"/>
              </a:rPr>
              <a:t>11,530,000 円</a:t>
            </a:r>
            <a:endParaRPr lang="en-US" sz="1400" dirty="0"/>
          </a:p>
        </p:txBody>
      </p:sp>
      <p:sp>
        <p:nvSpPr>
          <p:cNvPr id="41" name="Text 39"/>
          <p:cNvSpPr/>
          <p:nvPr/>
        </p:nvSpPr>
        <p:spPr>
          <a:xfrm>
            <a:off x="6519672" y="4956048"/>
            <a:ext cx="5029200" cy="274320"/>
          </a:xfrm>
          <a:prstGeom prst="rect">
            <a:avLst/>
          </a:prstGeom>
          <a:noFill/>
          <a:ln/>
        </p:spPr>
        <p:txBody>
          <a:bodyPr wrap="square" lIns="0" tIns="0" rIns="0" bIns="0" rtlCol="0" anchor="ctr"/>
          <a:lstStyle/>
          <a:p>
            <a:pPr algn="l" indent="0" marL="0">
              <a:buNone/>
            </a:pPr>
            <a:r>
              <a:rPr lang="en-US" sz="1100" b="1" dirty="0">
                <a:solidFill>
                  <a:srgbClr val="0F2747"/>
                </a:solidFill>
                <a:latin typeface="Noto Sans CJK JP" pitchFamily="34" charset="0"/>
                <a:ea typeface="Noto Sans CJK JP" pitchFamily="34" charset="-122"/>
                <a:cs typeface="Noto Sans CJK JP" pitchFamily="34" charset="-120"/>
              </a:rPr>
              <a:t>千葉県業務用設備等脱炭素化促進事業補助金</a:t>
            </a:r>
            <a:endParaRPr lang="en-US" sz="1100" dirty="0"/>
          </a:p>
        </p:txBody>
      </p:sp>
      <p:sp>
        <p:nvSpPr>
          <p:cNvPr id="42" name="Text 40"/>
          <p:cNvSpPr/>
          <p:nvPr/>
        </p:nvSpPr>
        <p:spPr>
          <a:xfrm>
            <a:off x="6583680" y="5230368"/>
            <a:ext cx="4937760" cy="914400"/>
          </a:xfrm>
          <a:prstGeom prst="rect">
            <a:avLst/>
          </a:prstGeom>
          <a:noFill/>
          <a:ln/>
        </p:spPr>
        <p:txBody>
          <a:bodyPr wrap="square" lIns="0" tIns="0" rIns="0" bIns="0" rtlCol="0" anchor="t"/>
          <a:lstStyle/>
          <a:p>
            <a:pPr algn="l" marL="342900" indent="-342900">
              <a:spcAft>
                <a:spcPts val="400"/>
              </a:spcAft>
              <a:buSzPct val="100000"/>
              <a:buChar char="●"/>
            </a:pPr>
            <a:r>
              <a:rPr lang="en-US" sz="900" dirty="0">
                <a:solidFill>
                  <a:srgbClr val="1A2B40"/>
                </a:solidFill>
                <a:latin typeface="Noto Sans CJK JP" pitchFamily="34" charset="0"/>
                <a:ea typeface="Noto Sans CJK JP" pitchFamily="34" charset="-122"/>
                <a:cs typeface="Noto Sans CJK JP" pitchFamily="34" charset="-120"/>
              </a:rPr>
              <a:t>対象：中小事業者の蓄電池設置（再エネ電力を蓄電）</a:t>
            </a:r>
            <a:endParaRPr lang="en-US" sz="900" dirty="0"/>
          </a:p>
          <a:p>
            <a:pPr algn="l" marL="342900" indent="-342900">
              <a:spcAft>
                <a:spcPts val="400"/>
              </a:spcAft>
              <a:buSzPct val="100000"/>
              <a:buChar char="●"/>
            </a:pPr>
            <a:r>
              <a:rPr lang="en-US" sz="900" dirty="0">
                <a:solidFill>
                  <a:srgbClr val="1A2B40"/>
                </a:solidFill>
                <a:latin typeface="Noto Sans CJK JP" pitchFamily="34" charset="0"/>
                <a:ea typeface="Noto Sans CJK JP" pitchFamily="34" charset="-122"/>
                <a:cs typeface="Noto Sans CJK JP" pitchFamily="34" charset="-120"/>
              </a:rPr>
              <a:t>補助率： 1/2 （省エネ診断あり / 上限 1,000 万円）</a:t>
            </a:r>
            <a:endParaRPr lang="en-US" sz="900" dirty="0"/>
          </a:p>
          <a:p>
            <a:pPr algn="l" marL="342900" indent="-342900">
              <a:spcAft>
                <a:spcPts val="400"/>
              </a:spcAft>
              <a:buSzPct val="100000"/>
              <a:buChar char="●"/>
            </a:pPr>
            <a:r>
              <a:rPr lang="en-US" sz="900" dirty="0">
                <a:solidFill>
                  <a:srgbClr val="1A2B40"/>
                </a:solidFill>
                <a:latin typeface="Noto Sans CJK JP" pitchFamily="34" charset="0"/>
                <a:ea typeface="Noto Sans CJK JP" pitchFamily="34" charset="-122"/>
                <a:cs typeface="Noto Sans CJK JP" pitchFamily="34" charset="-120"/>
              </a:rPr>
              <a:t>要件：① CO₂ スマート宣言 ②省エネ診断 ③ CO₂ 削減 3t 以上 / 年</a:t>
            </a:r>
            <a:endParaRPr lang="en-US" sz="900" dirty="0"/>
          </a:p>
          <a:p>
            <a:pPr algn="l" marL="342900" indent="-342900">
              <a:spcAft>
                <a:spcPts val="400"/>
              </a:spcAft>
              <a:buSzPct val="100000"/>
              <a:buChar char="●"/>
            </a:pPr>
            <a:r>
              <a:rPr lang="en-US" sz="900" dirty="0">
                <a:solidFill>
                  <a:srgbClr val="1A2B40"/>
                </a:solidFill>
                <a:latin typeface="Noto Sans CJK JP" pitchFamily="34" charset="0"/>
                <a:ea typeface="Noto Sans CJK JP" pitchFamily="34" charset="-122"/>
                <a:cs typeface="Noto Sans CJK JP" pitchFamily="34" charset="-120"/>
              </a:rPr>
              <a:t>募集：例年 5 〜 10 月 / R8 年度内容は準備中・予算先着</a:t>
            </a:r>
            <a:endParaRPr lang="en-US" sz="900" dirty="0"/>
          </a:p>
          <a:p>
            <a:pPr algn="l" marL="342900" indent="-342900">
              <a:buSzPct val="100000"/>
              <a:buChar char="●"/>
            </a:pPr>
            <a:r>
              <a:rPr lang="en-US" sz="900" dirty="0">
                <a:solidFill>
                  <a:srgbClr val="1A2B40"/>
                </a:solidFill>
                <a:latin typeface="Noto Sans CJK JP" pitchFamily="34" charset="0"/>
                <a:ea typeface="Noto Sans CJK JP" pitchFamily="34" charset="-122"/>
                <a:cs typeface="Noto Sans CJK JP" pitchFamily="34" charset="-120"/>
              </a:rPr>
              <a:t>注意：交付決定前は着工不可 / 早期申請が必須</a:t>
            </a:r>
            <a:endParaRPr lang="en-US" sz="900" dirty="0"/>
          </a:p>
        </p:txBody>
      </p:sp>
      <p:sp>
        <p:nvSpPr>
          <p:cNvPr id="43" name="Text 41"/>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44" name="Text 42"/>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8 / 20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04</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D 案：省エネ・創エネ ダブルプラン（推奨）</a:t>
            </a:r>
            <a:endParaRPr lang="en-US" sz="3000" dirty="0"/>
          </a:p>
        </p:txBody>
      </p:sp>
      <p:sp>
        <p:nvSpPr>
          <p:cNvPr id="4" name="Shape 2"/>
          <p:cNvSpPr/>
          <p:nvPr/>
        </p:nvSpPr>
        <p:spPr>
          <a:xfrm>
            <a:off x="457200" y="1463040"/>
            <a:ext cx="11274552" cy="1078992"/>
          </a:xfrm>
          <a:prstGeom prst="rect">
            <a:avLst/>
          </a:prstGeom>
          <a:solidFill>
            <a:srgbClr val="0F2747"/>
          </a:solidFill>
          <a:ln/>
        </p:spPr>
      </p:sp>
      <p:sp>
        <p:nvSpPr>
          <p:cNvPr id="5" name="Text 3"/>
          <p:cNvSpPr/>
          <p:nvPr/>
        </p:nvSpPr>
        <p:spPr>
          <a:xfrm>
            <a:off x="685800" y="1554480"/>
            <a:ext cx="10881360" cy="365760"/>
          </a:xfrm>
          <a:prstGeom prst="rect">
            <a:avLst/>
          </a:prstGeom>
          <a:noFill/>
          <a:ln/>
        </p:spPr>
        <p:txBody>
          <a:bodyPr wrap="square" lIns="0" tIns="0" rIns="0" bIns="0" rtlCol="0" anchor="ctr"/>
          <a:lstStyle/>
          <a:p>
            <a:pPr algn="l" indent="0" marL="0">
              <a:buNone/>
            </a:pPr>
            <a:r>
              <a:rPr lang="en-US" sz="1400" b="1" dirty="0">
                <a:solidFill>
                  <a:srgbClr val="C7A867"/>
                </a:solidFill>
                <a:latin typeface="Noto Sans CJK JP" pitchFamily="34" charset="0"/>
                <a:ea typeface="Noto Sans CJK JP" pitchFamily="34" charset="-122"/>
                <a:cs typeface="Noto Sans CJK JP" pitchFamily="34" charset="-120"/>
              </a:rPr>
              <a:t>「使う量を減らす」省エネ × 「自分でつくる」創エネ ― 建物資産価値を両側から上げる経営戦略</a:t>
            </a:r>
            <a:endParaRPr lang="en-US" sz="1400" dirty="0"/>
          </a:p>
        </p:txBody>
      </p:sp>
      <p:sp>
        <p:nvSpPr>
          <p:cNvPr id="6" name="Text 4"/>
          <p:cNvSpPr/>
          <p:nvPr/>
        </p:nvSpPr>
        <p:spPr>
          <a:xfrm>
            <a:off x="685800" y="1920240"/>
            <a:ext cx="10881360" cy="566928"/>
          </a:xfrm>
          <a:prstGeom prst="rect">
            <a:avLst/>
          </a:prstGeom>
          <a:noFill/>
          <a:ln/>
        </p:spPr>
        <p:txBody>
          <a:bodyPr wrap="square" lIns="0" tIns="0" rIns="0" bIns="0" rtlCol="0" anchor="ctr"/>
          <a:lstStyle/>
          <a:p>
            <a:pPr algn="l" indent="0" marL="0">
              <a:lnSpc>
                <a:spcPct val="125000"/>
              </a:lnSpc>
              <a:buNone/>
            </a:pPr>
            <a:r>
              <a:rPr lang="en-US" sz="1150" dirty="0">
                <a:solidFill>
                  <a:srgbClr val="FFFFFF"/>
                </a:solidFill>
                <a:latin typeface="Noto Sans CJK JP" pitchFamily="34" charset="0"/>
                <a:ea typeface="Noto Sans CJK JP" pitchFamily="34" charset="-122"/>
                <a:cs typeface="Noto Sans CJK JP" pitchFamily="34" charset="-120"/>
              </a:rPr>
              <a:t>電気代削減（ C 案と同等）に加え、窓断熱コート + 屋根遮熱ポリウレアで空調の電気代を 30% カット。冷暖房を我慢なく使えるようになります。</a:t>
            </a:r>
            <a:endParaRPr lang="en-US" sz="1150" dirty="0"/>
          </a:p>
          <a:p>
            <a:pPr algn="l" indent="0" marL="0">
              <a:lnSpc>
                <a:spcPct val="125000"/>
              </a:lnSpc>
              <a:buNone/>
            </a:pPr>
            <a:r>
              <a:rPr lang="en-US" sz="1150" dirty="0">
                <a:solidFill>
                  <a:srgbClr val="FFFFFF"/>
                </a:solidFill>
                <a:latin typeface="Noto Sans CJK JP" pitchFamily="34" charset="0"/>
                <a:ea typeface="Noto Sans CJK JP" pitchFamily="34" charset="-122"/>
                <a:cs typeface="Noto Sans CJK JP" pitchFamily="34" charset="-120"/>
              </a:rPr>
              <a:t>塩害・紫外線・劣化から建物を守り、修繕費を今の価格で固定。さらに補助金で半額に抑えます。</a:t>
            </a:r>
            <a:endParaRPr lang="en-US" sz="1150" dirty="0"/>
          </a:p>
        </p:txBody>
      </p:sp>
      <p:sp>
        <p:nvSpPr>
          <p:cNvPr id="7" name="Shape 5"/>
          <p:cNvSpPr/>
          <p:nvPr/>
        </p:nvSpPr>
        <p:spPr>
          <a:xfrm>
            <a:off x="457200" y="2697480"/>
            <a:ext cx="2715768" cy="3017520"/>
          </a:xfrm>
          <a:prstGeom prst="rect">
            <a:avLst/>
          </a:prstGeom>
          <a:solidFill>
            <a:srgbClr val="FFFFFF"/>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8" name="Shape 6"/>
          <p:cNvSpPr/>
          <p:nvPr/>
        </p:nvSpPr>
        <p:spPr>
          <a:xfrm>
            <a:off x="457200" y="2697480"/>
            <a:ext cx="2715768" cy="54864"/>
          </a:xfrm>
          <a:prstGeom prst="rect">
            <a:avLst/>
          </a:prstGeom>
          <a:solidFill>
            <a:srgbClr val="4A90D9"/>
          </a:solidFill>
          <a:ln/>
        </p:spPr>
      </p:sp>
      <p:sp>
        <p:nvSpPr>
          <p:cNvPr id="9" name="Text 7"/>
          <p:cNvSpPr/>
          <p:nvPr/>
        </p:nvSpPr>
        <p:spPr>
          <a:xfrm>
            <a:off x="640080" y="2843784"/>
            <a:ext cx="2441448" cy="219456"/>
          </a:xfrm>
          <a:prstGeom prst="rect">
            <a:avLst/>
          </a:prstGeom>
          <a:noFill/>
          <a:ln/>
        </p:spPr>
        <p:txBody>
          <a:bodyPr wrap="square" lIns="0" tIns="0" rIns="0" bIns="0" rtlCol="0" anchor="ctr"/>
          <a:lstStyle/>
          <a:p>
            <a:pPr algn="l" indent="0" marL="0">
              <a:buNone/>
            </a:pPr>
            <a:r>
              <a:rPr lang="en-US" sz="900" b="1" spc="200" kern="0" dirty="0">
                <a:solidFill>
                  <a:srgbClr val="4A90D9"/>
                </a:solidFill>
                <a:latin typeface="Noto Sans CJK JP" pitchFamily="34" charset="0"/>
                <a:ea typeface="Noto Sans CJK JP" pitchFamily="34" charset="-122"/>
                <a:cs typeface="Noto Sans CJK JP" pitchFamily="34" charset="-120"/>
              </a:rPr>
              <a:t>SAVE ENERGY</a:t>
            </a:r>
            <a:endParaRPr lang="en-US" sz="900" dirty="0"/>
          </a:p>
        </p:txBody>
      </p:sp>
      <p:sp>
        <p:nvSpPr>
          <p:cNvPr id="10" name="Text 8"/>
          <p:cNvSpPr/>
          <p:nvPr/>
        </p:nvSpPr>
        <p:spPr>
          <a:xfrm>
            <a:off x="640080" y="3081528"/>
            <a:ext cx="2441448" cy="329184"/>
          </a:xfrm>
          <a:prstGeom prst="rect">
            <a:avLst/>
          </a:prstGeom>
          <a:noFill/>
          <a:ln/>
        </p:spPr>
        <p:txBody>
          <a:bodyPr wrap="square" lIns="0" tIns="0" rIns="0" bIns="0" rtlCol="0" anchor="ctr"/>
          <a:lstStyle/>
          <a:p>
            <a:pPr algn="l" indent="0" marL="0">
              <a:buNone/>
            </a:pPr>
            <a:r>
              <a:rPr lang="en-US" sz="1450" b="1" dirty="0">
                <a:solidFill>
                  <a:srgbClr val="0F2747"/>
                </a:solidFill>
                <a:latin typeface="Noto Sans CJK JP" pitchFamily="34" charset="0"/>
                <a:ea typeface="Noto Sans CJK JP" pitchFamily="34" charset="-122"/>
                <a:cs typeface="Noto Sans CJK JP" pitchFamily="34" charset="-120"/>
              </a:rPr>
              <a:t>① 窓断熱コート</a:t>
            </a:r>
            <a:endParaRPr lang="en-US" sz="1450" dirty="0"/>
          </a:p>
        </p:txBody>
      </p:sp>
      <p:sp>
        <p:nvSpPr>
          <p:cNvPr id="11" name="Text 9"/>
          <p:cNvSpPr/>
          <p:nvPr/>
        </p:nvSpPr>
        <p:spPr>
          <a:xfrm>
            <a:off x="640080" y="3447288"/>
            <a:ext cx="2441448" cy="237744"/>
          </a:xfrm>
          <a:prstGeom prst="rect">
            <a:avLst/>
          </a:prstGeom>
          <a:noFill/>
          <a:ln/>
        </p:spPr>
        <p:txBody>
          <a:bodyPr wrap="square" lIns="0" tIns="0" rIns="0" bIns="0" rtlCol="0" anchor="ctr"/>
          <a:lstStyle/>
          <a:p>
            <a:pPr algn="l" indent="0" marL="0">
              <a:buNone/>
            </a:pPr>
            <a:r>
              <a:rPr lang="en-US" sz="900" dirty="0">
                <a:solidFill>
                  <a:srgbClr val="6B7280"/>
                </a:solidFill>
                <a:latin typeface="Noto Sans CJK JP" pitchFamily="34" charset="0"/>
                <a:ea typeface="Noto Sans CJK JP" pitchFamily="34" charset="-122"/>
                <a:cs typeface="Noto Sans CJK JP" pitchFamily="34" charset="-120"/>
              </a:rPr>
              <a:t>概算 120 m²</a:t>
            </a:r>
            <a:endParaRPr lang="en-US" sz="900" dirty="0"/>
          </a:p>
        </p:txBody>
      </p:sp>
      <p:sp>
        <p:nvSpPr>
          <p:cNvPr id="12" name="Text 10"/>
          <p:cNvSpPr/>
          <p:nvPr/>
        </p:nvSpPr>
        <p:spPr>
          <a:xfrm>
            <a:off x="640080" y="3703320"/>
            <a:ext cx="2441448" cy="502920"/>
          </a:xfrm>
          <a:prstGeom prst="rect">
            <a:avLst/>
          </a:prstGeom>
          <a:noFill/>
          <a:ln/>
        </p:spPr>
        <p:txBody>
          <a:bodyPr wrap="square" lIns="0" tIns="0" rIns="0" bIns="0" rtlCol="0" anchor="ctr"/>
          <a:lstStyle/>
          <a:p>
            <a:pPr algn="l" indent="0" marL="0">
              <a:lnSpc>
                <a:spcPct val="100000"/>
              </a:lnSpc>
              <a:buNone/>
            </a:pPr>
            <a:r>
              <a:rPr lang="en-US" sz="1400" b="1" dirty="0">
                <a:solidFill>
                  <a:srgbClr val="4A90D9"/>
                </a:solidFill>
                <a:latin typeface="Noto Sans CJK JP" pitchFamily="34" charset="0"/>
                <a:ea typeface="Noto Sans CJK JP" pitchFamily="34" charset="-122"/>
                <a:cs typeface="Noto Sans CJK JP" pitchFamily="34" charset="-120"/>
              </a:rPr>
              <a:t>約 144 万円 ( 税抜 )</a:t>
            </a:r>
            <a:endParaRPr lang="en-US" sz="1400" dirty="0"/>
          </a:p>
        </p:txBody>
      </p:sp>
      <p:sp>
        <p:nvSpPr>
          <p:cNvPr id="13" name="Text 11"/>
          <p:cNvSpPr/>
          <p:nvPr/>
        </p:nvSpPr>
        <p:spPr>
          <a:xfrm>
            <a:off x="658368" y="4297680"/>
            <a:ext cx="2331720" cy="1325880"/>
          </a:xfrm>
          <a:prstGeom prst="rect">
            <a:avLst/>
          </a:prstGeom>
          <a:noFill/>
          <a:ln/>
        </p:spPr>
        <p:txBody>
          <a:bodyPr wrap="square" lIns="0" tIns="0" rIns="0" bIns="0" rtlCol="0" anchor="t"/>
          <a:lstStyle/>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夏の遮熱・冬の断熱</a:t>
            </a:r>
            <a:endParaRPr lang="en-US" sz="950" dirty="0"/>
          </a:p>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結露・ UV99% カット</a:t>
            </a:r>
            <a:endParaRPr lang="en-US" sz="950" dirty="0"/>
          </a:p>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業務止めず後付け施工</a:t>
            </a:r>
            <a:endParaRPr lang="en-US" sz="950" dirty="0"/>
          </a:p>
        </p:txBody>
      </p:sp>
      <p:sp>
        <p:nvSpPr>
          <p:cNvPr id="14" name="Shape 12"/>
          <p:cNvSpPr/>
          <p:nvPr/>
        </p:nvSpPr>
        <p:spPr>
          <a:xfrm>
            <a:off x="3319272" y="2697480"/>
            <a:ext cx="2715768" cy="3017520"/>
          </a:xfrm>
          <a:prstGeom prst="rect">
            <a:avLst/>
          </a:prstGeom>
          <a:solidFill>
            <a:srgbClr val="FFFFFF"/>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15" name="Shape 13"/>
          <p:cNvSpPr/>
          <p:nvPr/>
        </p:nvSpPr>
        <p:spPr>
          <a:xfrm>
            <a:off x="3319272" y="2697480"/>
            <a:ext cx="2715768" cy="54864"/>
          </a:xfrm>
          <a:prstGeom prst="rect">
            <a:avLst/>
          </a:prstGeom>
          <a:solidFill>
            <a:srgbClr val="1FA383"/>
          </a:solidFill>
          <a:ln/>
        </p:spPr>
      </p:sp>
      <p:sp>
        <p:nvSpPr>
          <p:cNvPr id="16" name="Text 14"/>
          <p:cNvSpPr/>
          <p:nvPr/>
        </p:nvSpPr>
        <p:spPr>
          <a:xfrm>
            <a:off x="3502152" y="2843784"/>
            <a:ext cx="2441448" cy="219456"/>
          </a:xfrm>
          <a:prstGeom prst="rect">
            <a:avLst/>
          </a:prstGeom>
          <a:noFill/>
          <a:ln/>
        </p:spPr>
        <p:txBody>
          <a:bodyPr wrap="square" lIns="0" tIns="0" rIns="0" bIns="0" rtlCol="0" anchor="ctr"/>
          <a:lstStyle/>
          <a:p>
            <a:pPr algn="l" indent="0" marL="0">
              <a:buNone/>
            </a:pPr>
            <a:r>
              <a:rPr lang="en-US" sz="900" b="1" spc="200" kern="0" dirty="0">
                <a:solidFill>
                  <a:srgbClr val="1FA383"/>
                </a:solidFill>
                <a:latin typeface="Noto Sans CJK JP" pitchFamily="34" charset="0"/>
                <a:ea typeface="Noto Sans CJK JP" pitchFamily="34" charset="-122"/>
                <a:cs typeface="Noto Sans CJK JP" pitchFamily="34" charset="-120"/>
              </a:rPr>
              <a:t>SAVE ENERGY</a:t>
            </a:r>
            <a:endParaRPr lang="en-US" sz="900" dirty="0"/>
          </a:p>
        </p:txBody>
      </p:sp>
      <p:sp>
        <p:nvSpPr>
          <p:cNvPr id="17" name="Text 15"/>
          <p:cNvSpPr/>
          <p:nvPr/>
        </p:nvSpPr>
        <p:spPr>
          <a:xfrm>
            <a:off x="3502152" y="3081528"/>
            <a:ext cx="2441448" cy="329184"/>
          </a:xfrm>
          <a:prstGeom prst="rect">
            <a:avLst/>
          </a:prstGeom>
          <a:noFill/>
          <a:ln/>
        </p:spPr>
        <p:txBody>
          <a:bodyPr wrap="square" lIns="0" tIns="0" rIns="0" bIns="0" rtlCol="0" anchor="ctr"/>
          <a:lstStyle/>
          <a:p>
            <a:pPr algn="l" indent="0" marL="0">
              <a:buNone/>
            </a:pPr>
            <a:r>
              <a:rPr lang="en-US" sz="1450" b="1" dirty="0">
                <a:solidFill>
                  <a:srgbClr val="0F2747"/>
                </a:solidFill>
                <a:latin typeface="Noto Sans CJK JP" pitchFamily="34" charset="0"/>
                <a:ea typeface="Noto Sans CJK JP" pitchFamily="34" charset="-122"/>
                <a:cs typeface="Noto Sans CJK JP" pitchFamily="34" charset="-120"/>
              </a:rPr>
              <a:t>② ポリウレア + 足場</a:t>
            </a:r>
            <a:endParaRPr lang="en-US" sz="1450" dirty="0"/>
          </a:p>
        </p:txBody>
      </p:sp>
      <p:sp>
        <p:nvSpPr>
          <p:cNvPr id="18" name="Text 16"/>
          <p:cNvSpPr/>
          <p:nvPr/>
        </p:nvSpPr>
        <p:spPr>
          <a:xfrm>
            <a:off x="3502152" y="3447288"/>
            <a:ext cx="2441448" cy="237744"/>
          </a:xfrm>
          <a:prstGeom prst="rect">
            <a:avLst/>
          </a:prstGeom>
          <a:noFill/>
          <a:ln/>
        </p:spPr>
        <p:txBody>
          <a:bodyPr wrap="square" lIns="0" tIns="0" rIns="0" bIns="0" rtlCol="0" anchor="ctr"/>
          <a:lstStyle/>
          <a:p>
            <a:pPr algn="l" indent="0" marL="0">
              <a:buNone/>
            </a:pPr>
            <a:r>
              <a:rPr lang="en-US" sz="900" dirty="0">
                <a:solidFill>
                  <a:srgbClr val="6B7280"/>
                </a:solidFill>
                <a:latin typeface="Noto Sans CJK JP" pitchFamily="34" charset="0"/>
                <a:ea typeface="Noto Sans CJK JP" pitchFamily="34" charset="-122"/>
                <a:cs typeface="Noto Sans CJK JP" pitchFamily="34" charset="-120"/>
              </a:rPr>
              <a:t>屋根 + 外壁 2,900 ㎡ / 昇降足場 1 回</a:t>
            </a:r>
            <a:endParaRPr lang="en-US" sz="900" dirty="0"/>
          </a:p>
        </p:txBody>
      </p:sp>
      <p:sp>
        <p:nvSpPr>
          <p:cNvPr id="19" name="Text 17"/>
          <p:cNvSpPr/>
          <p:nvPr/>
        </p:nvSpPr>
        <p:spPr>
          <a:xfrm>
            <a:off x="3502152" y="3703320"/>
            <a:ext cx="2441448" cy="502920"/>
          </a:xfrm>
          <a:prstGeom prst="rect">
            <a:avLst/>
          </a:prstGeom>
          <a:noFill/>
          <a:ln/>
        </p:spPr>
        <p:txBody>
          <a:bodyPr wrap="square" lIns="0" tIns="0" rIns="0" bIns="0" rtlCol="0" anchor="ctr"/>
          <a:lstStyle/>
          <a:p>
            <a:pPr algn="l" indent="0" marL="0">
              <a:lnSpc>
                <a:spcPct val="100000"/>
              </a:lnSpc>
              <a:buNone/>
            </a:pPr>
            <a:r>
              <a:rPr lang="en-US" sz="1400" b="1" dirty="0">
                <a:solidFill>
                  <a:srgbClr val="1FA383"/>
                </a:solidFill>
                <a:latin typeface="Noto Sans CJK JP" pitchFamily="34" charset="0"/>
                <a:ea typeface="Noto Sans CJK JP" pitchFamily="34" charset="-122"/>
                <a:cs typeface="Noto Sans CJK JP" pitchFamily="34" charset="-120"/>
              </a:rPr>
              <a:t>実質 2,277 万円 ( 税込 / 補助後 )</a:t>
            </a:r>
            <a:endParaRPr lang="en-US" sz="1400" dirty="0"/>
          </a:p>
        </p:txBody>
      </p:sp>
      <p:sp>
        <p:nvSpPr>
          <p:cNvPr id="20" name="Text 18"/>
          <p:cNvSpPr/>
          <p:nvPr/>
        </p:nvSpPr>
        <p:spPr>
          <a:xfrm>
            <a:off x="3520440" y="4297680"/>
            <a:ext cx="2331720" cy="1325880"/>
          </a:xfrm>
          <a:prstGeom prst="rect">
            <a:avLst/>
          </a:prstGeom>
          <a:noFill/>
          <a:ln/>
        </p:spPr>
        <p:txBody>
          <a:bodyPr wrap="square" lIns="0" tIns="0" rIns="0" bIns="0" rtlCol="0" anchor="t"/>
          <a:lstStyle/>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税込 2,840 万→単独補助 1,291 万</a:t>
            </a:r>
            <a:endParaRPr lang="en-US" sz="950" dirty="0"/>
          </a:p>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塗装 + 脱着工事 一切不要に</a:t>
            </a:r>
            <a:endParaRPr lang="en-US" sz="950" dirty="0"/>
          </a:p>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防水 / 防錆 10 年保証・ 20 年以上耐候</a:t>
            </a:r>
            <a:endParaRPr lang="en-US" sz="950" dirty="0"/>
          </a:p>
        </p:txBody>
      </p:sp>
      <p:sp>
        <p:nvSpPr>
          <p:cNvPr id="21" name="Shape 19"/>
          <p:cNvSpPr/>
          <p:nvPr/>
        </p:nvSpPr>
        <p:spPr>
          <a:xfrm>
            <a:off x="6181344" y="2697480"/>
            <a:ext cx="2715768" cy="3017520"/>
          </a:xfrm>
          <a:prstGeom prst="rect">
            <a:avLst/>
          </a:prstGeom>
          <a:solidFill>
            <a:srgbClr val="FFFFFF"/>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22" name="Shape 20"/>
          <p:cNvSpPr/>
          <p:nvPr/>
        </p:nvSpPr>
        <p:spPr>
          <a:xfrm>
            <a:off x="6181344" y="2697480"/>
            <a:ext cx="2715768" cy="54864"/>
          </a:xfrm>
          <a:prstGeom prst="rect">
            <a:avLst/>
          </a:prstGeom>
          <a:solidFill>
            <a:srgbClr val="B89A55"/>
          </a:solidFill>
          <a:ln/>
        </p:spPr>
      </p:sp>
      <p:sp>
        <p:nvSpPr>
          <p:cNvPr id="23" name="Text 21"/>
          <p:cNvSpPr/>
          <p:nvPr/>
        </p:nvSpPr>
        <p:spPr>
          <a:xfrm>
            <a:off x="6364224" y="2843784"/>
            <a:ext cx="2441448" cy="219456"/>
          </a:xfrm>
          <a:prstGeom prst="rect">
            <a:avLst/>
          </a:prstGeom>
          <a:noFill/>
          <a:ln/>
        </p:spPr>
        <p:txBody>
          <a:bodyPr wrap="square" lIns="0" tIns="0" rIns="0" bIns="0" rtlCol="0" anchor="ctr"/>
          <a:lstStyle/>
          <a:p>
            <a:pPr algn="l" indent="0" marL="0">
              <a:buNone/>
            </a:pPr>
            <a:r>
              <a:rPr lang="en-US" sz="900" b="1" spc="200" kern="0" dirty="0">
                <a:solidFill>
                  <a:srgbClr val="B89A55"/>
                </a:solidFill>
                <a:latin typeface="Noto Sans CJK JP" pitchFamily="34" charset="0"/>
                <a:ea typeface="Noto Sans CJK JP" pitchFamily="34" charset="-122"/>
                <a:cs typeface="Noto Sans CJK JP" pitchFamily="34" charset="-120"/>
              </a:rPr>
              <a:t>CREATE ENERGY</a:t>
            </a:r>
            <a:endParaRPr lang="en-US" sz="900" dirty="0"/>
          </a:p>
        </p:txBody>
      </p:sp>
      <p:sp>
        <p:nvSpPr>
          <p:cNvPr id="24" name="Text 22"/>
          <p:cNvSpPr/>
          <p:nvPr/>
        </p:nvSpPr>
        <p:spPr>
          <a:xfrm>
            <a:off x="6364224" y="3081528"/>
            <a:ext cx="2441448" cy="329184"/>
          </a:xfrm>
          <a:prstGeom prst="rect">
            <a:avLst/>
          </a:prstGeom>
          <a:noFill/>
          <a:ln/>
        </p:spPr>
        <p:txBody>
          <a:bodyPr wrap="square" lIns="0" tIns="0" rIns="0" bIns="0" rtlCol="0" anchor="ctr"/>
          <a:lstStyle/>
          <a:p>
            <a:pPr algn="l" indent="0" marL="0">
              <a:buNone/>
            </a:pPr>
            <a:r>
              <a:rPr lang="en-US" sz="1450" b="1" dirty="0">
                <a:solidFill>
                  <a:srgbClr val="0F2747"/>
                </a:solidFill>
                <a:latin typeface="Noto Sans CJK JP" pitchFamily="34" charset="0"/>
                <a:ea typeface="Noto Sans CJK JP" pitchFamily="34" charset="-122"/>
                <a:cs typeface="Noto Sans CJK JP" pitchFamily="34" charset="-120"/>
              </a:rPr>
              <a:t>③ 太陽光自家消費</a:t>
            </a:r>
            <a:endParaRPr lang="en-US" sz="1450" dirty="0"/>
          </a:p>
        </p:txBody>
      </p:sp>
      <p:sp>
        <p:nvSpPr>
          <p:cNvPr id="25" name="Text 23"/>
          <p:cNvSpPr/>
          <p:nvPr/>
        </p:nvSpPr>
        <p:spPr>
          <a:xfrm>
            <a:off x="6364224" y="3447288"/>
            <a:ext cx="2441448" cy="237744"/>
          </a:xfrm>
          <a:prstGeom prst="rect">
            <a:avLst/>
          </a:prstGeom>
          <a:noFill/>
          <a:ln/>
        </p:spPr>
        <p:txBody>
          <a:bodyPr wrap="square" lIns="0" tIns="0" rIns="0" bIns="0" rtlCol="0" anchor="ctr"/>
          <a:lstStyle/>
          <a:p>
            <a:pPr algn="l" indent="0" marL="0">
              <a:buNone/>
            </a:pPr>
            <a:r>
              <a:rPr lang="en-US" sz="900" dirty="0">
                <a:solidFill>
                  <a:srgbClr val="6B7280"/>
                </a:solidFill>
                <a:latin typeface="Noto Sans CJK JP" pitchFamily="34" charset="0"/>
                <a:ea typeface="Noto Sans CJK JP" pitchFamily="34" charset="-122"/>
                <a:cs typeface="Noto Sans CJK JP" pitchFamily="34" charset="-120"/>
              </a:rPr>
              <a:t>既設 63kW 流用</a:t>
            </a:r>
            <a:endParaRPr lang="en-US" sz="900" dirty="0"/>
          </a:p>
        </p:txBody>
      </p:sp>
      <p:sp>
        <p:nvSpPr>
          <p:cNvPr id="26" name="Text 24"/>
          <p:cNvSpPr/>
          <p:nvPr/>
        </p:nvSpPr>
        <p:spPr>
          <a:xfrm>
            <a:off x="6364224" y="3703320"/>
            <a:ext cx="2441448" cy="502920"/>
          </a:xfrm>
          <a:prstGeom prst="rect">
            <a:avLst/>
          </a:prstGeom>
          <a:noFill/>
          <a:ln/>
        </p:spPr>
        <p:txBody>
          <a:bodyPr wrap="square" lIns="0" tIns="0" rIns="0" bIns="0" rtlCol="0" anchor="ctr"/>
          <a:lstStyle/>
          <a:p>
            <a:pPr algn="l" indent="0" marL="0">
              <a:lnSpc>
                <a:spcPct val="100000"/>
              </a:lnSpc>
              <a:buNone/>
            </a:pPr>
            <a:r>
              <a:rPr lang="en-US" sz="1400" b="1" dirty="0">
                <a:solidFill>
                  <a:srgbClr val="B89A55"/>
                </a:solidFill>
                <a:latin typeface="Noto Sans CJK JP" pitchFamily="34" charset="0"/>
                <a:ea typeface="Noto Sans CJK JP" pitchFamily="34" charset="-122"/>
                <a:cs typeface="Noto Sans CJK JP" pitchFamily="34" charset="-120"/>
              </a:rPr>
              <a:t>629 万円 ( 税込 / シスコム )</a:t>
            </a:r>
            <a:endParaRPr lang="en-US" sz="1400" dirty="0"/>
          </a:p>
        </p:txBody>
      </p:sp>
      <p:sp>
        <p:nvSpPr>
          <p:cNvPr id="27" name="Text 25"/>
          <p:cNvSpPr/>
          <p:nvPr/>
        </p:nvSpPr>
        <p:spPr>
          <a:xfrm>
            <a:off x="6382512" y="4297680"/>
            <a:ext cx="2331720" cy="1325880"/>
          </a:xfrm>
          <a:prstGeom prst="rect">
            <a:avLst/>
          </a:prstGeom>
          <a:noFill/>
          <a:ln/>
        </p:spPr>
        <p:txBody>
          <a:bodyPr wrap="square" lIns="0" tIns="0" rIns="0" bIns="0" rtlCol="0" anchor="t"/>
          <a:lstStyle/>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オムロン PCS 5.5kW×9 台</a:t>
            </a:r>
            <a:endParaRPr lang="en-US" sz="950" dirty="0"/>
          </a:p>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国産・地元施工・建設業許可</a:t>
            </a:r>
            <a:endParaRPr lang="en-US" sz="950" dirty="0"/>
          </a:p>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卒 FIT 前の意思決定</a:t>
            </a:r>
            <a:endParaRPr lang="en-US" sz="950" dirty="0"/>
          </a:p>
        </p:txBody>
      </p:sp>
      <p:sp>
        <p:nvSpPr>
          <p:cNvPr id="28" name="Shape 26"/>
          <p:cNvSpPr/>
          <p:nvPr/>
        </p:nvSpPr>
        <p:spPr>
          <a:xfrm>
            <a:off x="9043416" y="2697480"/>
            <a:ext cx="2715768" cy="3017520"/>
          </a:xfrm>
          <a:prstGeom prst="rect">
            <a:avLst/>
          </a:prstGeom>
          <a:solidFill>
            <a:srgbClr val="FFFFFF"/>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29" name="Shape 27"/>
          <p:cNvSpPr/>
          <p:nvPr/>
        </p:nvSpPr>
        <p:spPr>
          <a:xfrm>
            <a:off x="9043416" y="2697480"/>
            <a:ext cx="2715768" cy="54864"/>
          </a:xfrm>
          <a:prstGeom prst="rect">
            <a:avLst/>
          </a:prstGeom>
          <a:solidFill>
            <a:srgbClr val="0F2747"/>
          </a:solidFill>
          <a:ln/>
        </p:spPr>
      </p:sp>
      <p:sp>
        <p:nvSpPr>
          <p:cNvPr id="30" name="Text 28"/>
          <p:cNvSpPr/>
          <p:nvPr/>
        </p:nvSpPr>
        <p:spPr>
          <a:xfrm>
            <a:off x="9226296" y="2843784"/>
            <a:ext cx="2441448" cy="219456"/>
          </a:xfrm>
          <a:prstGeom prst="rect">
            <a:avLst/>
          </a:prstGeom>
          <a:noFill/>
          <a:ln/>
        </p:spPr>
        <p:txBody>
          <a:bodyPr wrap="square" lIns="0" tIns="0" rIns="0" bIns="0" rtlCol="0" anchor="ctr"/>
          <a:lstStyle/>
          <a:p>
            <a:pPr algn="l" indent="0" marL="0">
              <a:buNone/>
            </a:pPr>
            <a:r>
              <a:rPr lang="en-US" sz="900" b="1" spc="200" kern="0" dirty="0">
                <a:solidFill>
                  <a:srgbClr val="0F2747"/>
                </a:solidFill>
                <a:latin typeface="Noto Sans CJK JP" pitchFamily="34" charset="0"/>
                <a:ea typeface="Noto Sans CJK JP" pitchFamily="34" charset="-122"/>
                <a:cs typeface="Noto Sans CJK JP" pitchFamily="34" charset="-120"/>
              </a:rPr>
              <a:t>CREATE ENERGY</a:t>
            </a:r>
            <a:endParaRPr lang="en-US" sz="900" dirty="0"/>
          </a:p>
        </p:txBody>
      </p:sp>
      <p:sp>
        <p:nvSpPr>
          <p:cNvPr id="31" name="Text 29"/>
          <p:cNvSpPr/>
          <p:nvPr/>
        </p:nvSpPr>
        <p:spPr>
          <a:xfrm>
            <a:off x="9226296" y="3081528"/>
            <a:ext cx="2441448" cy="329184"/>
          </a:xfrm>
          <a:prstGeom prst="rect">
            <a:avLst/>
          </a:prstGeom>
          <a:noFill/>
          <a:ln/>
        </p:spPr>
        <p:txBody>
          <a:bodyPr wrap="square" lIns="0" tIns="0" rIns="0" bIns="0" rtlCol="0" anchor="ctr"/>
          <a:lstStyle/>
          <a:p>
            <a:pPr algn="l" indent="0" marL="0">
              <a:buNone/>
            </a:pPr>
            <a:r>
              <a:rPr lang="en-US" sz="1450" b="1" dirty="0">
                <a:solidFill>
                  <a:srgbClr val="0F2747"/>
                </a:solidFill>
                <a:latin typeface="Noto Sans CJK JP" pitchFamily="34" charset="0"/>
                <a:ea typeface="Noto Sans CJK JP" pitchFamily="34" charset="-122"/>
                <a:cs typeface="Noto Sans CJK JP" pitchFamily="34" charset="-120"/>
              </a:rPr>
              <a:t>④ 蓄電池 + 補助金</a:t>
            </a:r>
            <a:endParaRPr lang="en-US" sz="1450" dirty="0"/>
          </a:p>
        </p:txBody>
      </p:sp>
      <p:sp>
        <p:nvSpPr>
          <p:cNvPr id="32" name="Text 30"/>
          <p:cNvSpPr/>
          <p:nvPr/>
        </p:nvSpPr>
        <p:spPr>
          <a:xfrm>
            <a:off x="9226296" y="3447288"/>
            <a:ext cx="2441448" cy="237744"/>
          </a:xfrm>
          <a:prstGeom prst="rect">
            <a:avLst/>
          </a:prstGeom>
          <a:noFill/>
          <a:ln/>
        </p:spPr>
        <p:txBody>
          <a:bodyPr wrap="square" lIns="0" tIns="0" rIns="0" bIns="0" rtlCol="0" anchor="ctr"/>
          <a:lstStyle/>
          <a:p>
            <a:pPr algn="l" indent="0" marL="0">
              <a:buNone/>
            </a:pPr>
            <a:r>
              <a:rPr lang="en-US" sz="900" dirty="0">
                <a:solidFill>
                  <a:srgbClr val="6B7280"/>
                </a:solidFill>
                <a:latin typeface="Noto Sans CJK JP" pitchFamily="34" charset="0"/>
                <a:ea typeface="Noto Sans CJK JP" pitchFamily="34" charset="-122"/>
                <a:cs typeface="Noto Sans CJK JP" pitchFamily="34" charset="-120"/>
              </a:rPr>
              <a:t>Powerwall 3 × 4 台 54kWh</a:t>
            </a:r>
            <a:endParaRPr lang="en-US" sz="900" dirty="0"/>
          </a:p>
        </p:txBody>
      </p:sp>
      <p:sp>
        <p:nvSpPr>
          <p:cNvPr id="33" name="Text 31"/>
          <p:cNvSpPr/>
          <p:nvPr/>
        </p:nvSpPr>
        <p:spPr>
          <a:xfrm>
            <a:off x="9226296" y="3703320"/>
            <a:ext cx="2441448" cy="502920"/>
          </a:xfrm>
          <a:prstGeom prst="rect">
            <a:avLst/>
          </a:prstGeom>
          <a:noFill/>
          <a:ln/>
        </p:spPr>
        <p:txBody>
          <a:bodyPr wrap="square" lIns="0" tIns="0" rIns="0" bIns="0" rtlCol="0" anchor="ctr"/>
          <a:lstStyle/>
          <a:p>
            <a:pPr algn="l" indent="0" marL="0">
              <a:lnSpc>
                <a:spcPct val="100000"/>
              </a:lnSpc>
              <a:buNone/>
            </a:pPr>
            <a:r>
              <a:rPr lang="en-US" sz="1400" b="1" dirty="0">
                <a:solidFill>
                  <a:srgbClr val="0F2747"/>
                </a:solidFill>
                <a:latin typeface="Noto Sans CJK JP" pitchFamily="34" charset="0"/>
                <a:ea typeface="Noto Sans CJK JP" pitchFamily="34" charset="-122"/>
                <a:cs typeface="Noto Sans CJK JP" pitchFamily="34" charset="-120"/>
              </a:rPr>
              <a:t>実質 523 万円 ( 税込 )</a:t>
            </a:r>
            <a:endParaRPr lang="en-US" sz="1400" dirty="0"/>
          </a:p>
        </p:txBody>
      </p:sp>
      <p:sp>
        <p:nvSpPr>
          <p:cNvPr id="34" name="Text 32"/>
          <p:cNvSpPr/>
          <p:nvPr/>
        </p:nvSpPr>
        <p:spPr>
          <a:xfrm>
            <a:off x="9244584" y="4297680"/>
            <a:ext cx="2331720" cy="1325880"/>
          </a:xfrm>
          <a:prstGeom prst="rect">
            <a:avLst/>
          </a:prstGeom>
          <a:noFill/>
          <a:ln/>
        </p:spPr>
        <p:txBody>
          <a:bodyPr wrap="square" lIns="0" tIns="0" rIns="0" bIns="0" rtlCol="0" anchor="t"/>
          <a:lstStyle/>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夜間 +12,871kWh 置換</a:t>
            </a:r>
            <a:endParaRPr lang="en-US" sz="950" dirty="0"/>
          </a:p>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千葉県補助 ▲ 436 万円</a:t>
            </a:r>
            <a:endParaRPr lang="en-US" sz="950" dirty="0"/>
          </a:p>
          <a:p>
            <a:pPr algn="l" marL="342900" indent="-342900">
              <a:spcAft>
                <a:spcPts val="600"/>
              </a:spcAft>
              <a:buSzPct val="100000"/>
              <a:buChar char="●"/>
            </a:pPr>
            <a:r>
              <a:rPr lang="en-US" sz="950" dirty="0">
                <a:solidFill>
                  <a:srgbClr val="1A2B40"/>
                </a:solidFill>
                <a:latin typeface="Noto Sans CJK JP" pitchFamily="34" charset="0"/>
                <a:ea typeface="Noto Sans CJK JP" pitchFamily="34" charset="-122"/>
                <a:cs typeface="Noto Sans CJK JP" pitchFamily="34" charset="-120"/>
              </a:rPr>
              <a:t>BCP 重要負荷 18h</a:t>
            </a:r>
            <a:endParaRPr lang="en-US" sz="950" dirty="0"/>
          </a:p>
        </p:txBody>
      </p:sp>
      <p:sp>
        <p:nvSpPr>
          <p:cNvPr id="35" name="Shape 33"/>
          <p:cNvSpPr/>
          <p:nvPr/>
        </p:nvSpPr>
        <p:spPr>
          <a:xfrm>
            <a:off x="457200" y="5943600"/>
            <a:ext cx="11274552" cy="566928"/>
          </a:xfrm>
          <a:prstGeom prst="rect">
            <a:avLst/>
          </a:prstGeom>
          <a:solidFill>
            <a:srgbClr val="B89A55"/>
          </a:solidFill>
          <a:ln/>
        </p:spPr>
      </p:sp>
      <p:sp>
        <p:nvSpPr>
          <p:cNvPr id="36" name="Text 34"/>
          <p:cNvSpPr/>
          <p:nvPr/>
        </p:nvSpPr>
        <p:spPr>
          <a:xfrm>
            <a:off x="457200" y="5943600"/>
            <a:ext cx="11274552" cy="566928"/>
          </a:xfrm>
          <a:prstGeom prst="rect">
            <a:avLst/>
          </a:prstGeom>
          <a:noFill/>
          <a:ln/>
        </p:spPr>
        <p:txBody>
          <a:bodyPr wrap="square" lIns="0" tIns="0" rIns="0" bIns="0" rtlCol="0" anchor="ctr"/>
          <a:lstStyle/>
          <a:p>
            <a:pPr algn="ctr" indent="0" marL="0">
              <a:buNone/>
            </a:pPr>
            <a:r>
              <a:rPr lang="en-US" sz="1200" b="1" dirty="0">
                <a:solidFill>
                  <a:srgbClr val="0F2747"/>
                </a:solidFill>
                <a:latin typeface="Noto Sans CJK JP" pitchFamily="34" charset="0"/>
                <a:ea typeface="Noto Sans CJK JP" pitchFamily="34" charset="-122"/>
                <a:cs typeface="Noto Sans CJK JP" pitchFamily="34" charset="-120"/>
              </a:rPr>
              <a:t>D プラン合計：設備 補助前 4,573 万円 → 補助 ▲ 1,000 万円 → 実質 3,573 万円 ／ 遮熱で空調電気代 30% カット ＋ 20 年屋根メンテ 2,439 万円不要</a:t>
            </a:r>
            <a:endParaRPr lang="en-US" sz="1200" dirty="0"/>
          </a:p>
        </p:txBody>
      </p:sp>
      <p:sp>
        <p:nvSpPr>
          <p:cNvPr id="37" name="Text 35"/>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38" name="Text 36"/>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9 / 20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04</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E 案：屋根のみ先行プラン（最推奨・2 段階で補助金 2,000 万円狙い）</a:t>
            </a:r>
            <a:endParaRPr lang="en-US" sz="3000" dirty="0"/>
          </a:p>
        </p:txBody>
      </p:sp>
      <p:sp>
        <p:nvSpPr>
          <p:cNvPr id="4" name="Shape 2"/>
          <p:cNvSpPr/>
          <p:nvPr/>
        </p:nvSpPr>
        <p:spPr>
          <a:xfrm>
            <a:off x="457200" y="1463040"/>
            <a:ext cx="11274552" cy="914400"/>
          </a:xfrm>
          <a:prstGeom prst="rect">
            <a:avLst/>
          </a:prstGeom>
          <a:solidFill>
            <a:srgbClr val="0F2747"/>
          </a:solidFill>
          <a:ln/>
        </p:spPr>
      </p:sp>
      <p:sp>
        <p:nvSpPr>
          <p:cNvPr id="5" name="Text 3"/>
          <p:cNvSpPr/>
          <p:nvPr/>
        </p:nvSpPr>
        <p:spPr>
          <a:xfrm>
            <a:off x="685800" y="1508760"/>
            <a:ext cx="10881360" cy="320040"/>
          </a:xfrm>
          <a:prstGeom prst="rect">
            <a:avLst/>
          </a:prstGeom>
          <a:noFill/>
          <a:ln/>
        </p:spPr>
        <p:txBody>
          <a:bodyPr wrap="square" lIns="0" tIns="0" rIns="0" bIns="0" rtlCol="0" anchor="ctr"/>
          <a:lstStyle/>
          <a:p>
            <a:pPr algn="l" indent="0" marL="0">
              <a:buNone/>
            </a:pPr>
            <a:r>
              <a:rPr lang="en-US" sz="1300" b="1" dirty="0">
                <a:solidFill>
                  <a:srgbClr val="E07D45"/>
                </a:solidFill>
                <a:latin typeface="Noto Sans CJK JP" pitchFamily="34" charset="0"/>
                <a:ea typeface="Noto Sans CJK JP" pitchFamily="34" charset="-122"/>
                <a:cs typeface="Noto Sans CJK JP" pitchFamily="34" charset="-120"/>
              </a:rPr>
              <a:t>「今年は屋根」「来年は外壁」 ― 補助金の上限 1,000 万円 / 年を 2 年で 2 回獲りに行く経営戦略</a:t>
            </a:r>
            <a:endParaRPr lang="en-US" sz="1300" dirty="0"/>
          </a:p>
        </p:txBody>
      </p:sp>
      <p:sp>
        <p:nvSpPr>
          <p:cNvPr id="6" name="Text 4"/>
          <p:cNvSpPr/>
          <p:nvPr/>
        </p:nvSpPr>
        <p:spPr>
          <a:xfrm>
            <a:off x="685800" y="1810512"/>
            <a:ext cx="10881360" cy="548640"/>
          </a:xfrm>
          <a:prstGeom prst="rect">
            <a:avLst/>
          </a:prstGeom>
          <a:noFill/>
          <a:ln/>
        </p:spPr>
        <p:txBody>
          <a:bodyPr wrap="square" lIns="0" tIns="0" rIns="0" bIns="0" rtlCol="0" anchor="ctr"/>
          <a:lstStyle/>
          <a:p>
            <a:pPr algn="l" indent="0" marL="0">
              <a:lnSpc>
                <a:spcPct val="125000"/>
              </a:lnSpc>
              <a:buNone/>
            </a:pPr>
            <a:r>
              <a:rPr lang="en-US" sz="1100" dirty="0">
                <a:solidFill>
                  <a:srgbClr val="FFFFFF"/>
                </a:solidFill>
                <a:latin typeface="Noto Sans CJK JP" pitchFamily="34" charset="0"/>
                <a:ea typeface="Noto Sans CJK JP" pitchFamily="34" charset="-122"/>
                <a:cs typeface="Noto Sans CJK JP" pitchFamily="34" charset="-120"/>
              </a:rPr>
              <a:t>D 案は一気に 2,900 ㎡を施工し補助金 1,000 万円を 1 回獲得。 E 案は 1,400 ㎡の屋根を今年、 1,500 ㎡の外壁を翌年に分け、補助金を 2 回獲得することを狙います。投資の平準化＋補助金最大化のシナリオです。</a:t>
            </a:r>
            <a:endParaRPr lang="en-US" sz="1100" dirty="0"/>
          </a:p>
        </p:txBody>
      </p:sp>
      <p:sp>
        <p:nvSpPr>
          <p:cNvPr id="7" name="Shape 5"/>
          <p:cNvSpPr/>
          <p:nvPr/>
        </p:nvSpPr>
        <p:spPr>
          <a:xfrm>
            <a:off x="457200" y="2542032"/>
            <a:ext cx="5486400" cy="3611880"/>
          </a:xfrm>
          <a:prstGeom prst="roundRect">
            <a:avLst>
              <a:gd name="adj" fmla="val 1519"/>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8" name="Shape 6"/>
          <p:cNvSpPr/>
          <p:nvPr/>
        </p:nvSpPr>
        <p:spPr>
          <a:xfrm>
            <a:off x="457200" y="2542032"/>
            <a:ext cx="5486400" cy="457200"/>
          </a:xfrm>
          <a:prstGeom prst="rect">
            <a:avLst/>
          </a:prstGeom>
          <a:solidFill>
            <a:srgbClr val="E07D45"/>
          </a:solidFill>
          <a:ln/>
        </p:spPr>
      </p:sp>
      <p:sp>
        <p:nvSpPr>
          <p:cNvPr id="9" name="Text 7"/>
          <p:cNvSpPr/>
          <p:nvPr/>
        </p:nvSpPr>
        <p:spPr>
          <a:xfrm>
            <a:off x="640080" y="2542032"/>
            <a:ext cx="521208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Noto Sans CJK JP" pitchFamily="34" charset="0"/>
                <a:ea typeface="Noto Sans CJK JP" pitchFamily="34" charset="-122"/>
                <a:cs typeface="Noto Sans CJK JP" pitchFamily="34" charset="-120"/>
              </a:rPr>
              <a:t>【今年】屋根 1,400 ㎡ ＋ 創エネ</a:t>
            </a:r>
            <a:endParaRPr lang="en-US" sz="1400" dirty="0"/>
          </a:p>
        </p:txBody>
      </p:sp>
      <p:sp>
        <p:nvSpPr>
          <p:cNvPr id="10" name="Shape 8"/>
          <p:cNvSpPr/>
          <p:nvPr/>
        </p:nvSpPr>
        <p:spPr>
          <a:xfrm>
            <a:off x="731520" y="3154680"/>
            <a:ext cx="4937760" cy="320040"/>
          </a:xfrm>
          <a:prstGeom prst="rect">
            <a:avLst/>
          </a:prstGeom>
          <a:solidFill>
            <a:srgbClr val="FFFFFF"/>
          </a:solidFill>
          <a:ln w="12700">
            <a:solidFill>
              <a:srgbClr val="E1E5EA"/>
            </a:solidFill>
            <a:prstDash val="solid"/>
          </a:ln>
        </p:spPr>
      </p:sp>
      <p:sp>
        <p:nvSpPr>
          <p:cNvPr id="11" name="Text 9"/>
          <p:cNvSpPr/>
          <p:nvPr/>
        </p:nvSpPr>
        <p:spPr>
          <a:xfrm>
            <a:off x="868680" y="3154680"/>
            <a:ext cx="3383280" cy="32004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窓断熱コート 120 ㎡</a:t>
            </a:r>
            <a:endParaRPr lang="en-US" sz="1000" dirty="0"/>
          </a:p>
        </p:txBody>
      </p:sp>
      <p:sp>
        <p:nvSpPr>
          <p:cNvPr id="12" name="Text 10"/>
          <p:cNvSpPr/>
          <p:nvPr/>
        </p:nvSpPr>
        <p:spPr>
          <a:xfrm>
            <a:off x="4297680" y="3154680"/>
            <a:ext cx="1325880" cy="320040"/>
          </a:xfrm>
          <a:prstGeom prst="rect">
            <a:avLst/>
          </a:prstGeom>
          <a:noFill/>
          <a:ln/>
        </p:spPr>
        <p:txBody>
          <a:bodyPr wrap="square" lIns="0" tIns="0" rIns="0" bIns="0" rtlCol="0" anchor="ctr"/>
          <a:lstStyle/>
          <a:p>
            <a:pPr algn="r" indent="0" marL="0">
              <a:buNone/>
            </a:pPr>
            <a:r>
              <a:rPr lang="en-US" sz="1100" b="1" dirty="0">
                <a:solidFill>
                  <a:srgbClr val="0F2747"/>
                </a:solidFill>
                <a:latin typeface="Noto Sans CJK JP" pitchFamily="34" charset="0"/>
                <a:ea typeface="Noto Sans CJK JP" pitchFamily="34" charset="-122"/>
                <a:cs typeface="Noto Sans CJK JP" pitchFamily="34" charset="-120"/>
              </a:rPr>
              <a:t>144 万円</a:t>
            </a:r>
            <a:endParaRPr lang="en-US" sz="1100" dirty="0"/>
          </a:p>
        </p:txBody>
      </p:sp>
      <p:sp>
        <p:nvSpPr>
          <p:cNvPr id="13" name="Shape 11"/>
          <p:cNvSpPr/>
          <p:nvPr/>
        </p:nvSpPr>
        <p:spPr>
          <a:xfrm>
            <a:off x="731520" y="3520440"/>
            <a:ext cx="4937760" cy="320040"/>
          </a:xfrm>
          <a:prstGeom prst="rect">
            <a:avLst/>
          </a:prstGeom>
          <a:solidFill>
            <a:srgbClr val="FFFFFF"/>
          </a:solidFill>
          <a:ln w="12700">
            <a:solidFill>
              <a:srgbClr val="E1E5EA"/>
            </a:solidFill>
            <a:prstDash val="solid"/>
          </a:ln>
        </p:spPr>
      </p:sp>
      <p:sp>
        <p:nvSpPr>
          <p:cNvPr id="14" name="Text 12"/>
          <p:cNvSpPr/>
          <p:nvPr/>
        </p:nvSpPr>
        <p:spPr>
          <a:xfrm>
            <a:off x="868680" y="3520440"/>
            <a:ext cx="3383280" cy="32004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屋根ポリウレア 1,400 ㎡</a:t>
            </a:r>
            <a:endParaRPr lang="en-US" sz="1000" dirty="0"/>
          </a:p>
        </p:txBody>
      </p:sp>
      <p:sp>
        <p:nvSpPr>
          <p:cNvPr id="15" name="Text 13"/>
          <p:cNvSpPr/>
          <p:nvPr/>
        </p:nvSpPr>
        <p:spPr>
          <a:xfrm>
            <a:off x="4297680" y="3520440"/>
            <a:ext cx="1325880" cy="320040"/>
          </a:xfrm>
          <a:prstGeom prst="rect">
            <a:avLst/>
          </a:prstGeom>
          <a:noFill/>
          <a:ln/>
        </p:spPr>
        <p:txBody>
          <a:bodyPr wrap="square" lIns="0" tIns="0" rIns="0" bIns="0" rtlCol="0" anchor="ctr"/>
          <a:lstStyle/>
          <a:p>
            <a:pPr algn="r" indent="0" marL="0">
              <a:buNone/>
            </a:pPr>
            <a:r>
              <a:rPr lang="en-US" sz="1100" b="1" dirty="0">
                <a:solidFill>
                  <a:srgbClr val="0F2747"/>
                </a:solidFill>
                <a:latin typeface="Noto Sans CJK JP" pitchFamily="34" charset="0"/>
                <a:ea typeface="Noto Sans CJK JP" pitchFamily="34" charset="-122"/>
                <a:cs typeface="Noto Sans CJK JP" pitchFamily="34" charset="-120"/>
              </a:rPr>
              <a:t>1,232 万円</a:t>
            </a:r>
            <a:endParaRPr lang="en-US" sz="1100" dirty="0"/>
          </a:p>
        </p:txBody>
      </p:sp>
      <p:sp>
        <p:nvSpPr>
          <p:cNvPr id="16" name="Shape 14"/>
          <p:cNvSpPr/>
          <p:nvPr/>
        </p:nvSpPr>
        <p:spPr>
          <a:xfrm>
            <a:off x="731520" y="3886200"/>
            <a:ext cx="4937760" cy="320040"/>
          </a:xfrm>
          <a:prstGeom prst="rect">
            <a:avLst/>
          </a:prstGeom>
          <a:solidFill>
            <a:srgbClr val="FFFFFF"/>
          </a:solidFill>
          <a:ln w="12700">
            <a:solidFill>
              <a:srgbClr val="E1E5EA"/>
            </a:solidFill>
            <a:prstDash val="solid"/>
          </a:ln>
        </p:spPr>
      </p:sp>
      <p:sp>
        <p:nvSpPr>
          <p:cNvPr id="17" name="Text 15"/>
          <p:cNvSpPr/>
          <p:nvPr/>
        </p:nvSpPr>
        <p:spPr>
          <a:xfrm>
            <a:off x="868680" y="3886200"/>
            <a:ext cx="3383280" cy="32004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昇降足場・パネル脱着</a:t>
            </a:r>
            <a:endParaRPr lang="en-US" sz="1000" dirty="0"/>
          </a:p>
        </p:txBody>
      </p:sp>
      <p:sp>
        <p:nvSpPr>
          <p:cNvPr id="18" name="Text 16"/>
          <p:cNvSpPr/>
          <p:nvPr/>
        </p:nvSpPr>
        <p:spPr>
          <a:xfrm>
            <a:off x="4297680" y="3886200"/>
            <a:ext cx="1325880" cy="320040"/>
          </a:xfrm>
          <a:prstGeom prst="rect">
            <a:avLst/>
          </a:prstGeom>
          <a:noFill/>
          <a:ln/>
        </p:spPr>
        <p:txBody>
          <a:bodyPr wrap="square" lIns="0" tIns="0" rIns="0" bIns="0" rtlCol="0" anchor="ctr"/>
          <a:lstStyle/>
          <a:p>
            <a:pPr algn="r" indent="0" marL="0">
              <a:buNone/>
            </a:pPr>
            <a:r>
              <a:rPr lang="en-US" sz="1100" b="1" dirty="0">
                <a:solidFill>
                  <a:srgbClr val="0F2747"/>
                </a:solidFill>
                <a:latin typeface="Noto Sans CJK JP" pitchFamily="34" charset="0"/>
                <a:ea typeface="Noto Sans CJK JP" pitchFamily="34" charset="-122"/>
                <a:cs typeface="Noto Sans CJK JP" pitchFamily="34" charset="-120"/>
              </a:rPr>
              <a:t>93 万円</a:t>
            </a:r>
            <a:endParaRPr lang="en-US" sz="1100" dirty="0"/>
          </a:p>
        </p:txBody>
      </p:sp>
      <p:sp>
        <p:nvSpPr>
          <p:cNvPr id="19" name="Shape 17"/>
          <p:cNvSpPr/>
          <p:nvPr/>
        </p:nvSpPr>
        <p:spPr>
          <a:xfrm>
            <a:off x="731520" y="4251960"/>
            <a:ext cx="4937760" cy="320040"/>
          </a:xfrm>
          <a:prstGeom prst="rect">
            <a:avLst/>
          </a:prstGeom>
          <a:solidFill>
            <a:srgbClr val="FFFFFF"/>
          </a:solidFill>
          <a:ln w="12700">
            <a:solidFill>
              <a:srgbClr val="E1E5EA"/>
            </a:solidFill>
            <a:prstDash val="solid"/>
          </a:ln>
        </p:spPr>
      </p:sp>
      <p:sp>
        <p:nvSpPr>
          <p:cNvPr id="20" name="Text 18"/>
          <p:cNvSpPr/>
          <p:nvPr/>
        </p:nvSpPr>
        <p:spPr>
          <a:xfrm>
            <a:off x="868680" y="4251960"/>
            <a:ext cx="3383280" cy="32004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太陽光自家消費(オムロン)</a:t>
            </a:r>
            <a:endParaRPr lang="en-US" sz="1000" dirty="0"/>
          </a:p>
        </p:txBody>
      </p:sp>
      <p:sp>
        <p:nvSpPr>
          <p:cNvPr id="21" name="Text 19"/>
          <p:cNvSpPr/>
          <p:nvPr/>
        </p:nvSpPr>
        <p:spPr>
          <a:xfrm>
            <a:off x="4297680" y="4251960"/>
            <a:ext cx="1325880" cy="320040"/>
          </a:xfrm>
          <a:prstGeom prst="rect">
            <a:avLst/>
          </a:prstGeom>
          <a:noFill/>
          <a:ln/>
        </p:spPr>
        <p:txBody>
          <a:bodyPr wrap="square" lIns="0" tIns="0" rIns="0" bIns="0" rtlCol="0" anchor="ctr"/>
          <a:lstStyle/>
          <a:p>
            <a:pPr algn="r" indent="0" marL="0">
              <a:buNone/>
            </a:pPr>
            <a:r>
              <a:rPr lang="en-US" sz="1100" b="1" dirty="0">
                <a:solidFill>
                  <a:srgbClr val="0F2747"/>
                </a:solidFill>
                <a:latin typeface="Noto Sans CJK JP" pitchFamily="34" charset="0"/>
                <a:ea typeface="Noto Sans CJK JP" pitchFamily="34" charset="-122"/>
                <a:cs typeface="Noto Sans CJK JP" pitchFamily="34" charset="-120"/>
              </a:rPr>
              <a:t>629 万円</a:t>
            </a:r>
            <a:endParaRPr lang="en-US" sz="1100" dirty="0"/>
          </a:p>
        </p:txBody>
      </p:sp>
      <p:sp>
        <p:nvSpPr>
          <p:cNvPr id="22" name="Shape 20"/>
          <p:cNvSpPr/>
          <p:nvPr/>
        </p:nvSpPr>
        <p:spPr>
          <a:xfrm>
            <a:off x="731520" y="4617720"/>
            <a:ext cx="4937760" cy="320040"/>
          </a:xfrm>
          <a:prstGeom prst="rect">
            <a:avLst/>
          </a:prstGeom>
          <a:solidFill>
            <a:srgbClr val="FFFFFF"/>
          </a:solidFill>
          <a:ln w="12700">
            <a:solidFill>
              <a:srgbClr val="E1E5EA"/>
            </a:solidFill>
            <a:prstDash val="solid"/>
          </a:ln>
        </p:spPr>
      </p:sp>
      <p:sp>
        <p:nvSpPr>
          <p:cNvPr id="23" name="Text 21"/>
          <p:cNvSpPr/>
          <p:nvPr/>
        </p:nvSpPr>
        <p:spPr>
          <a:xfrm>
            <a:off x="868680" y="4617720"/>
            <a:ext cx="3383280" cy="32004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蓄電池 Powerwall 3×4台</a:t>
            </a:r>
            <a:endParaRPr lang="en-US" sz="1000" dirty="0"/>
          </a:p>
        </p:txBody>
      </p:sp>
      <p:sp>
        <p:nvSpPr>
          <p:cNvPr id="24" name="Text 22"/>
          <p:cNvSpPr/>
          <p:nvPr/>
        </p:nvSpPr>
        <p:spPr>
          <a:xfrm>
            <a:off x="4297680" y="4617720"/>
            <a:ext cx="1325880" cy="320040"/>
          </a:xfrm>
          <a:prstGeom prst="rect">
            <a:avLst/>
          </a:prstGeom>
          <a:noFill/>
          <a:ln/>
        </p:spPr>
        <p:txBody>
          <a:bodyPr wrap="square" lIns="0" tIns="0" rIns="0" bIns="0" rtlCol="0" anchor="ctr"/>
          <a:lstStyle/>
          <a:p>
            <a:pPr algn="r" indent="0" marL="0">
              <a:buNone/>
            </a:pPr>
            <a:r>
              <a:rPr lang="en-US" sz="1100" b="1" dirty="0">
                <a:solidFill>
                  <a:srgbClr val="0F2747"/>
                </a:solidFill>
                <a:latin typeface="Noto Sans CJK JP" pitchFamily="34" charset="0"/>
                <a:ea typeface="Noto Sans CJK JP" pitchFamily="34" charset="-122"/>
                <a:cs typeface="Noto Sans CJK JP" pitchFamily="34" charset="-120"/>
              </a:rPr>
              <a:t>960 万円</a:t>
            </a:r>
            <a:endParaRPr lang="en-US" sz="1100" dirty="0"/>
          </a:p>
        </p:txBody>
      </p:sp>
      <p:sp>
        <p:nvSpPr>
          <p:cNvPr id="25" name="Shape 23"/>
          <p:cNvSpPr/>
          <p:nvPr/>
        </p:nvSpPr>
        <p:spPr>
          <a:xfrm>
            <a:off x="731520" y="5029200"/>
            <a:ext cx="4937760" cy="365760"/>
          </a:xfrm>
          <a:prstGeom prst="rect">
            <a:avLst/>
          </a:prstGeom>
          <a:solidFill>
            <a:srgbClr val="0F2747"/>
          </a:solidFill>
          <a:ln/>
        </p:spPr>
      </p:sp>
      <p:sp>
        <p:nvSpPr>
          <p:cNvPr id="26" name="Text 24"/>
          <p:cNvSpPr/>
          <p:nvPr/>
        </p:nvSpPr>
        <p:spPr>
          <a:xfrm>
            <a:off x="868680" y="5029200"/>
            <a:ext cx="3383280" cy="365760"/>
          </a:xfrm>
          <a:prstGeom prst="rect">
            <a:avLst/>
          </a:prstGeom>
          <a:noFill/>
          <a:ln/>
        </p:spPr>
        <p:txBody>
          <a:bodyPr wrap="square" lIns="0" tIns="0" rIns="0" bIns="0" rtlCol="0" anchor="ctr"/>
          <a:lstStyle/>
          <a:p>
            <a:pPr algn="l" indent="0" marL="0">
              <a:buNone/>
            </a:pPr>
            <a:r>
              <a:rPr lang="en-US" sz="1100" b="1" dirty="0">
                <a:solidFill>
                  <a:srgbClr val="FFFFFF"/>
                </a:solidFill>
                <a:latin typeface="Noto Sans CJK JP" pitchFamily="34" charset="0"/>
                <a:ea typeface="Noto Sans CJK JP" pitchFamily="34" charset="-122"/>
                <a:cs typeface="Noto Sans CJK JP" pitchFamily="34" charset="-120"/>
              </a:rPr>
              <a:t>補助前合計</a:t>
            </a:r>
            <a:endParaRPr lang="en-US" sz="1100" dirty="0"/>
          </a:p>
        </p:txBody>
      </p:sp>
      <p:sp>
        <p:nvSpPr>
          <p:cNvPr id="27" name="Text 25"/>
          <p:cNvSpPr/>
          <p:nvPr/>
        </p:nvSpPr>
        <p:spPr>
          <a:xfrm>
            <a:off x="4114800" y="5029200"/>
            <a:ext cx="1508760" cy="365760"/>
          </a:xfrm>
          <a:prstGeom prst="rect">
            <a:avLst/>
          </a:prstGeom>
          <a:noFill/>
          <a:ln/>
        </p:spPr>
        <p:txBody>
          <a:bodyPr wrap="square" lIns="0" tIns="0" rIns="0" bIns="0" rtlCol="0" anchor="ctr"/>
          <a:lstStyle/>
          <a:p>
            <a:pPr algn="r" indent="0" marL="0">
              <a:buNone/>
            </a:pPr>
            <a:r>
              <a:rPr lang="en-US" sz="1200" b="1" dirty="0">
                <a:solidFill>
                  <a:srgbClr val="C7A867"/>
                </a:solidFill>
                <a:latin typeface="Noto Sans CJK JP" pitchFamily="34" charset="0"/>
                <a:ea typeface="Noto Sans CJK JP" pitchFamily="34" charset="-122"/>
                <a:cs typeface="Noto Sans CJK JP" pitchFamily="34" charset="-120"/>
              </a:rPr>
              <a:t>3,058 万円</a:t>
            </a:r>
            <a:endParaRPr lang="en-US" sz="1200" dirty="0"/>
          </a:p>
        </p:txBody>
      </p:sp>
      <p:sp>
        <p:nvSpPr>
          <p:cNvPr id="28" name="Shape 26"/>
          <p:cNvSpPr/>
          <p:nvPr/>
        </p:nvSpPr>
        <p:spPr>
          <a:xfrm>
            <a:off x="731520" y="5440680"/>
            <a:ext cx="4937760" cy="320040"/>
          </a:xfrm>
          <a:prstGeom prst="rect">
            <a:avLst/>
          </a:prstGeom>
          <a:solidFill>
            <a:srgbClr val="FFFFFF"/>
          </a:solidFill>
          <a:ln w="15240">
            <a:solidFill>
              <a:srgbClr val="4A90D9"/>
            </a:solidFill>
            <a:prstDash val="solid"/>
          </a:ln>
        </p:spPr>
      </p:sp>
      <p:sp>
        <p:nvSpPr>
          <p:cNvPr id="29" name="Text 27"/>
          <p:cNvSpPr/>
          <p:nvPr/>
        </p:nvSpPr>
        <p:spPr>
          <a:xfrm>
            <a:off x="868680" y="5440680"/>
            <a:ext cx="3383280" cy="320040"/>
          </a:xfrm>
          <a:prstGeom prst="rect">
            <a:avLst/>
          </a:prstGeom>
          <a:noFill/>
          <a:ln/>
        </p:spPr>
        <p:txBody>
          <a:bodyPr wrap="square" lIns="0" tIns="0" rIns="0" bIns="0" rtlCol="0" anchor="ctr"/>
          <a:lstStyle/>
          <a:p>
            <a:pPr algn="l" indent="0" marL="0">
              <a:buNone/>
            </a:pPr>
            <a:r>
              <a:rPr lang="en-US" sz="1000" b="1" dirty="0">
                <a:solidFill>
                  <a:srgbClr val="4A90D9"/>
                </a:solidFill>
                <a:latin typeface="Noto Sans CJK JP" pitchFamily="34" charset="0"/>
                <a:ea typeface="Noto Sans CJK JP" pitchFamily="34" charset="-122"/>
                <a:cs typeface="Noto Sans CJK JP" pitchFamily="34" charset="-120"/>
              </a:rPr>
              <a:t>千葉県補助金 (上限)</a:t>
            </a:r>
            <a:endParaRPr lang="en-US" sz="1000" dirty="0"/>
          </a:p>
        </p:txBody>
      </p:sp>
      <p:sp>
        <p:nvSpPr>
          <p:cNvPr id="30" name="Text 28"/>
          <p:cNvSpPr/>
          <p:nvPr/>
        </p:nvSpPr>
        <p:spPr>
          <a:xfrm>
            <a:off x="4114800" y="5440680"/>
            <a:ext cx="1508760" cy="320040"/>
          </a:xfrm>
          <a:prstGeom prst="rect">
            <a:avLst/>
          </a:prstGeom>
          <a:noFill/>
          <a:ln/>
        </p:spPr>
        <p:txBody>
          <a:bodyPr wrap="square" lIns="0" tIns="0" rIns="0" bIns="0" rtlCol="0" anchor="ctr"/>
          <a:lstStyle/>
          <a:p>
            <a:pPr algn="r" indent="0" marL="0">
              <a:buNone/>
            </a:pPr>
            <a:r>
              <a:rPr lang="en-US" sz="1100" b="1" dirty="0">
                <a:solidFill>
                  <a:srgbClr val="4A90D9"/>
                </a:solidFill>
                <a:latin typeface="Noto Sans CJK JP" pitchFamily="34" charset="0"/>
                <a:ea typeface="Noto Sans CJK JP" pitchFamily="34" charset="-122"/>
                <a:cs typeface="Noto Sans CJK JP" pitchFamily="34" charset="-120"/>
              </a:rPr>
              <a:t>▲ 1,000 万円</a:t>
            </a:r>
            <a:endParaRPr lang="en-US" sz="1100" dirty="0"/>
          </a:p>
        </p:txBody>
      </p:sp>
      <p:sp>
        <p:nvSpPr>
          <p:cNvPr id="31" name="Shape 29"/>
          <p:cNvSpPr/>
          <p:nvPr/>
        </p:nvSpPr>
        <p:spPr>
          <a:xfrm>
            <a:off x="731520" y="5824728"/>
            <a:ext cx="4937760" cy="411480"/>
          </a:xfrm>
          <a:prstGeom prst="rect">
            <a:avLst/>
          </a:prstGeom>
          <a:solidFill>
            <a:srgbClr val="E07D45"/>
          </a:solidFill>
          <a:ln/>
        </p:spPr>
      </p:sp>
      <p:sp>
        <p:nvSpPr>
          <p:cNvPr id="32" name="Text 30"/>
          <p:cNvSpPr/>
          <p:nvPr/>
        </p:nvSpPr>
        <p:spPr>
          <a:xfrm>
            <a:off x="868680" y="5824728"/>
            <a:ext cx="3383280" cy="411480"/>
          </a:xfrm>
          <a:prstGeom prst="rect">
            <a:avLst/>
          </a:prstGeom>
          <a:noFill/>
          <a:ln/>
        </p:spPr>
        <p:txBody>
          <a:bodyPr wrap="square" lIns="0" tIns="0" rIns="0" bIns="0" rtlCol="0" anchor="ctr"/>
          <a:lstStyle/>
          <a:p>
            <a:pPr algn="l" indent="0" marL="0">
              <a:buNone/>
            </a:pPr>
            <a:r>
              <a:rPr lang="en-US" sz="1200" b="1" dirty="0">
                <a:solidFill>
                  <a:srgbClr val="FFFFFF"/>
                </a:solidFill>
                <a:latin typeface="Noto Sans CJK JP" pitchFamily="34" charset="0"/>
                <a:ea typeface="Noto Sans CJK JP" pitchFamily="34" charset="-122"/>
                <a:cs typeface="Noto Sans CJK JP" pitchFamily="34" charset="-120"/>
              </a:rPr>
              <a:t>実質投資 (今年)</a:t>
            </a:r>
            <a:endParaRPr lang="en-US" sz="1200" dirty="0"/>
          </a:p>
        </p:txBody>
      </p:sp>
      <p:sp>
        <p:nvSpPr>
          <p:cNvPr id="33" name="Text 31"/>
          <p:cNvSpPr/>
          <p:nvPr/>
        </p:nvSpPr>
        <p:spPr>
          <a:xfrm>
            <a:off x="4023360" y="5824728"/>
            <a:ext cx="1600200" cy="411480"/>
          </a:xfrm>
          <a:prstGeom prst="rect">
            <a:avLst/>
          </a:prstGeom>
          <a:noFill/>
          <a:ln/>
        </p:spPr>
        <p:txBody>
          <a:bodyPr wrap="square" lIns="0" tIns="0" rIns="0" bIns="0" rtlCol="0" anchor="ctr"/>
          <a:lstStyle/>
          <a:p>
            <a:pPr algn="r" indent="0" marL="0">
              <a:buNone/>
            </a:pPr>
            <a:r>
              <a:rPr lang="en-US" sz="1400" b="1" dirty="0">
                <a:solidFill>
                  <a:srgbClr val="FFFFFF"/>
                </a:solidFill>
                <a:latin typeface="Noto Sans CJK JP" pitchFamily="34" charset="0"/>
                <a:ea typeface="Noto Sans CJK JP" pitchFamily="34" charset="-122"/>
                <a:cs typeface="Noto Sans CJK JP" pitchFamily="34" charset="-120"/>
              </a:rPr>
              <a:t>2,058 万円</a:t>
            </a:r>
            <a:endParaRPr lang="en-US" sz="1400" dirty="0"/>
          </a:p>
        </p:txBody>
      </p:sp>
      <p:sp>
        <p:nvSpPr>
          <p:cNvPr id="34" name="Shape 32"/>
          <p:cNvSpPr/>
          <p:nvPr/>
        </p:nvSpPr>
        <p:spPr>
          <a:xfrm>
            <a:off x="6245352" y="2542032"/>
            <a:ext cx="5486400" cy="3611880"/>
          </a:xfrm>
          <a:prstGeom prst="roundRect">
            <a:avLst>
              <a:gd name="adj" fmla="val 1519"/>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35" name="Shape 33"/>
          <p:cNvSpPr/>
          <p:nvPr/>
        </p:nvSpPr>
        <p:spPr>
          <a:xfrm>
            <a:off x="6245352" y="2542032"/>
            <a:ext cx="5486400" cy="457200"/>
          </a:xfrm>
          <a:prstGeom prst="rect">
            <a:avLst/>
          </a:prstGeom>
          <a:solidFill>
            <a:srgbClr val="B89A55"/>
          </a:solidFill>
          <a:ln/>
        </p:spPr>
      </p:sp>
      <p:sp>
        <p:nvSpPr>
          <p:cNvPr id="36" name="Text 34"/>
          <p:cNvSpPr/>
          <p:nvPr/>
        </p:nvSpPr>
        <p:spPr>
          <a:xfrm>
            <a:off x="6428232" y="2542032"/>
            <a:ext cx="521208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Noto Sans CJK JP" pitchFamily="34" charset="0"/>
                <a:ea typeface="Noto Sans CJK JP" pitchFamily="34" charset="-122"/>
                <a:cs typeface="Noto Sans CJK JP" pitchFamily="34" charset="-120"/>
              </a:rPr>
              <a:t>【来年】外壁 1,500 ㎡(補助金チャレンジ)</a:t>
            </a:r>
            <a:endParaRPr lang="en-US" sz="1400" dirty="0"/>
          </a:p>
        </p:txBody>
      </p:sp>
      <p:sp>
        <p:nvSpPr>
          <p:cNvPr id="37" name="Shape 35"/>
          <p:cNvSpPr/>
          <p:nvPr/>
        </p:nvSpPr>
        <p:spPr>
          <a:xfrm>
            <a:off x="6519672" y="3154680"/>
            <a:ext cx="4937760" cy="320040"/>
          </a:xfrm>
          <a:prstGeom prst="rect">
            <a:avLst/>
          </a:prstGeom>
          <a:solidFill>
            <a:srgbClr val="FFFFFF"/>
          </a:solidFill>
          <a:ln w="12700">
            <a:solidFill>
              <a:srgbClr val="E1E5EA"/>
            </a:solidFill>
            <a:prstDash val="solid"/>
          </a:ln>
        </p:spPr>
      </p:sp>
      <p:sp>
        <p:nvSpPr>
          <p:cNvPr id="38" name="Text 36"/>
          <p:cNvSpPr/>
          <p:nvPr/>
        </p:nvSpPr>
        <p:spPr>
          <a:xfrm>
            <a:off x="6656832" y="3154680"/>
            <a:ext cx="3383280" cy="32004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外壁ポリウレア 1,500 ㎡</a:t>
            </a:r>
            <a:endParaRPr lang="en-US" sz="1000" dirty="0"/>
          </a:p>
        </p:txBody>
      </p:sp>
      <p:sp>
        <p:nvSpPr>
          <p:cNvPr id="39" name="Text 37"/>
          <p:cNvSpPr/>
          <p:nvPr/>
        </p:nvSpPr>
        <p:spPr>
          <a:xfrm>
            <a:off x="10058400" y="3154680"/>
            <a:ext cx="1325880" cy="320040"/>
          </a:xfrm>
          <a:prstGeom prst="rect">
            <a:avLst/>
          </a:prstGeom>
          <a:noFill/>
          <a:ln/>
        </p:spPr>
        <p:txBody>
          <a:bodyPr wrap="square" lIns="0" tIns="0" rIns="0" bIns="0" rtlCol="0" anchor="ctr"/>
          <a:lstStyle/>
          <a:p>
            <a:pPr algn="r" indent="0" marL="0">
              <a:buNone/>
            </a:pPr>
            <a:r>
              <a:rPr lang="en-US" sz="1100" b="1" dirty="0">
                <a:solidFill>
                  <a:srgbClr val="0F2747"/>
                </a:solidFill>
                <a:latin typeface="Noto Sans CJK JP" pitchFamily="34" charset="0"/>
                <a:ea typeface="Noto Sans CJK JP" pitchFamily="34" charset="-122"/>
                <a:cs typeface="Noto Sans CJK JP" pitchFamily="34" charset="-120"/>
              </a:rPr>
              <a:t>1,320 万円</a:t>
            </a:r>
            <a:endParaRPr lang="en-US" sz="1100" dirty="0"/>
          </a:p>
        </p:txBody>
      </p:sp>
      <p:sp>
        <p:nvSpPr>
          <p:cNvPr id="40" name="Shape 38"/>
          <p:cNvSpPr/>
          <p:nvPr/>
        </p:nvSpPr>
        <p:spPr>
          <a:xfrm>
            <a:off x="6519672" y="3520440"/>
            <a:ext cx="4937760" cy="320040"/>
          </a:xfrm>
          <a:prstGeom prst="rect">
            <a:avLst/>
          </a:prstGeom>
          <a:solidFill>
            <a:srgbClr val="FFFFFF"/>
          </a:solidFill>
          <a:ln w="12700">
            <a:solidFill>
              <a:srgbClr val="E1E5EA"/>
            </a:solidFill>
            <a:prstDash val="solid"/>
          </a:ln>
        </p:spPr>
      </p:sp>
      <p:sp>
        <p:nvSpPr>
          <p:cNvPr id="41" name="Text 39"/>
          <p:cNvSpPr/>
          <p:nvPr/>
        </p:nvSpPr>
        <p:spPr>
          <a:xfrm>
            <a:off x="6656832" y="3520440"/>
            <a:ext cx="3383280" cy="32004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全面足場 1,800 ㎡(3,000円/㎡)</a:t>
            </a:r>
            <a:endParaRPr lang="en-US" sz="1000" dirty="0"/>
          </a:p>
        </p:txBody>
      </p:sp>
      <p:sp>
        <p:nvSpPr>
          <p:cNvPr id="42" name="Text 40"/>
          <p:cNvSpPr/>
          <p:nvPr/>
        </p:nvSpPr>
        <p:spPr>
          <a:xfrm>
            <a:off x="10058400" y="3520440"/>
            <a:ext cx="1325880" cy="320040"/>
          </a:xfrm>
          <a:prstGeom prst="rect">
            <a:avLst/>
          </a:prstGeom>
          <a:noFill/>
          <a:ln/>
        </p:spPr>
        <p:txBody>
          <a:bodyPr wrap="square" lIns="0" tIns="0" rIns="0" bIns="0" rtlCol="0" anchor="ctr"/>
          <a:lstStyle/>
          <a:p>
            <a:pPr algn="r" indent="0" marL="0">
              <a:buNone/>
            </a:pPr>
            <a:r>
              <a:rPr lang="en-US" sz="1100" b="1" dirty="0">
                <a:solidFill>
                  <a:srgbClr val="0F2747"/>
                </a:solidFill>
                <a:latin typeface="Noto Sans CJK JP" pitchFamily="34" charset="0"/>
                <a:ea typeface="Noto Sans CJK JP" pitchFamily="34" charset="-122"/>
                <a:cs typeface="Noto Sans CJK JP" pitchFamily="34" charset="-120"/>
              </a:rPr>
              <a:t>540 万円</a:t>
            </a:r>
            <a:endParaRPr lang="en-US" sz="1100" dirty="0"/>
          </a:p>
        </p:txBody>
      </p:sp>
      <p:sp>
        <p:nvSpPr>
          <p:cNvPr id="43" name="Shape 41"/>
          <p:cNvSpPr/>
          <p:nvPr/>
        </p:nvSpPr>
        <p:spPr>
          <a:xfrm>
            <a:off x="6519672" y="3886200"/>
            <a:ext cx="4937760" cy="320040"/>
          </a:xfrm>
          <a:prstGeom prst="rect">
            <a:avLst/>
          </a:prstGeom>
          <a:solidFill>
            <a:srgbClr val="FFFFFF"/>
          </a:solidFill>
          <a:ln w="12700">
            <a:solidFill>
              <a:srgbClr val="E1E5EA"/>
            </a:solidFill>
            <a:prstDash val="solid"/>
          </a:ln>
        </p:spPr>
      </p:sp>
      <p:sp>
        <p:nvSpPr>
          <p:cNvPr id="44" name="Text 42"/>
          <p:cNvSpPr/>
          <p:nvPr/>
        </p:nvSpPr>
        <p:spPr>
          <a:xfrm>
            <a:off x="6656832" y="3886200"/>
            <a:ext cx="3383280" cy="320040"/>
          </a:xfrm>
          <a:prstGeom prst="rect">
            <a:avLst/>
          </a:prstGeom>
          <a:noFill/>
          <a:ln/>
        </p:spPr>
        <p:txBody>
          <a:bodyPr wrap="square" lIns="0" tIns="0" rIns="0" bIns="0" rtlCol="0" anchor="ctr"/>
          <a:lstStyle/>
          <a:p>
            <a:pPr algn="l" indent="0" marL="0">
              <a:buNone/>
            </a:pPr>
            <a:r>
              <a:rPr lang="en-US" sz="1000" dirty="0">
                <a:solidFill>
                  <a:srgbClr val="6B7280"/>
                </a:solidFill>
                <a:latin typeface="Noto Sans CJK JP" pitchFamily="34" charset="0"/>
                <a:ea typeface="Noto Sans CJK JP" pitchFamily="34" charset="-122"/>
                <a:cs typeface="Noto Sans CJK JP" pitchFamily="34" charset="-120"/>
              </a:rPr>
              <a:t>― 屋根は20年耐候のため不要</a:t>
            </a:r>
            <a:endParaRPr lang="en-US" sz="1000" dirty="0"/>
          </a:p>
        </p:txBody>
      </p:sp>
      <p:sp>
        <p:nvSpPr>
          <p:cNvPr id="45" name="Text 43"/>
          <p:cNvSpPr/>
          <p:nvPr/>
        </p:nvSpPr>
        <p:spPr>
          <a:xfrm>
            <a:off x="10058400" y="3886200"/>
            <a:ext cx="1325880" cy="320040"/>
          </a:xfrm>
          <a:prstGeom prst="rect">
            <a:avLst/>
          </a:prstGeom>
          <a:noFill/>
          <a:ln/>
        </p:spPr>
        <p:txBody>
          <a:bodyPr wrap="square" lIns="0" tIns="0" rIns="0" bIns="0" rtlCol="0" anchor="ctr"/>
          <a:lstStyle/>
          <a:p>
            <a:pPr algn="r" indent="0" marL="0">
              <a:buNone/>
            </a:pPr>
            <a:r>
              <a:rPr lang="en-US" sz="1100" b="1" dirty="0">
                <a:solidFill>
                  <a:srgbClr val="6B7280"/>
                </a:solidFill>
                <a:latin typeface="Noto Sans CJK JP" pitchFamily="34" charset="0"/>
                <a:ea typeface="Noto Sans CJK JP" pitchFamily="34" charset="-122"/>
                <a:cs typeface="Noto Sans CJK JP" pitchFamily="34" charset="-120"/>
              </a:rPr>
              <a:t>―</a:t>
            </a:r>
            <a:endParaRPr lang="en-US" sz="1100" dirty="0"/>
          </a:p>
        </p:txBody>
      </p:sp>
      <p:sp>
        <p:nvSpPr>
          <p:cNvPr id="46" name="Shape 44"/>
          <p:cNvSpPr/>
          <p:nvPr/>
        </p:nvSpPr>
        <p:spPr>
          <a:xfrm>
            <a:off x="6519672" y="4251960"/>
            <a:ext cx="4937760" cy="320040"/>
          </a:xfrm>
          <a:prstGeom prst="rect">
            <a:avLst/>
          </a:prstGeom>
          <a:solidFill>
            <a:srgbClr val="FFFFFF"/>
          </a:solidFill>
          <a:ln w="12700">
            <a:solidFill>
              <a:srgbClr val="E1E5EA"/>
            </a:solidFill>
            <a:prstDash val="solid"/>
          </a:ln>
        </p:spPr>
      </p:sp>
      <p:sp>
        <p:nvSpPr>
          <p:cNvPr id="47" name="Text 45"/>
          <p:cNvSpPr/>
          <p:nvPr/>
        </p:nvSpPr>
        <p:spPr>
          <a:xfrm>
            <a:off x="6656832" y="4251960"/>
            <a:ext cx="3383280" cy="320040"/>
          </a:xfrm>
          <a:prstGeom prst="rect">
            <a:avLst/>
          </a:prstGeom>
          <a:noFill/>
          <a:ln/>
        </p:spPr>
        <p:txBody>
          <a:bodyPr wrap="square" lIns="0" tIns="0" rIns="0" bIns="0" rtlCol="0" anchor="ctr"/>
          <a:lstStyle/>
          <a:p>
            <a:pPr algn="l" indent="0" marL="0">
              <a:buNone/>
            </a:pPr>
            <a:r>
              <a:rPr lang="en-US" sz="1000" dirty="0">
                <a:solidFill>
                  <a:srgbClr val="6B7280"/>
                </a:solidFill>
                <a:latin typeface="Noto Sans CJK JP" pitchFamily="34" charset="0"/>
                <a:ea typeface="Noto Sans CJK JP" pitchFamily="34" charset="-122"/>
                <a:cs typeface="Noto Sans CJK JP" pitchFamily="34" charset="-120"/>
              </a:rPr>
              <a:t>― 物価高騰の影響を回避</a:t>
            </a:r>
            <a:endParaRPr lang="en-US" sz="1000" dirty="0"/>
          </a:p>
        </p:txBody>
      </p:sp>
      <p:sp>
        <p:nvSpPr>
          <p:cNvPr id="48" name="Text 46"/>
          <p:cNvSpPr/>
          <p:nvPr/>
        </p:nvSpPr>
        <p:spPr>
          <a:xfrm>
            <a:off x="10058400" y="4251960"/>
            <a:ext cx="1325880" cy="320040"/>
          </a:xfrm>
          <a:prstGeom prst="rect">
            <a:avLst/>
          </a:prstGeom>
          <a:noFill/>
          <a:ln/>
        </p:spPr>
        <p:txBody>
          <a:bodyPr wrap="square" lIns="0" tIns="0" rIns="0" bIns="0" rtlCol="0" anchor="ctr"/>
          <a:lstStyle/>
          <a:p>
            <a:pPr algn="r" indent="0" marL="0">
              <a:buNone/>
            </a:pPr>
            <a:r>
              <a:rPr lang="en-US" sz="1100" b="1" dirty="0">
                <a:solidFill>
                  <a:srgbClr val="6B7280"/>
                </a:solidFill>
                <a:latin typeface="Noto Sans CJK JP" pitchFamily="34" charset="0"/>
                <a:ea typeface="Noto Sans CJK JP" pitchFamily="34" charset="-122"/>
                <a:cs typeface="Noto Sans CJK JP" pitchFamily="34" charset="-120"/>
              </a:rPr>
              <a:t>―</a:t>
            </a:r>
            <a:endParaRPr lang="en-US" sz="1100" dirty="0"/>
          </a:p>
        </p:txBody>
      </p:sp>
      <p:sp>
        <p:nvSpPr>
          <p:cNvPr id="49" name="Shape 47"/>
          <p:cNvSpPr/>
          <p:nvPr/>
        </p:nvSpPr>
        <p:spPr>
          <a:xfrm>
            <a:off x="6519672" y="4617720"/>
            <a:ext cx="4937760" cy="320040"/>
          </a:xfrm>
          <a:prstGeom prst="rect">
            <a:avLst/>
          </a:prstGeom>
          <a:solidFill>
            <a:srgbClr val="FFFFFF"/>
          </a:solidFill>
          <a:ln w="12700">
            <a:solidFill>
              <a:srgbClr val="E1E5EA"/>
            </a:solidFill>
            <a:prstDash val="solid"/>
          </a:ln>
        </p:spPr>
      </p:sp>
      <p:sp>
        <p:nvSpPr>
          <p:cNvPr id="50" name="Text 48"/>
          <p:cNvSpPr/>
          <p:nvPr/>
        </p:nvSpPr>
        <p:spPr>
          <a:xfrm>
            <a:off x="6656832" y="4617720"/>
            <a:ext cx="3383280" cy="320040"/>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来年度 R9 補助金 申請</a:t>
            </a:r>
            <a:endParaRPr lang="en-US" sz="1000" dirty="0"/>
          </a:p>
        </p:txBody>
      </p:sp>
      <p:sp>
        <p:nvSpPr>
          <p:cNvPr id="51" name="Text 49"/>
          <p:cNvSpPr/>
          <p:nvPr/>
        </p:nvSpPr>
        <p:spPr>
          <a:xfrm>
            <a:off x="10058400" y="4617720"/>
            <a:ext cx="1325880" cy="320040"/>
          </a:xfrm>
          <a:prstGeom prst="rect">
            <a:avLst/>
          </a:prstGeom>
          <a:noFill/>
          <a:ln/>
        </p:spPr>
        <p:txBody>
          <a:bodyPr wrap="square" lIns="0" tIns="0" rIns="0" bIns="0" rtlCol="0" anchor="ctr"/>
          <a:lstStyle/>
          <a:p>
            <a:pPr algn="r" indent="0" marL="0">
              <a:buNone/>
            </a:pPr>
            <a:r>
              <a:rPr lang="en-US" sz="1100" b="1" dirty="0">
                <a:solidFill>
                  <a:srgbClr val="0F2747"/>
                </a:solidFill>
                <a:latin typeface="Noto Sans CJK JP" pitchFamily="34" charset="0"/>
                <a:ea typeface="Noto Sans CJK JP" pitchFamily="34" charset="-122"/>
                <a:cs typeface="Noto Sans CJK JP" pitchFamily="34" charset="-120"/>
              </a:rPr>
              <a:t>対象</a:t>
            </a:r>
            <a:endParaRPr lang="en-US" sz="1100" dirty="0"/>
          </a:p>
        </p:txBody>
      </p:sp>
      <p:sp>
        <p:nvSpPr>
          <p:cNvPr id="52" name="Shape 50"/>
          <p:cNvSpPr/>
          <p:nvPr/>
        </p:nvSpPr>
        <p:spPr>
          <a:xfrm>
            <a:off x="6519672" y="5029200"/>
            <a:ext cx="4937760" cy="365760"/>
          </a:xfrm>
          <a:prstGeom prst="rect">
            <a:avLst/>
          </a:prstGeom>
          <a:solidFill>
            <a:srgbClr val="0F2747"/>
          </a:solidFill>
          <a:ln/>
        </p:spPr>
      </p:sp>
      <p:sp>
        <p:nvSpPr>
          <p:cNvPr id="53" name="Text 51"/>
          <p:cNvSpPr/>
          <p:nvPr/>
        </p:nvSpPr>
        <p:spPr>
          <a:xfrm>
            <a:off x="6656832" y="5029200"/>
            <a:ext cx="3383280" cy="365760"/>
          </a:xfrm>
          <a:prstGeom prst="rect">
            <a:avLst/>
          </a:prstGeom>
          <a:noFill/>
          <a:ln/>
        </p:spPr>
        <p:txBody>
          <a:bodyPr wrap="square" lIns="0" tIns="0" rIns="0" bIns="0" rtlCol="0" anchor="ctr"/>
          <a:lstStyle/>
          <a:p>
            <a:pPr algn="l" indent="0" marL="0">
              <a:buNone/>
            </a:pPr>
            <a:r>
              <a:rPr lang="en-US" sz="1100" b="1" dirty="0">
                <a:solidFill>
                  <a:srgbClr val="FFFFFF"/>
                </a:solidFill>
                <a:latin typeface="Noto Sans CJK JP" pitchFamily="34" charset="0"/>
                <a:ea typeface="Noto Sans CJK JP" pitchFamily="34" charset="-122"/>
                <a:cs typeface="Noto Sans CJK JP" pitchFamily="34" charset="-120"/>
              </a:rPr>
              <a:t>補助前合計</a:t>
            </a:r>
            <a:endParaRPr lang="en-US" sz="1100" dirty="0"/>
          </a:p>
        </p:txBody>
      </p:sp>
      <p:sp>
        <p:nvSpPr>
          <p:cNvPr id="54" name="Text 52"/>
          <p:cNvSpPr/>
          <p:nvPr/>
        </p:nvSpPr>
        <p:spPr>
          <a:xfrm>
            <a:off x="9921240" y="5029200"/>
            <a:ext cx="1463040" cy="365760"/>
          </a:xfrm>
          <a:prstGeom prst="rect">
            <a:avLst/>
          </a:prstGeom>
          <a:noFill/>
          <a:ln/>
        </p:spPr>
        <p:txBody>
          <a:bodyPr wrap="square" lIns="0" tIns="0" rIns="0" bIns="0" rtlCol="0" anchor="ctr"/>
          <a:lstStyle/>
          <a:p>
            <a:pPr algn="r" indent="0" marL="0">
              <a:buNone/>
            </a:pPr>
            <a:r>
              <a:rPr lang="en-US" sz="1200" b="1" dirty="0">
                <a:solidFill>
                  <a:srgbClr val="C7A867"/>
                </a:solidFill>
                <a:latin typeface="Noto Sans CJK JP" pitchFamily="34" charset="0"/>
                <a:ea typeface="Noto Sans CJK JP" pitchFamily="34" charset="-122"/>
                <a:cs typeface="Noto Sans CJK JP" pitchFamily="34" charset="-120"/>
              </a:rPr>
              <a:t>1,860 万円</a:t>
            </a:r>
            <a:endParaRPr lang="en-US" sz="1200" dirty="0"/>
          </a:p>
        </p:txBody>
      </p:sp>
      <p:sp>
        <p:nvSpPr>
          <p:cNvPr id="55" name="Shape 53"/>
          <p:cNvSpPr/>
          <p:nvPr/>
        </p:nvSpPr>
        <p:spPr>
          <a:xfrm>
            <a:off x="6519672" y="5440680"/>
            <a:ext cx="4937760" cy="320040"/>
          </a:xfrm>
          <a:prstGeom prst="rect">
            <a:avLst/>
          </a:prstGeom>
          <a:solidFill>
            <a:srgbClr val="FFFFFF"/>
          </a:solidFill>
          <a:ln w="15240">
            <a:solidFill>
              <a:srgbClr val="4A90D9"/>
            </a:solidFill>
            <a:prstDash val="solid"/>
          </a:ln>
        </p:spPr>
      </p:sp>
      <p:sp>
        <p:nvSpPr>
          <p:cNvPr id="56" name="Text 54"/>
          <p:cNvSpPr/>
          <p:nvPr/>
        </p:nvSpPr>
        <p:spPr>
          <a:xfrm>
            <a:off x="6656832" y="5440680"/>
            <a:ext cx="3383280" cy="320040"/>
          </a:xfrm>
          <a:prstGeom prst="rect">
            <a:avLst/>
          </a:prstGeom>
          <a:noFill/>
          <a:ln/>
        </p:spPr>
        <p:txBody>
          <a:bodyPr wrap="square" lIns="0" tIns="0" rIns="0" bIns="0" rtlCol="0" anchor="ctr"/>
          <a:lstStyle/>
          <a:p>
            <a:pPr algn="l" indent="0" marL="0">
              <a:buNone/>
            </a:pPr>
            <a:r>
              <a:rPr lang="en-US" sz="1000" b="1" dirty="0">
                <a:solidFill>
                  <a:srgbClr val="4A90D9"/>
                </a:solidFill>
                <a:latin typeface="Noto Sans CJK JP" pitchFamily="34" charset="0"/>
                <a:ea typeface="Noto Sans CJK JP" pitchFamily="34" charset="-122"/>
                <a:cs typeface="Noto Sans CJK JP" pitchFamily="34" charset="-120"/>
              </a:rPr>
              <a:t>補助金 1/2 (想定)</a:t>
            </a:r>
            <a:endParaRPr lang="en-US" sz="1000" dirty="0"/>
          </a:p>
        </p:txBody>
      </p:sp>
      <p:sp>
        <p:nvSpPr>
          <p:cNvPr id="57" name="Text 55"/>
          <p:cNvSpPr/>
          <p:nvPr/>
        </p:nvSpPr>
        <p:spPr>
          <a:xfrm>
            <a:off x="9921240" y="5440680"/>
            <a:ext cx="1463040" cy="320040"/>
          </a:xfrm>
          <a:prstGeom prst="rect">
            <a:avLst/>
          </a:prstGeom>
          <a:noFill/>
          <a:ln/>
        </p:spPr>
        <p:txBody>
          <a:bodyPr wrap="square" lIns="0" tIns="0" rIns="0" bIns="0" rtlCol="0" anchor="ctr"/>
          <a:lstStyle/>
          <a:p>
            <a:pPr algn="r" indent="0" marL="0">
              <a:buNone/>
            </a:pPr>
            <a:r>
              <a:rPr lang="en-US" sz="1100" b="1" dirty="0">
                <a:solidFill>
                  <a:srgbClr val="4A90D9"/>
                </a:solidFill>
                <a:latin typeface="Noto Sans CJK JP" pitchFamily="34" charset="0"/>
                <a:ea typeface="Noto Sans CJK JP" pitchFamily="34" charset="-122"/>
                <a:cs typeface="Noto Sans CJK JP" pitchFamily="34" charset="-120"/>
              </a:rPr>
              <a:t>▲ 930 万円</a:t>
            </a:r>
            <a:endParaRPr lang="en-US" sz="1100" dirty="0"/>
          </a:p>
        </p:txBody>
      </p:sp>
      <p:sp>
        <p:nvSpPr>
          <p:cNvPr id="58" name="Shape 56"/>
          <p:cNvSpPr/>
          <p:nvPr/>
        </p:nvSpPr>
        <p:spPr>
          <a:xfrm>
            <a:off x="6519672" y="5824728"/>
            <a:ext cx="4937760" cy="411480"/>
          </a:xfrm>
          <a:prstGeom prst="rect">
            <a:avLst/>
          </a:prstGeom>
          <a:solidFill>
            <a:srgbClr val="B89A55"/>
          </a:solidFill>
          <a:ln/>
        </p:spPr>
      </p:sp>
      <p:sp>
        <p:nvSpPr>
          <p:cNvPr id="59" name="Text 57"/>
          <p:cNvSpPr/>
          <p:nvPr/>
        </p:nvSpPr>
        <p:spPr>
          <a:xfrm>
            <a:off x="6656832" y="5824728"/>
            <a:ext cx="3383280" cy="411480"/>
          </a:xfrm>
          <a:prstGeom prst="rect">
            <a:avLst/>
          </a:prstGeom>
          <a:noFill/>
          <a:ln/>
        </p:spPr>
        <p:txBody>
          <a:bodyPr wrap="square" lIns="0" tIns="0" rIns="0" bIns="0" rtlCol="0" anchor="ctr"/>
          <a:lstStyle/>
          <a:p>
            <a:pPr algn="l" indent="0" marL="0">
              <a:buNone/>
            </a:pPr>
            <a:r>
              <a:rPr lang="en-US" sz="1200" b="1" dirty="0">
                <a:solidFill>
                  <a:srgbClr val="FFFFFF"/>
                </a:solidFill>
                <a:latin typeface="Noto Sans CJK JP" pitchFamily="34" charset="0"/>
                <a:ea typeface="Noto Sans CJK JP" pitchFamily="34" charset="-122"/>
                <a:cs typeface="Noto Sans CJK JP" pitchFamily="34" charset="-120"/>
              </a:rPr>
              <a:t>実質投資 (来年)</a:t>
            </a:r>
            <a:endParaRPr lang="en-US" sz="1200" dirty="0"/>
          </a:p>
        </p:txBody>
      </p:sp>
      <p:sp>
        <p:nvSpPr>
          <p:cNvPr id="60" name="Text 58"/>
          <p:cNvSpPr/>
          <p:nvPr/>
        </p:nvSpPr>
        <p:spPr>
          <a:xfrm>
            <a:off x="9784080" y="5824728"/>
            <a:ext cx="1600200" cy="411480"/>
          </a:xfrm>
          <a:prstGeom prst="rect">
            <a:avLst/>
          </a:prstGeom>
          <a:noFill/>
          <a:ln/>
        </p:spPr>
        <p:txBody>
          <a:bodyPr wrap="square" lIns="0" tIns="0" rIns="0" bIns="0" rtlCol="0" anchor="ctr"/>
          <a:lstStyle/>
          <a:p>
            <a:pPr algn="r" indent="0" marL="0">
              <a:buNone/>
            </a:pPr>
            <a:r>
              <a:rPr lang="en-US" sz="1400" b="1" dirty="0">
                <a:solidFill>
                  <a:srgbClr val="FFFFFF"/>
                </a:solidFill>
                <a:latin typeface="Noto Sans CJK JP" pitchFamily="34" charset="0"/>
                <a:ea typeface="Noto Sans CJK JP" pitchFamily="34" charset="-122"/>
                <a:cs typeface="Noto Sans CJK JP" pitchFamily="34" charset="-120"/>
              </a:rPr>
              <a:t>930 万円</a:t>
            </a:r>
            <a:endParaRPr lang="en-US" sz="1400" dirty="0"/>
          </a:p>
        </p:txBody>
      </p:sp>
      <p:sp>
        <p:nvSpPr>
          <p:cNvPr id="61" name="Shape 59"/>
          <p:cNvSpPr/>
          <p:nvPr/>
        </p:nvSpPr>
        <p:spPr>
          <a:xfrm>
            <a:off x="457200" y="6263640"/>
            <a:ext cx="11274552" cy="384048"/>
          </a:xfrm>
          <a:prstGeom prst="rect">
            <a:avLst/>
          </a:prstGeom>
          <a:solidFill>
            <a:srgbClr val="E07D45"/>
          </a:solidFill>
          <a:ln/>
        </p:spPr>
      </p:sp>
      <p:sp>
        <p:nvSpPr>
          <p:cNvPr id="62" name="Text 60"/>
          <p:cNvSpPr/>
          <p:nvPr/>
        </p:nvSpPr>
        <p:spPr>
          <a:xfrm>
            <a:off x="457200" y="6263640"/>
            <a:ext cx="11274552"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E プラン 2 年合計：実質投資 2,988 万円 (D 比 ▲585万) ／ 補助金 計 1,930 万円獲得 ／ 20 年累計 4,095 万円 (A 比 ▲8,149万)</a:t>
            </a:r>
            <a:endParaRPr lang="en-US" sz="1100" dirty="0"/>
          </a:p>
        </p:txBody>
      </p:sp>
      <p:sp>
        <p:nvSpPr>
          <p:cNvPr id="63" name="Text 61"/>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64" name="Text 62"/>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10 / 20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05</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20 年累計支出比較 ― 電気代＋建物メンテ＋設備投資</a:t>
            </a:r>
            <a:endParaRPr lang="en-US" sz="3000" dirty="0"/>
          </a:p>
        </p:txBody>
      </p:sp>
      <p:sp>
        <p:nvSpPr>
          <p:cNvPr id="4" name="Shape 2"/>
          <p:cNvSpPr/>
          <p:nvPr/>
        </p:nvSpPr>
        <p:spPr>
          <a:xfrm>
            <a:off x="502920" y="1737360"/>
            <a:ext cx="2139696" cy="502920"/>
          </a:xfrm>
          <a:prstGeom prst="rect">
            <a:avLst/>
          </a:prstGeom>
          <a:solidFill>
            <a:srgbClr val="8A95A5"/>
          </a:solidFill>
          <a:ln/>
        </p:spPr>
      </p:sp>
      <p:sp>
        <p:nvSpPr>
          <p:cNvPr id="5" name="Text 3"/>
          <p:cNvSpPr/>
          <p:nvPr/>
        </p:nvSpPr>
        <p:spPr>
          <a:xfrm>
            <a:off x="594360" y="1737360"/>
            <a:ext cx="2002536" cy="502920"/>
          </a:xfrm>
          <a:prstGeom prst="rect">
            <a:avLst/>
          </a:prstGeom>
          <a:noFill/>
          <a:ln/>
        </p:spPr>
        <p:txBody>
          <a:bodyPr wrap="square" lIns="0" tIns="0" rIns="0" bIns="0" rtlCol="0" anchor="ctr"/>
          <a:lstStyle/>
          <a:p>
            <a:pPr algn="l" indent="0" marL="0">
              <a:buNone/>
            </a:pPr>
            <a:r>
              <a:rPr lang="en-US" sz="1250" b="1" dirty="0">
                <a:solidFill>
                  <a:srgbClr val="FFFFFF"/>
                </a:solidFill>
                <a:latin typeface="Noto Sans CJK JP" pitchFamily="34" charset="0"/>
                <a:ea typeface="Noto Sans CJK JP" pitchFamily="34" charset="-122"/>
                <a:cs typeface="Noto Sans CJK JP" pitchFamily="34" charset="-120"/>
              </a:rPr>
              <a:t>A 現状</a:t>
            </a:r>
            <a:endParaRPr lang="en-US" sz="1250" dirty="0"/>
          </a:p>
        </p:txBody>
      </p:sp>
      <p:sp>
        <p:nvSpPr>
          <p:cNvPr id="6" name="Shape 4"/>
          <p:cNvSpPr/>
          <p:nvPr/>
        </p:nvSpPr>
        <p:spPr>
          <a:xfrm>
            <a:off x="502920" y="2240280"/>
            <a:ext cx="2139696" cy="3154680"/>
          </a:xfrm>
          <a:prstGeom prst="rect">
            <a:avLst/>
          </a:prstGeom>
          <a:solidFill>
            <a:srgbClr val="F4F6F8"/>
          </a:solidFill>
          <a:ln w="12700">
            <a:solidFill>
              <a:srgbClr val="E1E5EA"/>
            </a:solidFill>
            <a:prstDash val="solid"/>
          </a:ln>
        </p:spPr>
      </p:sp>
      <p:sp>
        <p:nvSpPr>
          <p:cNvPr id="7" name="Text 5"/>
          <p:cNvSpPr/>
          <p:nvPr/>
        </p:nvSpPr>
        <p:spPr>
          <a:xfrm>
            <a:off x="612648" y="2377440"/>
            <a:ext cx="1956816" cy="256032"/>
          </a:xfrm>
          <a:prstGeom prst="rect">
            <a:avLst/>
          </a:prstGeom>
          <a:noFill/>
          <a:ln/>
        </p:spPr>
        <p:txBody>
          <a:bodyPr wrap="square" lIns="0" tIns="0" rIns="0" bIns="0" rtlCol="0" anchor="ctr"/>
          <a:lstStyle/>
          <a:p>
            <a:pPr algn="l" indent="0" marL="0">
              <a:buNone/>
            </a:pPr>
            <a:r>
              <a:rPr lang="en-US" sz="900" dirty="0">
                <a:solidFill>
                  <a:srgbClr val="6B7280"/>
                </a:solidFill>
                <a:latin typeface="Noto Sans CJK JP" pitchFamily="34" charset="0"/>
                <a:ea typeface="Noto Sans CJK JP" pitchFamily="34" charset="-122"/>
                <a:cs typeface="Noto Sans CJK JP" pitchFamily="34" charset="-120"/>
              </a:rPr>
              <a:t>20年累計</a:t>
            </a:r>
            <a:endParaRPr lang="en-US" sz="900" dirty="0"/>
          </a:p>
        </p:txBody>
      </p:sp>
      <p:sp>
        <p:nvSpPr>
          <p:cNvPr id="8" name="Text 6"/>
          <p:cNvSpPr/>
          <p:nvPr/>
        </p:nvSpPr>
        <p:spPr>
          <a:xfrm>
            <a:off x="594360" y="2633472"/>
            <a:ext cx="1956816" cy="502920"/>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12,244 万円</a:t>
            </a:r>
            <a:endParaRPr lang="en-US" sz="1600" dirty="0"/>
          </a:p>
        </p:txBody>
      </p:sp>
      <p:sp>
        <p:nvSpPr>
          <p:cNvPr id="9" name="Text 7"/>
          <p:cNvSpPr/>
          <p:nvPr/>
        </p:nvSpPr>
        <p:spPr>
          <a:xfrm>
            <a:off x="612648" y="3200400"/>
            <a:ext cx="1956816" cy="1325880"/>
          </a:xfrm>
          <a:prstGeom prst="rect">
            <a:avLst/>
          </a:prstGeom>
          <a:noFill/>
          <a:ln/>
        </p:spPr>
        <p:txBody>
          <a:bodyPr wrap="square" lIns="0" tIns="0" rIns="0" bIns="0" rtlCol="0" anchor="t"/>
          <a:lstStyle/>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電気代 5,660</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塗装+足場 6,584★</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設備 0</a:t>
            </a:r>
            <a:endParaRPr lang="en-US" sz="900" dirty="0"/>
          </a:p>
        </p:txBody>
      </p:sp>
      <p:sp>
        <p:nvSpPr>
          <p:cNvPr id="10" name="Shape 8"/>
          <p:cNvSpPr/>
          <p:nvPr/>
        </p:nvSpPr>
        <p:spPr>
          <a:xfrm>
            <a:off x="612648" y="4663440"/>
            <a:ext cx="1920240" cy="502920"/>
          </a:xfrm>
          <a:prstGeom prst="rect">
            <a:avLst/>
          </a:prstGeom>
          <a:solidFill>
            <a:srgbClr val="FFFFFF"/>
          </a:solidFill>
          <a:ln w="16510">
            <a:solidFill>
              <a:srgbClr val="6B7280"/>
            </a:solidFill>
            <a:prstDash val="solid"/>
          </a:ln>
        </p:spPr>
      </p:sp>
      <p:sp>
        <p:nvSpPr>
          <p:cNvPr id="11" name="Text 9"/>
          <p:cNvSpPr/>
          <p:nvPr/>
        </p:nvSpPr>
        <p:spPr>
          <a:xfrm>
            <a:off x="612648" y="4663440"/>
            <a:ext cx="1920240" cy="502920"/>
          </a:xfrm>
          <a:prstGeom prst="rect">
            <a:avLst/>
          </a:prstGeom>
          <a:noFill/>
          <a:ln/>
        </p:spPr>
        <p:txBody>
          <a:bodyPr wrap="square" lIns="0" tIns="0" rIns="0" bIns="0" rtlCol="0" anchor="ctr"/>
          <a:lstStyle/>
          <a:p>
            <a:pPr algn="ctr" indent="0" marL="0">
              <a:buNone/>
            </a:pPr>
            <a:r>
              <a:rPr lang="en-US" sz="950" b="1" dirty="0">
                <a:solidFill>
                  <a:srgbClr val="6B7280"/>
                </a:solidFill>
                <a:latin typeface="Noto Sans CJK JP" pitchFamily="34" charset="0"/>
                <a:ea typeface="Noto Sans CJK JP" pitchFamily="34" charset="-122"/>
                <a:cs typeface="Noto Sans CJK JP" pitchFamily="34" charset="-120"/>
              </a:rPr>
              <a:t>─</a:t>
            </a:r>
            <a:endParaRPr lang="en-US" sz="950" dirty="0"/>
          </a:p>
        </p:txBody>
      </p:sp>
      <p:sp>
        <p:nvSpPr>
          <p:cNvPr id="12" name="Shape 10"/>
          <p:cNvSpPr/>
          <p:nvPr/>
        </p:nvSpPr>
        <p:spPr>
          <a:xfrm>
            <a:off x="2761488" y="1737360"/>
            <a:ext cx="2139696" cy="502920"/>
          </a:xfrm>
          <a:prstGeom prst="rect">
            <a:avLst/>
          </a:prstGeom>
          <a:solidFill>
            <a:srgbClr val="4A90D9"/>
          </a:solidFill>
          <a:ln/>
        </p:spPr>
      </p:sp>
      <p:sp>
        <p:nvSpPr>
          <p:cNvPr id="13" name="Text 11"/>
          <p:cNvSpPr/>
          <p:nvPr/>
        </p:nvSpPr>
        <p:spPr>
          <a:xfrm>
            <a:off x="2852928" y="1737360"/>
            <a:ext cx="2002536" cy="502920"/>
          </a:xfrm>
          <a:prstGeom prst="rect">
            <a:avLst/>
          </a:prstGeom>
          <a:noFill/>
          <a:ln/>
        </p:spPr>
        <p:txBody>
          <a:bodyPr wrap="square" lIns="0" tIns="0" rIns="0" bIns="0" rtlCol="0" anchor="ctr"/>
          <a:lstStyle/>
          <a:p>
            <a:pPr algn="l" indent="0" marL="0">
              <a:buNone/>
            </a:pPr>
            <a:r>
              <a:rPr lang="en-US" sz="1250" b="1" dirty="0">
                <a:solidFill>
                  <a:srgbClr val="FFFFFF"/>
                </a:solidFill>
                <a:latin typeface="Noto Sans CJK JP" pitchFamily="34" charset="0"/>
                <a:ea typeface="Noto Sans CJK JP" pitchFamily="34" charset="-122"/>
                <a:cs typeface="Noto Sans CJK JP" pitchFamily="34" charset="-120"/>
              </a:rPr>
              <a:t>B サニックス</a:t>
            </a:r>
            <a:endParaRPr lang="en-US" sz="1250" dirty="0"/>
          </a:p>
        </p:txBody>
      </p:sp>
      <p:sp>
        <p:nvSpPr>
          <p:cNvPr id="14" name="Shape 12"/>
          <p:cNvSpPr/>
          <p:nvPr/>
        </p:nvSpPr>
        <p:spPr>
          <a:xfrm>
            <a:off x="2761488" y="2240280"/>
            <a:ext cx="2139696" cy="3154680"/>
          </a:xfrm>
          <a:prstGeom prst="rect">
            <a:avLst/>
          </a:prstGeom>
          <a:solidFill>
            <a:srgbClr val="F4F6F8"/>
          </a:solidFill>
          <a:ln w="12700">
            <a:solidFill>
              <a:srgbClr val="E1E5EA"/>
            </a:solidFill>
            <a:prstDash val="solid"/>
          </a:ln>
        </p:spPr>
      </p:sp>
      <p:sp>
        <p:nvSpPr>
          <p:cNvPr id="15" name="Text 13"/>
          <p:cNvSpPr/>
          <p:nvPr/>
        </p:nvSpPr>
        <p:spPr>
          <a:xfrm>
            <a:off x="2871216" y="2377440"/>
            <a:ext cx="1956816" cy="256032"/>
          </a:xfrm>
          <a:prstGeom prst="rect">
            <a:avLst/>
          </a:prstGeom>
          <a:noFill/>
          <a:ln/>
        </p:spPr>
        <p:txBody>
          <a:bodyPr wrap="square" lIns="0" tIns="0" rIns="0" bIns="0" rtlCol="0" anchor="ctr"/>
          <a:lstStyle/>
          <a:p>
            <a:pPr algn="l" indent="0" marL="0">
              <a:buNone/>
            </a:pPr>
            <a:r>
              <a:rPr lang="en-US" sz="900" dirty="0">
                <a:solidFill>
                  <a:srgbClr val="6B7280"/>
                </a:solidFill>
                <a:latin typeface="Noto Sans CJK JP" pitchFamily="34" charset="0"/>
                <a:ea typeface="Noto Sans CJK JP" pitchFamily="34" charset="-122"/>
                <a:cs typeface="Noto Sans CJK JP" pitchFamily="34" charset="-120"/>
              </a:rPr>
              <a:t>20年累計</a:t>
            </a:r>
            <a:endParaRPr lang="en-US" sz="900" dirty="0"/>
          </a:p>
        </p:txBody>
      </p:sp>
      <p:sp>
        <p:nvSpPr>
          <p:cNvPr id="16" name="Text 14"/>
          <p:cNvSpPr/>
          <p:nvPr/>
        </p:nvSpPr>
        <p:spPr>
          <a:xfrm>
            <a:off x="2852928" y="2633472"/>
            <a:ext cx="1956816" cy="502920"/>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10,955 万円</a:t>
            </a:r>
            <a:endParaRPr lang="en-US" sz="1600" dirty="0"/>
          </a:p>
        </p:txBody>
      </p:sp>
      <p:sp>
        <p:nvSpPr>
          <p:cNvPr id="17" name="Text 15"/>
          <p:cNvSpPr/>
          <p:nvPr/>
        </p:nvSpPr>
        <p:spPr>
          <a:xfrm>
            <a:off x="2871216" y="3200400"/>
            <a:ext cx="1956816" cy="1325880"/>
          </a:xfrm>
          <a:prstGeom prst="rect">
            <a:avLst/>
          </a:prstGeom>
          <a:noFill/>
          <a:ln/>
        </p:spPr>
        <p:txBody>
          <a:bodyPr wrap="square" lIns="0" tIns="0" rIns="0" bIns="0" rtlCol="0" anchor="t"/>
          <a:lstStyle/>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電気代 3,755</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塗装+足場 6,584</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設備 616</a:t>
            </a:r>
            <a:endParaRPr lang="en-US" sz="900" dirty="0"/>
          </a:p>
        </p:txBody>
      </p:sp>
      <p:sp>
        <p:nvSpPr>
          <p:cNvPr id="18" name="Shape 16"/>
          <p:cNvSpPr/>
          <p:nvPr/>
        </p:nvSpPr>
        <p:spPr>
          <a:xfrm>
            <a:off x="2871216" y="4663440"/>
            <a:ext cx="1920240" cy="502920"/>
          </a:xfrm>
          <a:prstGeom prst="rect">
            <a:avLst/>
          </a:prstGeom>
          <a:solidFill>
            <a:srgbClr val="FFFFFF"/>
          </a:solidFill>
          <a:ln w="16510">
            <a:solidFill>
              <a:srgbClr val="4A90D9"/>
            </a:solidFill>
            <a:prstDash val="solid"/>
          </a:ln>
        </p:spPr>
      </p:sp>
      <p:sp>
        <p:nvSpPr>
          <p:cNvPr id="19" name="Text 17"/>
          <p:cNvSpPr/>
          <p:nvPr/>
        </p:nvSpPr>
        <p:spPr>
          <a:xfrm>
            <a:off x="2871216" y="4663440"/>
            <a:ext cx="1920240" cy="502920"/>
          </a:xfrm>
          <a:prstGeom prst="rect">
            <a:avLst/>
          </a:prstGeom>
          <a:noFill/>
          <a:ln/>
        </p:spPr>
        <p:txBody>
          <a:bodyPr wrap="square" lIns="0" tIns="0" rIns="0" bIns="0" rtlCol="0" anchor="ctr"/>
          <a:lstStyle/>
          <a:p>
            <a:pPr algn="ctr" indent="0" marL="0">
              <a:buNone/>
            </a:pPr>
            <a:r>
              <a:rPr lang="en-US" sz="950" b="1" dirty="0">
                <a:solidFill>
                  <a:srgbClr val="4A90D9"/>
                </a:solidFill>
                <a:latin typeface="Noto Sans CJK JP" pitchFamily="34" charset="0"/>
                <a:ea typeface="Noto Sans CJK JP" pitchFamily="34" charset="-122"/>
                <a:cs typeface="Noto Sans CJK JP" pitchFamily="34" charset="-120"/>
              </a:rPr>
              <a:t>▲ 1,289 万</a:t>
            </a:r>
            <a:endParaRPr lang="en-US" sz="950" dirty="0"/>
          </a:p>
        </p:txBody>
      </p:sp>
      <p:sp>
        <p:nvSpPr>
          <p:cNvPr id="20" name="Shape 18"/>
          <p:cNvSpPr/>
          <p:nvPr/>
        </p:nvSpPr>
        <p:spPr>
          <a:xfrm>
            <a:off x="5020056" y="1737360"/>
            <a:ext cx="2139696" cy="502920"/>
          </a:xfrm>
          <a:prstGeom prst="rect">
            <a:avLst/>
          </a:prstGeom>
          <a:solidFill>
            <a:srgbClr val="1FA383"/>
          </a:solidFill>
          <a:ln/>
        </p:spPr>
      </p:sp>
      <p:sp>
        <p:nvSpPr>
          <p:cNvPr id="21" name="Text 19"/>
          <p:cNvSpPr/>
          <p:nvPr/>
        </p:nvSpPr>
        <p:spPr>
          <a:xfrm>
            <a:off x="5111496" y="1737360"/>
            <a:ext cx="2002536" cy="502920"/>
          </a:xfrm>
          <a:prstGeom prst="rect">
            <a:avLst/>
          </a:prstGeom>
          <a:noFill/>
          <a:ln/>
        </p:spPr>
        <p:txBody>
          <a:bodyPr wrap="square" lIns="0" tIns="0" rIns="0" bIns="0" rtlCol="0" anchor="ctr"/>
          <a:lstStyle/>
          <a:p>
            <a:pPr algn="l" indent="0" marL="0">
              <a:buNone/>
            </a:pPr>
            <a:r>
              <a:rPr lang="en-US" sz="1250" b="1" dirty="0">
                <a:solidFill>
                  <a:srgbClr val="FFFFFF"/>
                </a:solidFill>
                <a:latin typeface="Noto Sans CJK JP" pitchFamily="34" charset="0"/>
                <a:ea typeface="Noto Sans CJK JP" pitchFamily="34" charset="-122"/>
                <a:cs typeface="Noto Sans CJK JP" pitchFamily="34" charset="-120"/>
              </a:rPr>
              <a:t>C シスコム</a:t>
            </a:r>
            <a:endParaRPr lang="en-US" sz="1250" dirty="0"/>
          </a:p>
        </p:txBody>
      </p:sp>
      <p:sp>
        <p:nvSpPr>
          <p:cNvPr id="22" name="Shape 20"/>
          <p:cNvSpPr/>
          <p:nvPr/>
        </p:nvSpPr>
        <p:spPr>
          <a:xfrm>
            <a:off x="5020056" y="2240280"/>
            <a:ext cx="2139696" cy="3154680"/>
          </a:xfrm>
          <a:prstGeom prst="rect">
            <a:avLst/>
          </a:prstGeom>
          <a:solidFill>
            <a:srgbClr val="F4F6F8"/>
          </a:solidFill>
          <a:ln w="12700">
            <a:solidFill>
              <a:srgbClr val="E1E5EA"/>
            </a:solidFill>
            <a:prstDash val="solid"/>
          </a:ln>
        </p:spPr>
      </p:sp>
      <p:sp>
        <p:nvSpPr>
          <p:cNvPr id="23" name="Text 21"/>
          <p:cNvSpPr/>
          <p:nvPr/>
        </p:nvSpPr>
        <p:spPr>
          <a:xfrm>
            <a:off x="5129784" y="2377440"/>
            <a:ext cx="1956816" cy="256032"/>
          </a:xfrm>
          <a:prstGeom prst="rect">
            <a:avLst/>
          </a:prstGeom>
          <a:noFill/>
          <a:ln/>
        </p:spPr>
        <p:txBody>
          <a:bodyPr wrap="square" lIns="0" tIns="0" rIns="0" bIns="0" rtlCol="0" anchor="ctr"/>
          <a:lstStyle/>
          <a:p>
            <a:pPr algn="l" indent="0" marL="0">
              <a:buNone/>
            </a:pPr>
            <a:r>
              <a:rPr lang="en-US" sz="900" dirty="0">
                <a:solidFill>
                  <a:srgbClr val="6B7280"/>
                </a:solidFill>
                <a:latin typeface="Noto Sans CJK JP" pitchFamily="34" charset="0"/>
                <a:ea typeface="Noto Sans CJK JP" pitchFamily="34" charset="-122"/>
                <a:cs typeface="Noto Sans CJK JP" pitchFamily="34" charset="-120"/>
              </a:rPr>
              <a:t>20年累計</a:t>
            </a:r>
            <a:endParaRPr lang="en-US" sz="900" dirty="0"/>
          </a:p>
        </p:txBody>
      </p:sp>
      <p:sp>
        <p:nvSpPr>
          <p:cNvPr id="24" name="Text 22"/>
          <p:cNvSpPr/>
          <p:nvPr/>
        </p:nvSpPr>
        <p:spPr>
          <a:xfrm>
            <a:off x="5111496" y="2633472"/>
            <a:ext cx="1956816" cy="502920"/>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9,821 万円</a:t>
            </a:r>
            <a:endParaRPr lang="en-US" sz="1600" dirty="0"/>
          </a:p>
        </p:txBody>
      </p:sp>
      <p:sp>
        <p:nvSpPr>
          <p:cNvPr id="25" name="Text 23"/>
          <p:cNvSpPr/>
          <p:nvPr/>
        </p:nvSpPr>
        <p:spPr>
          <a:xfrm>
            <a:off x="5129784" y="3200400"/>
            <a:ext cx="1956816" cy="1325880"/>
          </a:xfrm>
          <a:prstGeom prst="rect">
            <a:avLst/>
          </a:prstGeom>
          <a:noFill/>
          <a:ln/>
        </p:spPr>
        <p:txBody>
          <a:bodyPr wrap="square" lIns="0" tIns="0" rIns="0" bIns="0" rtlCol="0" anchor="t"/>
          <a:lstStyle/>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電気代 2,084</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塗装+足場 6,584</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設備 実質 1,153</a:t>
            </a:r>
            <a:endParaRPr lang="en-US" sz="900" dirty="0"/>
          </a:p>
        </p:txBody>
      </p:sp>
      <p:sp>
        <p:nvSpPr>
          <p:cNvPr id="26" name="Shape 24"/>
          <p:cNvSpPr/>
          <p:nvPr/>
        </p:nvSpPr>
        <p:spPr>
          <a:xfrm>
            <a:off x="5129784" y="4663440"/>
            <a:ext cx="1920240" cy="502920"/>
          </a:xfrm>
          <a:prstGeom prst="rect">
            <a:avLst/>
          </a:prstGeom>
          <a:solidFill>
            <a:srgbClr val="FFFFFF"/>
          </a:solidFill>
          <a:ln w="16510">
            <a:solidFill>
              <a:srgbClr val="1FA383"/>
            </a:solidFill>
            <a:prstDash val="solid"/>
          </a:ln>
        </p:spPr>
      </p:sp>
      <p:sp>
        <p:nvSpPr>
          <p:cNvPr id="27" name="Text 25"/>
          <p:cNvSpPr/>
          <p:nvPr/>
        </p:nvSpPr>
        <p:spPr>
          <a:xfrm>
            <a:off x="5129784" y="4663440"/>
            <a:ext cx="1920240" cy="502920"/>
          </a:xfrm>
          <a:prstGeom prst="rect">
            <a:avLst/>
          </a:prstGeom>
          <a:noFill/>
          <a:ln/>
        </p:spPr>
        <p:txBody>
          <a:bodyPr wrap="square" lIns="0" tIns="0" rIns="0" bIns="0" rtlCol="0" anchor="ctr"/>
          <a:lstStyle/>
          <a:p>
            <a:pPr algn="ctr" indent="0" marL="0">
              <a:buNone/>
            </a:pPr>
            <a:r>
              <a:rPr lang="en-US" sz="950" b="1" dirty="0">
                <a:solidFill>
                  <a:srgbClr val="1FA383"/>
                </a:solidFill>
                <a:latin typeface="Noto Sans CJK JP" pitchFamily="34" charset="0"/>
                <a:ea typeface="Noto Sans CJK JP" pitchFamily="34" charset="-122"/>
                <a:cs typeface="Noto Sans CJK JP" pitchFamily="34" charset="-120"/>
              </a:rPr>
              <a:t>▲ 2,423 万</a:t>
            </a:r>
            <a:endParaRPr lang="en-US" sz="950" dirty="0"/>
          </a:p>
        </p:txBody>
      </p:sp>
      <p:sp>
        <p:nvSpPr>
          <p:cNvPr id="28" name="Shape 26"/>
          <p:cNvSpPr/>
          <p:nvPr/>
        </p:nvSpPr>
        <p:spPr>
          <a:xfrm>
            <a:off x="7278624" y="1737360"/>
            <a:ext cx="2139696" cy="502920"/>
          </a:xfrm>
          <a:prstGeom prst="rect">
            <a:avLst/>
          </a:prstGeom>
          <a:solidFill>
            <a:srgbClr val="B89A55"/>
          </a:solidFill>
          <a:ln/>
        </p:spPr>
      </p:sp>
      <p:sp>
        <p:nvSpPr>
          <p:cNvPr id="29" name="Text 27"/>
          <p:cNvSpPr/>
          <p:nvPr/>
        </p:nvSpPr>
        <p:spPr>
          <a:xfrm>
            <a:off x="7370064" y="1737360"/>
            <a:ext cx="2002536" cy="502920"/>
          </a:xfrm>
          <a:prstGeom prst="rect">
            <a:avLst/>
          </a:prstGeom>
          <a:noFill/>
          <a:ln/>
        </p:spPr>
        <p:txBody>
          <a:bodyPr wrap="square" lIns="0" tIns="0" rIns="0" bIns="0" rtlCol="0" anchor="ctr"/>
          <a:lstStyle/>
          <a:p>
            <a:pPr algn="l" indent="0" marL="0">
              <a:buNone/>
            </a:pPr>
            <a:r>
              <a:rPr lang="en-US" sz="1250" b="1" dirty="0">
                <a:solidFill>
                  <a:srgbClr val="FFFFFF"/>
                </a:solidFill>
                <a:latin typeface="Noto Sans CJK JP" pitchFamily="34" charset="0"/>
                <a:ea typeface="Noto Sans CJK JP" pitchFamily="34" charset="-122"/>
                <a:cs typeface="Noto Sans CJK JP" pitchFamily="34" charset="-120"/>
              </a:rPr>
              <a:t>D ダブル</a:t>
            </a:r>
            <a:endParaRPr lang="en-US" sz="1250" dirty="0"/>
          </a:p>
        </p:txBody>
      </p:sp>
      <p:sp>
        <p:nvSpPr>
          <p:cNvPr id="30" name="Shape 28"/>
          <p:cNvSpPr/>
          <p:nvPr/>
        </p:nvSpPr>
        <p:spPr>
          <a:xfrm>
            <a:off x="7278624" y="2240280"/>
            <a:ext cx="2139696" cy="3154680"/>
          </a:xfrm>
          <a:prstGeom prst="rect">
            <a:avLst/>
          </a:prstGeom>
          <a:solidFill>
            <a:srgbClr val="F4F6F8"/>
          </a:solidFill>
          <a:ln w="12700">
            <a:solidFill>
              <a:srgbClr val="E1E5EA"/>
            </a:solidFill>
            <a:prstDash val="solid"/>
          </a:ln>
        </p:spPr>
      </p:sp>
      <p:sp>
        <p:nvSpPr>
          <p:cNvPr id="31" name="Text 29"/>
          <p:cNvSpPr/>
          <p:nvPr/>
        </p:nvSpPr>
        <p:spPr>
          <a:xfrm>
            <a:off x="7388352" y="2377440"/>
            <a:ext cx="1956816" cy="256032"/>
          </a:xfrm>
          <a:prstGeom prst="rect">
            <a:avLst/>
          </a:prstGeom>
          <a:noFill/>
          <a:ln/>
        </p:spPr>
        <p:txBody>
          <a:bodyPr wrap="square" lIns="0" tIns="0" rIns="0" bIns="0" rtlCol="0" anchor="ctr"/>
          <a:lstStyle/>
          <a:p>
            <a:pPr algn="l" indent="0" marL="0">
              <a:buNone/>
            </a:pPr>
            <a:r>
              <a:rPr lang="en-US" sz="900" dirty="0">
                <a:solidFill>
                  <a:srgbClr val="6B7280"/>
                </a:solidFill>
                <a:latin typeface="Noto Sans CJK JP" pitchFamily="34" charset="0"/>
                <a:ea typeface="Noto Sans CJK JP" pitchFamily="34" charset="-122"/>
                <a:cs typeface="Noto Sans CJK JP" pitchFamily="34" charset="-120"/>
              </a:rPr>
              <a:t>20年累計</a:t>
            </a:r>
            <a:endParaRPr lang="en-US" sz="900" dirty="0"/>
          </a:p>
        </p:txBody>
      </p:sp>
      <p:sp>
        <p:nvSpPr>
          <p:cNvPr id="32" name="Text 30"/>
          <p:cNvSpPr/>
          <p:nvPr/>
        </p:nvSpPr>
        <p:spPr>
          <a:xfrm>
            <a:off x="7370064" y="2633472"/>
            <a:ext cx="1956816" cy="502920"/>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5,375 万円</a:t>
            </a:r>
            <a:endParaRPr lang="en-US" sz="1600" dirty="0"/>
          </a:p>
        </p:txBody>
      </p:sp>
      <p:sp>
        <p:nvSpPr>
          <p:cNvPr id="33" name="Text 31"/>
          <p:cNvSpPr/>
          <p:nvPr/>
        </p:nvSpPr>
        <p:spPr>
          <a:xfrm>
            <a:off x="7388352" y="3200400"/>
            <a:ext cx="1956816" cy="1325880"/>
          </a:xfrm>
          <a:prstGeom prst="rect">
            <a:avLst/>
          </a:prstGeom>
          <a:noFill/>
          <a:ln/>
        </p:spPr>
        <p:txBody>
          <a:bodyPr wrap="square" lIns="0" tIns="0" rIns="0" bIns="0" rtlCol="0" anchor="t"/>
          <a:lstStyle/>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電気代 1,802</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メンテ 0 ★</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設備 実質 3,573</a:t>
            </a:r>
            <a:endParaRPr lang="en-US" sz="900" dirty="0"/>
          </a:p>
        </p:txBody>
      </p:sp>
      <p:sp>
        <p:nvSpPr>
          <p:cNvPr id="34" name="Shape 32"/>
          <p:cNvSpPr/>
          <p:nvPr/>
        </p:nvSpPr>
        <p:spPr>
          <a:xfrm>
            <a:off x="7388352" y="4663440"/>
            <a:ext cx="1920240" cy="502920"/>
          </a:xfrm>
          <a:prstGeom prst="rect">
            <a:avLst/>
          </a:prstGeom>
          <a:solidFill>
            <a:srgbClr val="FFFFFF"/>
          </a:solidFill>
          <a:ln w="16510">
            <a:solidFill>
              <a:srgbClr val="B89A55"/>
            </a:solidFill>
            <a:prstDash val="solid"/>
          </a:ln>
        </p:spPr>
      </p:sp>
      <p:sp>
        <p:nvSpPr>
          <p:cNvPr id="35" name="Text 33"/>
          <p:cNvSpPr/>
          <p:nvPr/>
        </p:nvSpPr>
        <p:spPr>
          <a:xfrm>
            <a:off x="7388352" y="4663440"/>
            <a:ext cx="1920240" cy="502920"/>
          </a:xfrm>
          <a:prstGeom prst="rect">
            <a:avLst/>
          </a:prstGeom>
          <a:noFill/>
          <a:ln/>
        </p:spPr>
        <p:txBody>
          <a:bodyPr wrap="square" lIns="0" tIns="0" rIns="0" bIns="0" rtlCol="0" anchor="ctr"/>
          <a:lstStyle/>
          <a:p>
            <a:pPr algn="ctr" indent="0" marL="0">
              <a:buNone/>
            </a:pPr>
            <a:r>
              <a:rPr lang="en-US" sz="950" b="1" dirty="0">
                <a:solidFill>
                  <a:srgbClr val="B89A55"/>
                </a:solidFill>
                <a:latin typeface="Noto Sans CJK JP" pitchFamily="34" charset="0"/>
                <a:ea typeface="Noto Sans CJK JP" pitchFamily="34" charset="-122"/>
                <a:cs typeface="Noto Sans CJK JP" pitchFamily="34" charset="-120"/>
              </a:rPr>
              <a:t>▲ 6,869 万</a:t>
            </a:r>
            <a:endParaRPr lang="en-US" sz="950" dirty="0"/>
          </a:p>
        </p:txBody>
      </p:sp>
      <p:sp>
        <p:nvSpPr>
          <p:cNvPr id="36" name="Shape 34"/>
          <p:cNvSpPr/>
          <p:nvPr/>
        </p:nvSpPr>
        <p:spPr>
          <a:xfrm>
            <a:off x="9537192" y="1737360"/>
            <a:ext cx="2139696" cy="502920"/>
          </a:xfrm>
          <a:prstGeom prst="rect">
            <a:avLst/>
          </a:prstGeom>
          <a:solidFill>
            <a:srgbClr val="E07D45"/>
          </a:solidFill>
          <a:ln/>
        </p:spPr>
      </p:sp>
      <p:sp>
        <p:nvSpPr>
          <p:cNvPr id="37" name="Text 35"/>
          <p:cNvSpPr/>
          <p:nvPr/>
        </p:nvSpPr>
        <p:spPr>
          <a:xfrm>
            <a:off x="9628632" y="1737360"/>
            <a:ext cx="2002536" cy="502920"/>
          </a:xfrm>
          <a:prstGeom prst="rect">
            <a:avLst/>
          </a:prstGeom>
          <a:noFill/>
          <a:ln/>
        </p:spPr>
        <p:txBody>
          <a:bodyPr wrap="square" lIns="0" tIns="0" rIns="0" bIns="0" rtlCol="0" anchor="ctr"/>
          <a:lstStyle/>
          <a:p>
            <a:pPr algn="l" indent="0" marL="0">
              <a:buNone/>
            </a:pPr>
            <a:r>
              <a:rPr lang="en-US" sz="1250" b="1" dirty="0">
                <a:solidFill>
                  <a:srgbClr val="FFFFFF"/>
                </a:solidFill>
                <a:latin typeface="Noto Sans CJK JP" pitchFamily="34" charset="0"/>
                <a:ea typeface="Noto Sans CJK JP" pitchFamily="34" charset="-122"/>
                <a:cs typeface="Noto Sans CJK JP" pitchFamily="34" charset="-120"/>
              </a:rPr>
              <a:t>E 屋根先行</a:t>
            </a:r>
            <a:endParaRPr lang="en-US" sz="1250" dirty="0"/>
          </a:p>
        </p:txBody>
      </p:sp>
      <p:sp>
        <p:nvSpPr>
          <p:cNvPr id="38" name="Shape 36"/>
          <p:cNvSpPr/>
          <p:nvPr/>
        </p:nvSpPr>
        <p:spPr>
          <a:xfrm>
            <a:off x="9537192" y="2240280"/>
            <a:ext cx="2139696" cy="3154680"/>
          </a:xfrm>
          <a:prstGeom prst="rect">
            <a:avLst/>
          </a:prstGeom>
          <a:solidFill>
            <a:srgbClr val="F4F6F8"/>
          </a:solidFill>
          <a:ln w="12700">
            <a:solidFill>
              <a:srgbClr val="E1E5EA"/>
            </a:solidFill>
            <a:prstDash val="solid"/>
          </a:ln>
        </p:spPr>
      </p:sp>
      <p:sp>
        <p:nvSpPr>
          <p:cNvPr id="39" name="Text 37"/>
          <p:cNvSpPr/>
          <p:nvPr/>
        </p:nvSpPr>
        <p:spPr>
          <a:xfrm>
            <a:off x="9646920" y="2377440"/>
            <a:ext cx="1956816" cy="256032"/>
          </a:xfrm>
          <a:prstGeom prst="rect">
            <a:avLst/>
          </a:prstGeom>
          <a:noFill/>
          <a:ln/>
        </p:spPr>
        <p:txBody>
          <a:bodyPr wrap="square" lIns="0" tIns="0" rIns="0" bIns="0" rtlCol="0" anchor="ctr"/>
          <a:lstStyle/>
          <a:p>
            <a:pPr algn="l" indent="0" marL="0">
              <a:buNone/>
            </a:pPr>
            <a:r>
              <a:rPr lang="en-US" sz="900" dirty="0">
                <a:solidFill>
                  <a:srgbClr val="6B7280"/>
                </a:solidFill>
                <a:latin typeface="Noto Sans CJK JP" pitchFamily="34" charset="0"/>
                <a:ea typeface="Noto Sans CJK JP" pitchFamily="34" charset="-122"/>
                <a:cs typeface="Noto Sans CJK JP" pitchFamily="34" charset="-120"/>
              </a:rPr>
              <a:t>20年累計</a:t>
            </a:r>
            <a:endParaRPr lang="en-US" sz="900" dirty="0"/>
          </a:p>
        </p:txBody>
      </p:sp>
      <p:sp>
        <p:nvSpPr>
          <p:cNvPr id="40" name="Text 38"/>
          <p:cNvSpPr/>
          <p:nvPr/>
        </p:nvSpPr>
        <p:spPr>
          <a:xfrm>
            <a:off x="9628632" y="2633472"/>
            <a:ext cx="1956816" cy="502920"/>
          </a:xfrm>
          <a:prstGeom prst="rect">
            <a:avLst/>
          </a:prstGeom>
          <a:noFill/>
          <a:ln/>
        </p:spPr>
        <p:txBody>
          <a:bodyPr wrap="square" lIns="0" tIns="0" rIns="0" bIns="0" rtlCol="0" anchor="ctr"/>
          <a:lstStyle/>
          <a:p>
            <a:pPr algn="l" indent="0" marL="0">
              <a:buNone/>
            </a:pPr>
            <a:r>
              <a:rPr lang="en-US" sz="1600" b="1" dirty="0">
                <a:solidFill>
                  <a:srgbClr val="0F2747"/>
                </a:solidFill>
                <a:latin typeface="Noto Sans CJK JP" pitchFamily="34" charset="0"/>
                <a:ea typeface="Noto Sans CJK JP" pitchFamily="34" charset="-122"/>
                <a:cs typeface="Noto Sans CJK JP" pitchFamily="34" charset="-120"/>
              </a:rPr>
              <a:t>4,095 万円★</a:t>
            </a:r>
            <a:endParaRPr lang="en-US" sz="1600" dirty="0"/>
          </a:p>
        </p:txBody>
      </p:sp>
      <p:sp>
        <p:nvSpPr>
          <p:cNvPr id="41" name="Text 39"/>
          <p:cNvSpPr/>
          <p:nvPr/>
        </p:nvSpPr>
        <p:spPr>
          <a:xfrm>
            <a:off x="9646920" y="3200400"/>
            <a:ext cx="1956816" cy="1325880"/>
          </a:xfrm>
          <a:prstGeom prst="rect">
            <a:avLst/>
          </a:prstGeom>
          <a:noFill/>
          <a:ln/>
        </p:spPr>
        <p:txBody>
          <a:bodyPr wrap="square" lIns="0" tIns="0" rIns="0" bIns="0" rtlCol="0" anchor="t"/>
          <a:lstStyle/>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電気代 2,037</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メンテ 0 ★</a:t>
            </a:r>
            <a:endParaRPr lang="en-US" sz="900" dirty="0"/>
          </a:p>
          <a:p>
            <a:pPr algn="l" indent="0" marL="0">
              <a:spcAft>
                <a:spcPts val="600"/>
              </a:spcAft>
              <a:buNone/>
            </a:pPr>
            <a:r>
              <a:rPr lang="en-US" sz="900" dirty="0">
                <a:solidFill>
                  <a:srgbClr val="1A2B40"/>
                </a:solidFill>
                <a:latin typeface="Noto Sans CJK JP" pitchFamily="34" charset="0"/>
                <a:ea typeface="Noto Sans CJK JP" pitchFamily="34" charset="-122"/>
                <a:cs typeface="Noto Sans CJK JP" pitchFamily="34" charset="-120"/>
              </a:rPr>
              <a:t>└ 設備 実質 2,058</a:t>
            </a:r>
            <a:endParaRPr lang="en-US" sz="900" dirty="0"/>
          </a:p>
        </p:txBody>
      </p:sp>
      <p:sp>
        <p:nvSpPr>
          <p:cNvPr id="42" name="Shape 40"/>
          <p:cNvSpPr/>
          <p:nvPr/>
        </p:nvSpPr>
        <p:spPr>
          <a:xfrm>
            <a:off x="9646920" y="4663440"/>
            <a:ext cx="1920240" cy="502920"/>
          </a:xfrm>
          <a:prstGeom prst="rect">
            <a:avLst/>
          </a:prstGeom>
          <a:solidFill>
            <a:srgbClr val="FFFFFF"/>
          </a:solidFill>
          <a:ln w="16510">
            <a:solidFill>
              <a:srgbClr val="E07D45"/>
            </a:solidFill>
            <a:prstDash val="solid"/>
          </a:ln>
        </p:spPr>
      </p:sp>
      <p:sp>
        <p:nvSpPr>
          <p:cNvPr id="43" name="Text 41"/>
          <p:cNvSpPr/>
          <p:nvPr/>
        </p:nvSpPr>
        <p:spPr>
          <a:xfrm>
            <a:off x="9646920" y="4663440"/>
            <a:ext cx="1920240" cy="502920"/>
          </a:xfrm>
          <a:prstGeom prst="rect">
            <a:avLst/>
          </a:prstGeom>
          <a:noFill/>
          <a:ln/>
        </p:spPr>
        <p:txBody>
          <a:bodyPr wrap="square" lIns="0" tIns="0" rIns="0" bIns="0" rtlCol="0" anchor="ctr"/>
          <a:lstStyle/>
          <a:p>
            <a:pPr algn="ctr" indent="0" marL="0">
              <a:buNone/>
            </a:pPr>
            <a:r>
              <a:rPr lang="en-US" sz="950" b="1" dirty="0">
                <a:solidFill>
                  <a:srgbClr val="E07D45"/>
                </a:solidFill>
                <a:latin typeface="Noto Sans CJK JP" pitchFamily="34" charset="0"/>
                <a:ea typeface="Noto Sans CJK JP" pitchFamily="34" charset="-122"/>
                <a:cs typeface="Noto Sans CJK JP" pitchFamily="34" charset="-120"/>
              </a:rPr>
              <a:t>▲ 8,149 万</a:t>
            </a:r>
            <a:endParaRPr lang="en-US" sz="950" dirty="0"/>
          </a:p>
        </p:txBody>
      </p:sp>
      <p:sp>
        <p:nvSpPr>
          <p:cNvPr id="44" name="Shape 42"/>
          <p:cNvSpPr/>
          <p:nvPr/>
        </p:nvSpPr>
        <p:spPr>
          <a:xfrm>
            <a:off x="457200" y="5577840"/>
            <a:ext cx="11274552" cy="868680"/>
          </a:xfrm>
          <a:prstGeom prst="rect">
            <a:avLst/>
          </a:prstGeom>
          <a:solidFill>
            <a:srgbClr val="0F2747"/>
          </a:solidFill>
          <a:ln/>
        </p:spPr>
      </p:sp>
      <p:sp>
        <p:nvSpPr>
          <p:cNvPr id="45" name="Text 43"/>
          <p:cNvSpPr/>
          <p:nvPr/>
        </p:nvSpPr>
        <p:spPr>
          <a:xfrm>
            <a:off x="640080" y="5632704"/>
            <a:ext cx="10972800" cy="329184"/>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初期投資が一番高そうに見える D プランが、 20 年で最も安い</a:t>
            </a:r>
            <a:endParaRPr lang="en-US" sz="1300" dirty="0"/>
          </a:p>
        </p:txBody>
      </p:sp>
      <p:sp>
        <p:nvSpPr>
          <p:cNvPr id="46" name="Text 44"/>
          <p:cNvSpPr/>
          <p:nvPr/>
        </p:nvSpPr>
        <p:spPr>
          <a:xfrm>
            <a:off x="640080" y="5943600"/>
            <a:ext cx="10927080" cy="457200"/>
          </a:xfrm>
          <a:prstGeom prst="rect">
            <a:avLst/>
          </a:prstGeom>
          <a:noFill/>
          <a:ln/>
        </p:spPr>
        <p:txBody>
          <a:bodyPr wrap="square" lIns="0" tIns="0" rIns="0" bIns="0" rtlCol="0" anchor="ctr"/>
          <a:lstStyle/>
          <a:p>
            <a:pPr algn="l" indent="0" marL="0">
              <a:lnSpc>
                <a:spcPct val="115000"/>
              </a:lnSpc>
              <a:buNone/>
            </a:pPr>
            <a:r>
              <a:rPr lang="en-US" sz="1000" dirty="0">
                <a:solidFill>
                  <a:srgbClr val="FFFFFF"/>
                </a:solidFill>
                <a:latin typeface="Noto Sans CJK JP" pitchFamily="34" charset="0"/>
                <a:ea typeface="Noto Sans CJK JP" pitchFamily="34" charset="-122"/>
                <a:cs typeface="Noto Sans CJK JP" pitchFamily="34" charset="-120"/>
              </a:rPr>
              <a:t>理由：①窓断熱 + 屋根遮熱ポリウレアで空調電気代を 30% カット ②塗装+足場は20年で 6,584万かかる。 D/E案はポリウレアで20年メンテ0+遮熱で空調代も下がる ③ 20 年塗装 + 足場 2,439 万円が不要 ④補助金 1,000 万円 ( 上限 ) で設備費圧縮、外壁ポリウレア化で資産価値も向上</a:t>
            </a:r>
            <a:endParaRPr lang="en-US" sz="1000" dirty="0"/>
          </a:p>
        </p:txBody>
      </p:sp>
      <p:sp>
        <p:nvSpPr>
          <p:cNvPr id="47" name="Text 45"/>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48" name="Text 46"/>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11 / 20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05</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20 年累計コスト 棒グラフ比較 ― D と E の戦略比較</a:t>
            </a:r>
            <a:endParaRPr lang="en-US" sz="3000" dirty="0"/>
          </a:p>
        </p:txBody>
      </p:sp>
      <p:graphicFrame>
        <p:nvGraphicFramePr>
          <p:cNvPr id="4" name="Chart 0" descr=""/>
          <p:cNvGraphicFramePr/>
          <p:nvPr/>
        </p:nvGraphicFramePr>
        <p:xfrm>
          <a:off x="548640" y="1691640"/>
          <a:ext cx="850392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68680" y="2029968"/>
            <a:ext cx="1234440" cy="384048"/>
          </a:xfrm>
          <a:prstGeom prst="rect">
            <a:avLst/>
          </a:prstGeom>
          <a:solidFill>
            <a:srgbClr val="0F2747"/>
          </a:solidFill>
          <a:ln/>
        </p:spPr>
      </p:sp>
      <p:sp>
        <p:nvSpPr>
          <p:cNvPr id="6" name="Text 3"/>
          <p:cNvSpPr/>
          <p:nvPr/>
        </p:nvSpPr>
        <p:spPr>
          <a:xfrm>
            <a:off x="868680" y="2029968"/>
            <a:ext cx="12344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12,244 万</a:t>
            </a:r>
            <a:endParaRPr lang="en-US" sz="1100" dirty="0"/>
          </a:p>
        </p:txBody>
      </p:sp>
      <p:sp>
        <p:nvSpPr>
          <p:cNvPr id="7" name="Shape 4"/>
          <p:cNvSpPr/>
          <p:nvPr/>
        </p:nvSpPr>
        <p:spPr>
          <a:xfrm>
            <a:off x="2606040" y="2423160"/>
            <a:ext cx="1234440" cy="384048"/>
          </a:xfrm>
          <a:prstGeom prst="rect">
            <a:avLst/>
          </a:prstGeom>
          <a:solidFill>
            <a:srgbClr val="0F2747"/>
          </a:solidFill>
          <a:ln/>
        </p:spPr>
      </p:sp>
      <p:sp>
        <p:nvSpPr>
          <p:cNvPr id="8" name="Text 5"/>
          <p:cNvSpPr/>
          <p:nvPr/>
        </p:nvSpPr>
        <p:spPr>
          <a:xfrm>
            <a:off x="2606040" y="2423160"/>
            <a:ext cx="12344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10,955 万</a:t>
            </a:r>
            <a:endParaRPr lang="en-US" sz="1100" dirty="0"/>
          </a:p>
        </p:txBody>
      </p:sp>
      <p:sp>
        <p:nvSpPr>
          <p:cNvPr id="9" name="Shape 6"/>
          <p:cNvSpPr/>
          <p:nvPr/>
        </p:nvSpPr>
        <p:spPr>
          <a:xfrm>
            <a:off x="4343400" y="2770632"/>
            <a:ext cx="1234440" cy="384048"/>
          </a:xfrm>
          <a:prstGeom prst="rect">
            <a:avLst/>
          </a:prstGeom>
          <a:solidFill>
            <a:srgbClr val="0F2747"/>
          </a:solidFill>
          <a:ln/>
        </p:spPr>
      </p:sp>
      <p:sp>
        <p:nvSpPr>
          <p:cNvPr id="10" name="Text 7"/>
          <p:cNvSpPr/>
          <p:nvPr/>
        </p:nvSpPr>
        <p:spPr>
          <a:xfrm>
            <a:off x="4343400" y="2770632"/>
            <a:ext cx="12344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9,821 万</a:t>
            </a:r>
            <a:endParaRPr lang="en-US" sz="1100" dirty="0"/>
          </a:p>
        </p:txBody>
      </p:sp>
      <p:sp>
        <p:nvSpPr>
          <p:cNvPr id="11" name="Shape 8"/>
          <p:cNvSpPr/>
          <p:nvPr/>
        </p:nvSpPr>
        <p:spPr>
          <a:xfrm>
            <a:off x="6080760" y="4123944"/>
            <a:ext cx="1234440" cy="384048"/>
          </a:xfrm>
          <a:prstGeom prst="rect">
            <a:avLst/>
          </a:prstGeom>
          <a:solidFill>
            <a:srgbClr val="0F2747"/>
          </a:solidFill>
          <a:ln/>
        </p:spPr>
      </p:sp>
      <p:sp>
        <p:nvSpPr>
          <p:cNvPr id="12" name="Text 9"/>
          <p:cNvSpPr/>
          <p:nvPr/>
        </p:nvSpPr>
        <p:spPr>
          <a:xfrm>
            <a:off x="6080760" y="4123944"/>
            <a:ext cx="12344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5,375 万</a:t>
            </a:r>
            <a:endParaRPr lang="en-US" sz="1100" dirty="0"/>
          </a:p>
        </p:txBody>
      </p:sp>
      <p:sp>
        <p:nvSpPr>
          <p:cNvPr id="13" name="Shape 10"/>
          <p:cNvSpPr/>
          <p:nvPr/>
        </p:nvSpPr>
        <p:spPr>
          <a:xfrm>
            <a:off x="7818120" y="4507992"/>
            <a:ext cx="1234440" cy="384048"/>
          </a:xfrm>
          <a:prstGeom prst="rect">
            <a:avLst/>
          </a:prstGeom>
          <a:solidFill>
            <a:srgbClr val="0F2747"/>
          </a:solidFill>
          <a:ln/>
        </p:spPr>
      </p:sp>
      <p:sp>
        <p:nvSpPr>
          <p:cNvPr id="14" name="Text 11"/>
          <p:cNvSpPr/>
          <p:nvPr/>
        </p:nvSpPr>
        <p:spPr>
          <a:xfrm>
            <a:off x="7818120" y="4507992"/>
            <a:ext cx="12344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Noto Sans CJK JP" pitchFamily="34" charset="0"/>
                <a:ea typeface="Noto Sans CJK JP" pitchFamily="34" charset="-122"/>
                <a:cs typeface="Noto Sans CJK JP" pitchFamily="34" charset="-120"/>
              </a:rPr>
              <a:t>4,095 万</a:t>
            </a:r>
            <a:endParaRPr lang="en-US" sz="1100" dirty="0"/>
          </a:p>
        </p:txBody>
      </p:sp>
      <p:sp>
        <p:nvSpPr>
          <p:cNvPr id="15" name="Shape 12"/>
          <p:cNvSpPr/>
          <p:nvPr/>
        </p:nvSpPr>
        <p:spPr>
          <a:xfrm>
            <a:off x="8183880" y="4005072"/>
            <a:ext cx="502920" cy="502920"/>
          </a:xfrm>
          <a:prstGeom prst="ellipse">
            <a:avLst/>
          </a:prstGeom>
          <a:solidFill>
            <a:srgbClr val="C7A867"/>
          </a:solidFill>
          <a:ln/>
        </p:spPr>
      </p:sp>
      <p:sp>
        <p:nvSpPr>
          <p:cNvPr id="16" name="Text 13"/>
          <p:cNvSpPr/>
          <p:nvPr/>
        </p:nvSpPr>
        <p:spPr>
          <a:xfrm>
            <a:off x="8183880" y="4005072"/>
            <a:ext cx="502920" cy="502920"/>
          </a:xfrm>
          <a:prstGeom prst="rect">
            <a:avLst/>
          </a:prstGeom>
          <a:noFill/>
          <a:ln/>
        </p:spPr>
        <p:txBody>
          <a:bodyPr wrap="square" lIns="0" tIns="0" rIns="0" bIns="0" rtlCol="0" anchor="ctr"/>
          <a:lstStyle/>
          <a:p>
            <a:pPr algn="ctr" indent="0" marL="0">
              <a:buNone/>
            </a:pPr>
            <a:r>
              <a:rPr lang="en-US" sz="1600" b="1" dirty="0">
                <a:solidFill>
                  <a:srgbClr val="0F2747"/>
                </a:solidFill>
                <a:latin typeface="Noto Sans CJK JP" pitchFamily="34" charset="0"/>
                <a:ea typeface="Noto Sans CJK JP" pitchFamily="34" charset="-122"/>
                <a:cs typeface="Noto Sans CJK JP" pitchFamily="34" charset="-120"/>
              </a:rPr>
              <a:t>★</a:t>
            </a:r>
            <a:endParaRPr lang="en-US" sz="1600" dirty="0"/>
          </a:p>
        </p:txBody>
      </p:sp>
      <p:sp>
        <p:nvSpPr>
          <p:cNvPr id="17" name="Shape 14"/>
          <p:cNvSpPr/>
          <p:nvPr/>
        </p:nvSpPr>
        <p:spPr>
          <a:xfrm>
            <a:off x="9281160" y="2194560"/>
            <a:ext cx="2450592" cy="3154680"/>
          </a:xfrm>
          <a:prstGeom prst="roundRect">
            <a:avLst>
              <a:gd name="adj" fmla="val 2239"/>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18" name="Text 15"/>
          <p:cNvSpPr/>
          <p:nvPr/>
        </p:nvSpPr>
        <p:spPr>
          <a:xfrm>
            <a:off x="9509760" y="2377440"/>
            <a:ext cx="2103120" cy="320040"/>
          </a:xfrm>
          <a:prstGeom prst="rect">
            <a:avLst/>
          </a:prstGeom>
          <a:noFill/>
          <a:ln/>
        </p:spPr>
        <p:txBody>
          <a:bodyPr wrap="square" lIns="0" tIns="0" rIns="0" bIns="0" rtlCol="0" anchor="ctr"/>
          <a:lstStyle/>
          <a:p>
            <a:pPr algn="l" indent="0" marL="0">
              <a:buNone/>
            </a:pPr>
            <a:r>
              <a:rPr lang="en-US" sz="1300" b="1" dirty="0">
                <a:solidFill>
                  <a:srgbClr val="0F2747"/>
                </a:solidFill>
                <a:latin typeface="Noto Sans CJK JP" pitchFamily="34" charset="0"/>
                <a:ea typeface="Noto Sans CJK JP" pitchFamily="34" charset="-122"/>
                <a:cs typeface="Noto Sans CJK JP" pitchFamily="34" charset="-120"/>
              </a:rPr>
              <a:t>内訳</a:t>
            </a:r>
            <a:endParaRPr lang="en-US" sz="1300" dirty="0"/>
          </a:p>
        </p:txBody>
      </p:sp>
      <p:sp>
        <p:nvSpPr>
          <p:cNvPr id="19" name="Shape 16"/>
          <p:cNvSpPr/>
          <p:nvPr/>
        </p:nvSpPr>
        <p:spPr>
          <a:xfrm>
            <a:off x="9509760" y="2788920"/>
            <a:ext cx="274320" cy="274320"/>
          </a:xfrm>
          <a:prstGeom prst="rect">
            <a:avLst/>
          </a:prstGeom>
          <a:solidFill>
            <a:srgbClr val="5B7A95"/>
          </a:solidFill>
          <a:ln/>
        </p:spPr>
      </p:sp>
      <p:sp>
        <p:nvSpPr>
          <p:cNvPr id="20" name="Text 17"/>
          <p:cNvSpPr/>
          <p:nvPr/>
        </p:nvSpPr>
        <p:spPr>
          <a:xfrm>
            <a:off x="9875520" y="2761488"/>
            <a:ext cx="1783080" cy="274320"/>
          </a:xfrm>
          <a:prstGeom prst="rect">
            <a:avLst/>
          </a:prstGeom>
          <a:noFill/>
          <a:ln/>
        </p:spPr>
        <p:txBody>
          <a:bodyPr wrap="square" lIns="0" tIns="0" rIns="0" bIns="0" rtlCol="0" anchor="ctr"/>
          <a:lstStyle/>
          <a:p>
            <a:pPr algn="l" indent="0" marL="0">
              <a:buNone/>
            </a:pPr>
            <a:r>
              <a:rPr lang="en-US" sz="1150" b="1" dirty="0">
                <a:solidFill>
                  <a:srgbClr val="0F2747"/>
                </a:solidFill>
                <a:latin typeface="Noto Sans CJK JP" pitchFamily="34" charset="0"/>
                <a:ea typeface="Noto Sans CJK JP" pitchFamily="34" charset="-122"/>
                <a:cs typeface="Noto Sans CJK JP" pitchFamily="34" charset="-120"/>
              </a:rPr>
              <a:t>電気代</a:t>
            </a:r>
            <a:endParaRPr lang="en-US" sz="1150" dirty="0"/>
          </a:p>
        </p:txBody>
      </p:sp>
      <p:sp>
        <p:nvSpPr>
          <p:cNvPr id="21" name="Text 18"/>
          <p:cNvSpPr/>
          <p:nvPr/>
        </p:nvSpPr>
        <p:spPr>
          <a:xfrm>
            <a:off x="9509760" y="3081528"/>
            <a:ext cx="2103120" cy="365760"/>
          </a:xfrm>
          <a:prstGeom prst="rect">
            <a:avLst/>
          </a:prstGeom>
          <a:noFill/>
          <a:ln/>
        </p:spPr>
        <p:txBody>
          <a:bodyPr wrap="square" lIns="0" tIns="0" rIns="0" bIns="0" rtlCol="0" anchor="t"/>
          <a:lstStyle/>
          <a:p>
            <a:pPr algn="l" indent="0" marL="0">
              <a:lnSpc>
                <a:spcPct val="110000"/>
              </a:lnSpc>
              <a:buNone/>
            </a:pPr>
            <a:r>
              <a:rPr lang="en-US" sz="900" dirty="0">
                <a:solidFill>
                  <a:srgbClr val="6B7280"/>
                </a:solidFill>
                <a:latin typeface="Noto Sans CJK JP" pitchFamily="34" charset="0"/>
                <a:ea typeface="Noto Sans CJK JP" pitchFamily="34" charset="-122"/>
                <a:cs typeface="Noto Sans CJK JP" pitchFamily="34" charset="-120"/>
              </a:rPr>
              <a:t>20 年累計・年 2% 上昇</a:t>
            </a:r>
            <a:endParaRPr lang="en-US" sz="900" dirty="0"/>
          </a:p>
        </p:txBody>
      </p:sp>
      <p:sp>
        <p:nvSpPr>
          <p:cNvPr id="22" name="Shape 19"/>
          <p:cNvSpPr/>
          <p:nvPr/>
        </p:nvSpPr>
        <p:spPr>
          <a:xfrm>
            <a:off x="9509760" y="3611880"/>
            <a:ext cx="274320" cy="274320"/>
          </a:xfrm>
          <a:prstGeom prst="rect">
            <a:avLst/>
          </a:prstGeom>
          <a:solidFill>
            <a:srgbClr val="E58027"/>
          </a:solidFill>
          <a:ln/>
        </p:spPr>
      </p:sp>
      <p:sp>
        <p:nvSpPr>
          <p:cNvPr id="23" name="Text 20"/>
          <p:cNvSpPr/>
          <p:nvPr/>
        </p:nvSpPr>
        <p:spPr>
          <a:xfrm>
            <a:off x="9875520" y="3584448"/>
            <a:ext cx="1783080" cy="274320"/>
          </a:xfrm>
          <a:prstGeom prst="rect">
            <a:avLst/>
          </a:prstGeom>
          <a:noFill/>
          <a:ln/>
        </p:spPr>
        <p:txBody>
          <a:bodyPr wrap="square" lIns="0" tIns="0" rIns="0" bIns="0" rtlCol="0" anchor="ctr"/>
          <a:lstStyle/>
          <a:p>
            <a:pPr algn="l" indent="0" marL="0">
              <a:buNone/>
            </a:pPr>
            <a:r>
              <a:rPr lang="en-US" sz="1150" b="1" dirty="0">
                <a:solidFill>
                  <a:srgbClr val="0F2747"/>
                </a:solidFill>
                <a:latin typeface="Noto Sans CJK JP" pitchFamily="34" charset="0"/>
                <a:ea typeface="Noto Sans CJK JP" pitchFamily="34" charset="-122"/>
                <a:cs typeface="Noto Sans CJK JP" pitchFamily="34" charset="-120"/>
              </a:rPr>
              <a:t>建物メンテ</a:t>
            </a:r>
            <a:endParaRPr lang="en-US" sz="1150" dirty="0"/>
          </a:p>
        </p:txBody>
      </p:sp>
      <p:sp>
        <p:nvSpPr>
          <p:cNvPr id="24" name="Text 21"/>
          <p:cNvSpPr/>
          <p:nvPr/>
        </p:nvSpPr>
        <p:spPr>
          <a:xfrm>
            <a:off x="9509760" y="3904488"/>
            <a:ext cx="2103120" cy="365760"/>
          </a:xfrm>
          <a:prstGeom prst="rect">
            <a:avLst/>
          </a:prstGeom>
          <a:noFill/>
          <a:ln/>
        </p:spPr>
        <p:txBody>
          <a:bodyPr wrap="square" lIns="0" tIns="0" rIns="0" bIns="0" rtlCol="0" anchor="t"/>
          <a:lstStyle/>
          <a:p>
            <a:pPr algn="l" indent="0" marL="0">
              <a:lnSpc>
                <a:spcPct val="110000"/>
              </a:lnSpc>
              <a:buNone/>
            </a:pPr>
            <a:r>
              <a:rPr lang="en-US" sz="900" dirty="0">
                <a:solidFill>
                  <a:srgbClr val="6B7280"/>
                </a:solidFill>
                <a:latin typeface="Noto Sans CJK JP" pitchFamily="34" charset="0"/>
                <a:ea typeface="Noto Sans CJK JP" pitchFamily="34" charset="-122"/>
                <a:cs typeface="Noto Sans CJK JP" pitchFamily="34" charset="-120"/>
              </a:rPr>
              <a:t>塗装 + パネル脱着</a:t>
            </a:r>
            <a:endParaRPr lang="en-US" sz="900" dirty="0"/>
          </a:p>
        </p:txBody>
      </p:sp>
      <p:sp>
        <p:nvSpPr>
          <p:cNvPr id="25" name="Shape 22"/>
          <p:cNvSpPr/>
          <p:nvPr/>
        </p:nvSpPr>
        <p:spPr>
          <a:xfrm>
            <a:off x="9509760" y="4434840"/>
            <a:ext cx="274320" cy="274320"/>
          </a:xfrm>
          <a:prstGeom prst="rect">
            <a:avLst/>
          </a:prstGeom>
          <a:solidFill>
            <a:srgbClr val="0F2747"/>
          </a:solidFill>
          <a:ln/>
        </p:spPr>
      </p:sp>
      <p:sp>
        <p:nvSpPr>
          <p:cNvPr id="26" name="Text 23"/>
          <p:cNvSpPr/>
          <p:nvPr/>
        </p:nvSpPr>
        <p:spPr>
          <a:xfrm>
            <a:off x="9875520" y="4407408"/>
            <a:ext cx="1783080" cy="274320"/>
          </a:xfrm>
          <a:prstGeom prst="rect">
            <a:avLst/>
          </a:prstGeom>
          <a:noFill/>
          <a:ln/>
        </p:spPr>
        <p:txBody>
          <a:bodyPr wrap="square" lIns="0" tIns="0" rIns="0" bIns="0" rtlCol="0" anchor="ctr"/>
          <a:lstStyle/>
          <a:p>
            <a:pPr algn="l" indent="0" marL="0">
              <a:buNone/>
            </a:pPr>
            <a:r>
              <a:rPr lang="en-US" sz="1150" b="1" dirty="0">
                <a:solidFill>
                  <a:srgbClr val="0F2747"/>
                </a:solidFill>
                <a:latin typeface="Noto Sans CJK JP" pitchFamily="34" charset="0"/>
                <a:ea typeface="Noto Sans CJK JP" pitchFamily="34" charset="-122"/>
                <a:cs typeface="Noto Sans CJK JP" pitchFamily="34" charset="-120"/>
              </a:rPr>
              <a:t>設備投資</a:t>
            </a:r>
            <a:endParaRPr lang="en-US" sz="1150" dirty="0"/>
          </a:p>
        </p:txBody>
      </p:sp>
      <p:sp>
        <p:nvSpPr>
          <p:cNvPr id="27" name="Text 24"/>
          <p:cNvSpPr/>
          <p:nvPr/>
        </p:nvSpPr>
        <p:spPr>
          <a:xfrm>
            <a:off x="9509760" y="4727448"/>
            <a:ext cx="2103120" cy="365760"/>
          </a:xfrm>
          <a:prstGeom prst="rect">
            <a:avLst/>
          </a:prstGeom>
          <a:noFill/>
          <a:ln/>
        </p:spPr>
        <p:txBody>
          <a:bodyPr wrap="square" lIns="0" tIns="0" rIns="0" bIns="0" rtlCol="0" anchor="t"/>
          <a:lstStyle/>
          <a:p>
            <a:pPr algn="l" indent="0" marL="0">
              <a:lnSpc>
                <a:spcPct val="110000"/>
              </a:lnSpc>
              <a:buNone/>
            </a:pPr>
            <a:r>
              <a:rPr lang="en-US" sz="900" dirty="0">
                <a:solidFill>
                  <a:srgbClr val="6B7280"/>
                </a:solidFill>
                <a:latin typeface="Noto Sans CJK JP" pitchFamily="34" charset="0"/>
                <a:ea typeface="Noto Sans CJK JP" pitchFamily="34" charset="-122"/>
                <a:cs typeface="Noto Sans CJK JP" pitchFamily="34" charset="-120"/>
              </a:rPr>
              <a:t>実質負担 ( 補助後 )</a:t>
            </a:r>
            <a:endParaRPr lang="en-US" sz="900" dirty="0"/>
          </a:p>
        </p:txBody>
      </p:sp>
      <p:sp>
        <p:nvSpPr>
          <p:cNvPr id="28" name="Shape 25"/>
          <p:cNvSpPr/>
          <p:nvPr/>
        </p:nvSpPr>
        <p:spPr>
          <a:xfrm>
            <a:off x="457200" y="5989320"/>
            <a:ext cx="11274552" cy="502920"/>
          </a:xfrm>
          <a:prstGeom prst="rect">
            <a:avLst/>
          </a:prstGeom>
          <a:solidFill>
            <a:srgbClr val="B89A55"/>
          </a:solidFill>
          <a:ln/>
        </p:spPr>
      </p:sp>
      <p:sp>
        <p:nvSpPr>
          <p:cNvPr id="29" name="Text 26"/>
          <p:cNvSpPr/>
          <p:nvPr/>
        </p:nvSpPr>
        <p:spPr>
          <a:xfrm>
            <a:off x="457200" y="5989320"/>
            <a:ext cx="11274552" cy="502920"/>
          </a:xfrm>
          <a:prstGeom prst="rect">
            <a:avLst/>
          </a:prstGeom>
          <a:noFill/>
          <a:ln/>
        </p:spPr>
        <p:txBody>
          <a:bodyPr wrap="square" lIns="0" tIns="0" rIns="0" bIns="0" rtlCol="0" anchor="ctr"/>
          <a:lstStyle/>
          <a:p>
            <a:pPr algn="ctr" indent="0" marL="0">
              <a:buNone/>
            </a:pPr>
            <a:r>
              <a:rPr lang="en-US" sz="1250" b="1" dirty="0">
                <a:solidFill>
                  <a:srgbClr val="0F2747"/>
                </a:solidFill>
                <a:latin typeface="Noto Sans CJK JP" pitchFamily="34" charset="0"/>
                <a:ea typeface="Noto Sans CJK JP" pitchFamily="34" charset="-122"/>
                <a:cs typeface="Noto Sans CJK JP" pitchFamily="34" charset="-120"/>
              </a:rPr>
              <a:t>D は確定で A比 ▲6,869 万。 E は来年外壁の補助金成功で最安 A比 ▲8,149 万。 ★A/B/C のオレンジ部分(塗装+足場)は暑さ対策にならず物価で雪だるま式に増える ／ D/E はポリウレアでメンテ0+遮熱二重効果★</a:t>
            </a:r>
            <a:endParaRPr lang="en-US" sz="1250" dirty="0"/>
          </a:p>
        </p:txBody>
      </p:sp>
      <p:sp>
        <p:nvSpPr>
          <p:cNvPr id="30" name="Text 27"/>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31" name="Text 28"/>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12 / 20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05</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建物維持負担 ― 通常塗装は20年で6,584万円 ★暑さ対策にならない!</a:t>
            </a:r>
            <a:endParaRPr lang="en-US" sz="3000" dirty="0"/>
          </a:p>
        </p:txBody>
      </p:sp>
      <p:sp>
        <p:nvSpPr>
          <p:cNvPr id="4" name="Shape 2"/>
          <p:cNvSpPr/>
          <p:nvPr/>
        </p:nvSpPr>
        <p:spPr>
          <a:xfrm>
            <a:off x="457200" y="1417320"/>
            <a:ext cx="11274552" cy="502920"/>
          </a:xfrm>
          <a:prstGeom prst="rect">
            <a:avLst/>
          </a:prstGeom>
          <a:solidFill>
            <a:srgbClr val="C0392B"/>
          </a:solidFill>
          <a:ln/>
        </p:spPr>
      </p:sp>
      <p:sp>
        <p:nvSpPr>
          <p:cNvPr id="5" name="Text 3"/>
          <p:cNvSpPr/>
          <p:nvPr/>
        </p:nvSpPr>
        <p:spPr>
          <a:xfrm>
            <a:off x="640080" y="1417320"/>
            <a:ext cx="10972800" cy="502920"/>
          </a:xfrm>
          <a:prstGeom prst="rect">
            <a:avLst/>
          </a:prstGeom>
          <a:noFill/>
          <a:ln/>
        </p:spPr>
        <p:txBody>
          <a:bodyPr wrap="square" lIns="0" tIns="0" rIns="0" bIns="0" rtlCol="0" anchor="ctr"/>
          <a:lstStyle/>
          <a:p>
            <a:pPr algn="l" indent="0" marL="0">
              <a:buNone/>
            </a:pPr>
            <a:r>
              <a:rPr lang="en-US" sz="1350" b="1" dirty="0">
                <a:solidFill>
                  <a:srgbClr val="FFFFFF"/>
                </a:solidFill>
                <a:latin typeface="Noto Sans CJK JP" pitchFamily="34" charset="0"/>
                <a:ea typeface="Noto Sans CJK JP" pitchFamily="34" charset="-122"/>
                <a:cs typeface="Noto Sans CJK JP" pitchFamily="34" charset="-120"/>
              </a:rPr>
              <a:t>★ 塗装は維持費をかけても暑さ対策にならない! ／ 物価高騰6%/年で工事費は雪だるま式に上がる</a:t>
            </a:r>
            <a:endParaRPr lang="en-US" sz="1350" dirty="0"/>
          </a:p>
        </p:txBody>
      </p:sp>
      <p:sp>
        <p:nvSpPr>
          <p:cNvPr id="6" name="Text 4"/>
          <p:cNvSpPr/>
          <p:nvPr/>
        </p:nvSpPr>
        <p:spPr>
          <a:xfrm>
            <a:off x="457200" y="2103120"/>
            <a:ext cx="9144000" cy="320040"/>
          </a:xfrm>
          <a:prstGeom prst="rect">
            <a:avLst/>
          </a:prstGeom>
          <a:noFill/>
          <a:ln/>
        </p:spPr>
        <p:txBody>
          <a:bodyPr wrap="square" lIns="0" tIns="0" rIns="0" bIns="0" rtlCol="0" anchor="ctr"/>
          <a:lstStyle/>
          <a:p>
            <a:pPr algn="l" indent="0" marL="0">
              <a:buNone/>
            </a:pPr>
            <a:r>
              <a:rPr lang="en-US" sz="1300" b="1" dirty="0">
                <a:solidFill>
                  <a:srgbClr val="1A2B40"/>
                </a:solidFill>
                <a:latin typeface="Noto Sans CJK JP" pitchFamily="34" charset="0"/>
                <a:ea typeface="Noto Sans CJK JP" pitchFamily="34" charset="-122"/>
                <a:cs typeface="Noto Sans CJK JP" pitchFamily="34" charset="-120"/>
              </a:rPr>
              <a:t>A ・ B ・ C 案 共通：通常塗装メンテ計画(20年で2回・物価6%/年複利)</a:t>
            </a:r>
            <a:endParaRPr lang="en-US" sz="1300" dirty="0"/>
          </a:p>
        </p:txBody>
      </p:sp>
      <p:sp>
        <p:nvSpPr>
          <p:cNvPr id="7" name="Shape 5"/>
          <p:cNvSpPr/>
          <p:nvPr/>
        </p:nvSpPr>
        <p:spPr>
          <a:xfrm>
            <a:off x="1188720" y="3246120"/>
            <a:ext cx="9784080" cy="0"/>
          </a:xfrm>
          <a:prstGeom prst="line">
            <a:avLst/>
          </a:prstGeom>
          <a:noFill/>
          <a:ln w="25400">
            <a:solidFill>
              <a:srgbClr val="1A2B40"/>
            </a:solidFill>
            <a:prstDash val="solid"/>
          </a:ln>
        </p:spPr>
      </p:sp>
      <p:sp>
        <p:nvSpPr>
          <p:cNvPr id="8" name="Text 6"/>
          <p:cNvSpPr/>
          <p:nvPr/>
        </p:nvSpPr>
        <p:spPr>
          <a:xfrm>
            <a:off x="914400" y="2651760"/>
            <a:ext cx="1828800" cy="274320"/>
          </a:xfrm>
          <a:prstGeom prst="rect">
            <a:avLst/>
          </a:prstGeom>
          <a:noFill/>
          <a:ln/>
        </p:spPr>
        <p:txBody>
          <a:bodyPr wrap="square" lIns="0" tIns="0" rIns="0" bIns="0" rtlCol="0" anchor="ctr"/>
          <a:lstStyle/>
          <a:p>
            <a:pPr algn="ctr" indent="0" marL="0">
              <a:buNone/>
            </a:pPr>
            <a:r>
              <a:rPr lang="en-US" sz="1300" b="1" dirty="0">
                <a:solidFill>
                  <a:srgbClr val="1A2B40"/>
                </a:solidFill>
                <a:latin typeface="Noto Sans CJK JP" pitchFamily="34" charset="0"/>
                <a:ea typeface="Noto Sans CJK JP" pitchFamily="34" charset="-122"/>
                <a:cs typeface="Noto Sans CJK JP" pitchFamily="34" charset="-120"/>
              </a:rPr>
              <a:t>今</a:t>
            </a:r>
            <a:endParaRPr lang="en-US" sz="1300" dirty="0"/>
          </a:p>
        </p:txBody>
      </p:sp>
      <p:sp>
        <p:nvSpPr>
          <p:cNvPr id="9" name="Shape 7"/>
          <p:cNvSpPr/>
          <p:nvPr/>
        </p:nvSpPr>
        <p:spPr>
          <a:xfrm>
            <a:off x="1664208" y="3081528"/>
            <a:ext cx="329184" cy="329184"/>
          </a:xfrm>
          <a:prstGeom prst="ellipse">
            <a:avLst/>
          </a:prstGeom>
          <a:solidFill>
            <a:srgbClr val="8A95A5"/>
          </a:solidFill>
          <a:ln w="25400">
            <a:solidFill>
              <a:srgbClr val="FFFFFF"/>
            </a:solidFill>
            <a:prstDash val="solid"/>
          </a:ln>
        </p:spPr>
      </p:sp>
      <p:sp>
        <p:nvSpPr>
          <p:cNvPr id="10" name="Text 8"/>
          <p:cNvSpPr/>
          <p:nvPr/>
        </p:nvSpPr>
        <p:spPr>
          <a:xfrm>
            <a:off x="640080" y="3566160"/>
            <a:ext cx="2377440" cy="365760"/>
          </a:xfrm>
          <a:prstGeom prst="rect">
            <a:avLst/>
          </a:prstGeom>
          <a:noFill/>
          <a:ln/>
        </p:spPr>
        <p:txBody>
          <a:bodyPr wrap="square" lIns="0" tIns="0" rIns="0" bIns="0" rtlCol="0" anchor="ctr"/>
          <a:lstStyle/>
          <a:p>
            <a:pPr algn="ctr" indent="0" marL="0">
              <a:buNone/>
            </a:pPr>
            <a:r>
              <a:rPr lang="en-US" sz="1700" b="1" dirty="0">
                <a:solidFill>
                  <a:srgbClr val="6B7280"/>
                </a:solidFill>
                <a:latin typeface="Noto Sans CJK JP" pitchFamily="34" charset="0"/>
                <a:ea typeface="Noto Sans CJK JP" pitchFamily="34" charset="-122"/>
                <a:cs typeface="Noto Sans CJK JP" pitchFamily="34" charset="-120"/>
              </a:rPr>
              <a:t>─</a:t>
            </a:r>
            <a:endParaRPr lang="en-US" sz="1700" dirty="0"/>
          </a:p>
        </p:txBody>
      </p:sp>
      <p:sp>
        <p:nvSpPr>
          <p:cNvPr id="11" name="Text 9"/>
          <p:cNvSpPr/>
          <p:nvPr/>
        </p:nvSpPr>
        <p:spPr>
          <a:xfrm>
            <a:off x="274320" y="4005072"/>
            <a:ext cx="3108960" cy="365760"/>
          </a:xfrm>
          <a:prstGeom prst="rect">
            <a:avLst/>
          </a:prstGeom>
          <a:noFill/>
          <a:ln/>
        </p:spPr>
        <p:txBody>
          <a:bodyPr wrap="square" lIns="0" tIns="0" rIns="0" bIns="0" rtlCol="0" anchor="t"/>
          <a:lstStyle/>
          <a:p>
            <a:pPr algn="ctr" indent="0" marL="0">
              <a:lnSpc>
                <a:spcPct val="110000"/>
              </a:lnSpc>
              <a:buNone/>
            </a:pPr>
            <a:r>
              <a:rPr lang="en-US" sz="900" dirty="0">
                <a:solidFill>
                  <a:srgbClr val="6B7280"/>
                </a:solidFill>
                <a:latin typeface="Noto Sans CJK JP" pitchFamily="34" charset="0"/>
                <a:ea typeface="Noto Sans CJK JP" pitchFamily="34" charset="-122"/>
                <a:cs typeface="Noto Sans CJK JP" pitchFamily="34" charset="-120"/>
              </a:rPr>
              <a:t>1回現価 1,763 万円</a:t>
            </a:r>
            <a:endParaRPr lang="en-US" sz="900" dirty="0"/>
          </a:p>
        </p:txBody>
      </p:sp>
      <p:sp>
        <p:nvSpPr>
          <p:cNvPr id="12" name="Text 10"/>
          <p:cNvSpPr/>
          <p:nvPr/>
        </p:nvSpPr>
        <p:spPr>
          <a:xfrm>
            <a:off x="4846320" y="2651760"/>
            <a:ext cx="1828800" cy="274320"/>
          </a:xfrm>
          <a:prstGeom prst="rect">
            <a:avLst/>
          </a:prstGeom>
          <a:noFill/>
          <a:ln/>
        </p:spPr>
        <p:txBody>
          <a:bodyPr wrap="square" lIns="0" tIns="0" rIns="0" bIns="0" rtlCol="0" anchor="ctr"/>
          <a:lstStyle/>
          <a:p>
            <a:pPr algn="ctr" indent="0" marL="0">
              <a:buNone/>
            </a:pPr>
            <a:r>
              <a:rPr lang="en-US" sz="1300" b="1" dirty="0">
                <a:solidFill>
                  <a:srgbClr val="1A2B40"/>
                </a:solidFill>
                <a:latin typeface="Noto Sans CJK JP" pitchFamily="34" charset="0"/>
                <a:ea typeface="Noto Sans CJK JP" pitchFamily="34" charset="-122"/>
                <a:cs typeface="Noto Sans CJK JP" pitchFamily="34" charset="-120"/>
              </a:rPr>
              <a:t>5 年後</a:t>
            </a:r>
            <a:endParaRPr lang="en-US" sz="1300" dirty="0"/>
          </a:p>
        </p:txBody>
      </p:sp>
      <p:sp>
        <p:nvSpPr>
          <p:cNvPr id="13" name="Shape 11"/>
          <p:cNvSpPr/>
          <p:nvPr/>
        </p:nvSpPr>
        <p:spPr>
          <a:xfrm>
            <a:off x="5596128" y="3081528"/>
            <a:ext cx="329184" cy="329184"/>
          </a:xfrm>
          <a:prstGeom prst="ellipse">
            <a:avLst/>
          </a:prstGeom>
          <a:solidFill>
            <a:srgbClr val="E58027"/>
          </a:solidFill>
          <a:ln w="25400">
            <a:solidFill>
              <a:srgbClr val="FFFFFF"/>
            </a:solidFill>
            <a:prstDash val="solid"/>
          </a:ln>
        </p:spPr>
      </p:sp>
      <p:sp>
        <p:nvSpPr>
          <p:cNvPr id="14" name="Text 12"/>
          <p:cNvSpPr/>
          <p:nvPr/>
        </p:nvSpPr>
        <p:spPr>
          <a:xfrm>
            <a:off x="4572000" y="3566160"/>
            <a:ext cx="2377440" cy="365760"/>
          </a:xfrm>
          <a:prstGeom prst="rect">
            <a:avLst/>
          </a:prstGeom>
          <a:noFill/>
          <a:ln/>
        </p:spPr>
        <p:txBody>
          <a:bodyPr wrap="square" lIns="0" tIns="0" rIns="0" bIns="0" rtlCol="0" anchor="ctr"/>
          <a:lstStyle/>
          <a:p>
            <a:pPr algn="ctr" indent="0" marL="0">
              <a:buNone/>
            </a:pPr>
            <a:r>
              <a:rPr lang="en-US" sz="1700" b="1" dirty="0">
                <a:solidFill>
                  <a:srgbClr val="E58027"/>
                </a:solidFill>
                <a:latin typeface="Noto Sans CJK JP" pitchFamily="34" charset="0"/>
                <a:ea typeface="Noto Sans CJK JP" pitchFamily="34" charset="-122"/>
                <a:cs typeface="Noto Sans CJK JP" pitchFamily="34" charset="-120"/>
              </a:rPr>
              <a:t>▲ 2,359 万円</a:t>
            </a:r>
            <a:endParaRPr lang="en-US" sz="1700" dirty="0"/>
          </a:p>
        </p:txBody>
      </p:sp>
      <p:sp>
        <p:nvSpPr>
          <p:cNvPr id="15" name="Text 13"/>
          <p:cNvSpPr/>
          <p:nvPr/>
        </p:nvSpPr>
        <p:spPr>
          <a:xfrm>
            <a:off x="4206240" y="4005072"/>
            <a:ext cx="3108960" cy="365760"/>
          </a:xfrm>
          <a:prstGeom prst="rect">
            <a:avLst/>
          </a:prstGeom>
          <a:noFill/>
          <a:ln/>
        </p:spPr>
        <p:txBody>
          <a:bodyPr wrap="square" lIns="0" tIns="0" rIns="0" bIns="0" rtlCol="0" anchor="t"/>
          <a:lstStyle/>
          <a:p>
            <a:pPr algn="ctr" indent="0" marL="0">
              <a:lnSpc>
                <a:spcPct val="110000"/>
              </a:lnSpc>
              <a:buNone/>
            </a:pPr>
            <a:r>
              <a:rPr lang="en-US" sz="900" dirty="0">
                <a:solidFill>
                  <a:srgbClr val="6B7280"/>
                </a:solidFill>
                <a:latin typeface="Noto Sans CJK JP" pitchFamily="34" charset="0"/>
                <a:ea typeface="Noto Sans CJK JP" pitchFamily="34" charset="-122"/>
                <a:cs typeface="Noto Sans CJK JP" pitchFamily="34" charset="-120"/>
              </a:rPr>
              <a:t>塗装1,160+足場540+脱着63</a:t>
            </a:r>
            <a:endParaRPr lang="en-US" sz="900" dirty="0"/>
          </a:p>
        </p:txBody>
      </p:sp>
      <p:sp>
        <p:nvSpPr>
          <p:cNvPr id="16" name="Text 14"/>
          <p:cNvSpPr/>
          <p:nvPr/>
        </p:nvSpPr>
        <p:spPr>
          <a:xfrm>
            <a:off x="8686800" y="2651760"/>
            <a:ext cx="1828800" cy="274320"/>
          </a:xfrm>
          <a:prstGeom prst="rect">
            <a:avLst/>
          </a:prstGeom>
          <a:noFill/>
          <a:ln/>
        </p:spPr>
        <p:txBody>
          <a:bodyPr wrap="square" lIns="0" tIns="0" rIns="0" bIns="0" rtlCol="0" anchor="ctr"/>
          <a:lstStyle/>
          <a:p>
            <a:pPr algn="ctr" indent="0" marL="0">
              <a:buNone/>
            </a:pPr>
            <a:r>
              <a:rPr lang="en-US" sz="1300" b="1" dirty="0">
                <a:solidFill>
                  <a:srgbClr val="1A2B40"/>
                </a:solidFill>
                <a:latin typeface="Noto Sans CJK JP" pitchFamily="34" charset="0"/>
                <a:ea typeface="Noto Sans CJK JP" pitchFamily="34" charset="-122"/>
                <a:cs typeface="Noto Sans CJK JP" pitchFamily="34" charset="-120"/>
              </a:rPr>
              <a:t>15 年後</a:t>
            </a:r>
            <a:endParaRPr lang="en-US" sz="1300" dirty="0"/>
          </a:p>
        </p:txBody>
      </p:sp>
      <p:sp>
        <p:nvSpPr>
          <p:cNvPr id="17" name="Shape 15"/>
          <p:cNvSpPr/>
          <p:nvPr/>
        </p:nvSpPr>
        <p:spPr>
          <a:xfrm>
            <a:off x="9436608" y="3081528"/>
            <a:ext cx="329184" cy="329184"/>
          </a:xfrm>
          <a:prstGeom prst="ellipse">
            <a:avLst/>
          </a:prstGeom>
          <a:solidFill>
            <a:srgbClr val="C0392B"/>
          </a:solidFill>
          <a:ln w="25400">
            <a:solidFill>
              <a:srgbClr val="FFFFFF"/>
            </a:solidFill>
            <a:prstDash val="solid"/>
          </a:ln>
        </p:spPr>
      </p:sp>
      <p:sp>
        <p:nvSpPr>
          <p:cNvPr id="18" name="Text 16"/>
          <p:cNvSpPr/>
          <p:nvPr/>
        </p:nvSpPr>
        <p:spPr>
          <a:xfrm>
            <a:off x="8412480" y="3566160"/>
            <a:ext cx="2377440" cy="365760"/>
          </a:xfrm>
          <a:prstGeom prst="rect">
            <a:avLst/>
          </a:prstGeom>
          <a:noFill/>
          <a:ln/>
        </p:spPr>
        <p:txBody>
          <a:bodyPr wrap="square" lIns="0" tIns="0" rIns="0" bIns="0" rtlCol="0" anchor="ctr"/>
          <a:lstStyle/>
          <a:p>
            <a:pPr algn="ctr" indent="0" marL="0">
              <a:buNone/>
            </a:pPr>
            <a:r>
              <a:rPr lang="en-US" sz="1700" b="1" dirty="0">
                <a:solidFill>
                  <a:srgbClr val="C0392B"/>
                </a:solidFill>
                <a:latin typeface="Noto Sans CJK JP" pitchFamily="34" charset="0"/>
                <a:ea typeface="Noto Sans CJK JP" pitchFamily="34" charset="-122"/>
                <a:cs typeface="Noto Sans CJK JP" pitchFamily="34" charset="-120"/>
              </a:rPr>
              <a:t>▲ 4,225 万円</a:t>
            </a:r>
            <a:endParaRPr lang="en-US" sz="1700" dirty="0"/>
          </a:p>
        </p:txBody>
      </p:sp>
      <p:sp>
        <p:nvSpPr>
          <p:cNvPr id="19" name="Text 17"/>
          <p:cNvSpPr/>
          <p:nvPr/>
        </p:nvSpPr>
        <p:spPr>
          <a:xfrm>
            <a:off x="8046720" y="4005072"/>
            <a:ext cx="3108960" cy="365760"/>
          </a:xfrm>
          <a:prstGeom prst="rect">
            <a:avLst/>
          </a:prstGeom>
          <a:noFill/>
          <a:ln/>
        </p:spPr>
        <p:txBody>
          <a:bodyPr wrap="square" lIns="0" tIns="0" rIns="0" bIns="0" rtlCol="0" anchor="t"/>
          <a:lstStyle/>
          <a:p>
            <a:pPr algn="ctr" indent="0" marL="0">
              <a:lnSpc>
                <a:spcPct val="110000"/>
              </a:lnSpc>
              <a:buNone/>
            </a:pPr>
            <a:r>
              <a:rPr lang="en-US" sz="900" dirty="0">
                <a:solidFill>
                  <a:srgbClr val="6B7280"/>
                </a:solidFill>
                <a:latin typeface="Noto Sans CJK JP" pitchFamily="34" charset="0"/>
                <a:ea typeface="Noto Sans CJK JP" pitchFamily="34" charset="-122"/>
                <a:cs typeface="Noto Sans CJK JP" pitchFamily="34" charset="-120"/>
              </a:rPr>
              <a:t>物価高騰6%/年×15年累積</a:t>
            </a:r>
            <a:endParaRPr lang="en-US" sz="900" dirty="0"/>
          </a:p>
        </p:txBody>
      </p:sp>
      <p:sp>
        <p:nvSpPr>
          <p:cNvPr id="20" name="Shape 18"/>
          <p:cNvSpPr/>
          <p:nvPr/>
        </p:nvSpPr>
        <p:spPr>
          <a:xfrm>
            <a:off x="457200" y="4572000"/>
            <a:ext cx="11274552" cy="457200"/>
          </a:xfrm>
          <a:prstGeom prst="rect">
            <a:avLst/>
          </a:prstGeom>
          <a:solidFill>
            <a:srgbClr val="F4F6F8"/>
          </a:solidFill>
          <a:ln w="12700">
            <a:solidFill>
              <a:srgbClr val="E1E5EA"/>
            </a:solidFill>
            <a:prstDash val="solid"/>
          </a:ln>
        </p:spPr>
      </p:sp>
      <p:sp>
        <p:nvSpPr>
          <p:cNvPr id="21" name="Text 19"/>
          <p:cNvSpPr/>
          <p:nvPr/>
        </p:nvSpPr>
        <p:spPr>
          <a:xfrm>
            <a:off x="640080" y="4572000"/>
            <a:ext cx="10972800" cy="457200"/>
          </a:xfrm>
          <a:prstGeom prst="rect">
            <a:avLst/>
          </a:prstGeom>
          <a:noFill/>
          <a:ln/>
        </p:spPr>
        <p:txBody>
          <a:bodyPr wrap="square" lIns="0" tIns="0" rIns="0" bIns="0" rtlCol="0" anchor="ctr"/>
          <a:lstStyle/>
          <a:p>
            <a:pPr algn="l" indent="0" marL="0">
              <a:buNone/>
            </a:pPr>
            <a:r>
              <a:rPr lang="en-US" sz="1050" b="1" dirty="0">
                <a:solidFill>
                  <a:srgbClr val="1A2B40"/>
                </a:solidFill>
                <a:latin typeface="Noto Sans CJK JP" pitchFamily="34" charset="0"/>
                <a:ea typeface="Noto Sans CJK JP" pitchFamily="34" charset="-122"/>
                <a:cs typeface="Noto Sans CJK JP" pitchFamily="34" charset="-120"/>
              </a:rPr>
              <a:t>1回あたり: 塗装(4,000円×2,900㎡=1,160万) + 全面足場(3,000円×1,800㎡=540万) + パネル脱着 63万 = 1,763万円(現価)</a:t>
            </a:r>
            <a:endParaRPr lang="en-US" sz="1050" dirty="0"/>
          </a:p>
        </p:txBody>
      </p:sp>
      <p:sp>
        <p:nvSpPr>
          <p:cNvPr id="22" name="Shape 20"/>
          <p:cNvSpPr/>
          <p:nvPr/>
        </p:nvSpPr>
        <p:spPr>
          <a:xfrm>
            <a:off x="457200" y="5120640"/>
            <a:ext cx="11274552" cy="548640"/>
          </a:xfrm>
          <a:prstGeom prst="rect">
            <a:avLst/>
          </a:prstGeom>
          <a:solidFill>
            <a:srgbClr val="C0392B"/>
          </a:solidFill>
          <a:ln/>
        </p:spPr>
      </p:sp>
      <p:sp>
        <p:nvSpPr>
          <p:cNvPr id="23" name="Text 21"/>
          <p:cNvSpPr/>
          <p:nvPr/>
        </p:nvSpPr>
        <p:spPr>
          <a:xfrm>
            <a:off x="640080" y="5120640"/>
            <a:ext cx="1097280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Noto Sans CJK JP" pitchFamily="34" charset="0"/>
                <a:ea typeface="Noto Sans CJK JP" pitchFamily="34" charset="-122"/>
                <a:cs typeface="Noto Sans CJK JP" pitchFamily="34" charset="-120"/>
              </a:rPr>
              <a:t>→ A・B・C 案では20年で 6,584 万円 のメンテ費用が必ず発生し、 ★暑さは1ミリも改善しない★</a:t>
            </a:r>
            <a:endParaRPr lang="en-US" sz="1300" dirty="0"/>
          </a:p>
        </p:txBody>
      </p:sp>
      <p:sp>
        <p:nvSpPr>
          <p:cNvPr id="24" name="Shape 22"/>
          <p:cNvSpPr/>
          <p:nvPr/>
        </p:nvSpPr>
        <p:spPr>
          <a:xfrm>
            <a:off x="457200" y="5760720"/>
            <a:ext cx="11274552" cy="868680"/>
          </a:xfrm>
          <a:prstGeom prst="rect">
            <a:avLst/>
          </a:prstGeom>
          <a:solidFill>
            <a:srgbClr val="B89A55"/>
          </a:solidFill>
          <a:ln/>
        </p:spPr>
      </p:sp>
      <p:sp>
        <p:nvSpPr>
          <p:cNvPr id="25" name="Text 23"/>
          <p:cNvSpPr/>
          <p:nvPr/>
        </p:nvSpPr>
        <p:spPr>
          <a:xfrm>
            <a:off x="640080" y="5806440"/>
            <a:ext cx="10972800" cy="292608"/>
          </a:xfrm>
          <a:prstGeom prst="rect">
            <a:avLst/>
          </a:prstGeom>
          <a:noFill/>
          <a:ln/>
        </p:spPr>
        <p:txBody>
          <a:bodyPr wrap="square" lIns="0" tIns="0" rIns="0" bIns="0" rtlCol="0" anchor="ctr"/>
          <a:lstStyle/>
          <a:p>
            <a:pPr algn="l" indent="0" marL="0">
              <a:buNone/>
            </a:pPr>
            <a:r>
              <a:rPr lang="en-US" sz="1300" b="1" dirty="0">
                <a:solidFill>
                  <a:srgbClr val="0F2747"/>
                </a:solidFill>
                <a:latin typeface="Noto Sans CJK JP" pitchFamily="34" charset="0"/>
                <a:ea typeface="Noto Sans CJK JP" pitchFamily="34" charset="-122"/>
                <a:cs typeface="Noto Sans CJK JP" pitchFamily="34" charset="-120"/>
              </a:rPr>
              <a:t>D / E 案：脱炭素化促進事業の補助金活用で「メンテ自体が無くなる + 暑さも下がる」</a:t>
            </a:r>
            <a:endParaRPr lang="en-US" sz="1300" dirty="0"/>
          </a:p>
        </p:txBody>
      </p:sp>
      <p:sp>
        <p:nvSpPr>
          <p:cNvPr id="26" name="Text 24"/>
          <p:cNvSpPr/>
          <p:nvPr/>
        </p:nvSpPr>
        <p:spPr>
          <a:xfrm>
            <a:off x="685800" y="6080760"/>
            <a:ext cx="10972800" cy="502920"/>
          </a:xfrm>
          <a:prstGeom prst="rect">
            <a:avLst/>
          </a:prstGeom>
          <a:noFill/>
          <a:ln/>
        </p:spPr>
        <p:txBody>
          <a:bodyPr wrap="square" lIns="0" tIns="0" rIns="0" bIns="0" rtlCol="0" anchor="t"/>
          <a:lstStyle/>
          <a:p>
            <a:pPr algn="l" marL="342900" indent="-342900">
              <a:spcAft>
                <a:spcPts val="400"/>
              </a:spcAft>
              <a:buSzPct val="100000"/>
              <a:buChar char="●"/>
            </a:pPr>
            <a:r>
              <a:rPr lang="en-US" sz="1000" dirty="0">
                <a:solidFill>
                  <a:srgbClr val="0F2747"/>
                </a:solidFill>
                <a:latin typeface="Noto Sans CJK JP" pitchFamily="34" charset="0"/>
                <a:ea typeface="Noto Sans CJK JP" pitchFamily="34" charset="-122"/>
                <a:cs typeface="Noto Sans CJK JP" pitchFamily="34" charset="-120"/>
              </a:rPr>
              <a:t>D 案: 屋根+外壁ポリウレア2,900㎡(税込2,840万) → 補助金▲1,000万 → 実質1,840万。20年で6,584万のメンテが0円に</a:t>
            </a:r>
            <a:endParaRPr lang="en-US" sz="1000" dirty="0"/>
          </a:p>
          <a:p>
            <a:pPr algn="l" marL="342900" indent="-342900">
              <a:spcAft>
                <a:spcPts val="400"/>
              </a:spcAft>
              <a:buSzPct val="100000"/>
              <a:buChar char="●"/>
            </a:pPr>
            <a:r>
              <a:rPr lang="en-US" sz="1000" dirty="0">
                <a:solidFill>
                  <a:srgbClr val="0F2747"/>
                </a:solidFill>
                <a:latin typeface="Noto Sans CJK JP" pitchFamily="34" charset="0"/>
                <a:ea typeface="Noto Sans CJK JP" pitchFamily="34" charset="-122"/>
                <a:cs typeface="Noto Sans CJK JP" pitchFamily="34" charset="-120"/>
              </a:rPr>
              <a:t>E 案: 今年屋根のみ施工し補助金1,000万、来年外壁施工で補助金930万追加 ★ 補助金を2回獲りに行く2段階作戦</a:t>
            </a:r>
            <a:endParaRPr lang="en-US" sz="1000" dirty="0"/>
          </a:p>
          <a:p>
            <a:pPr algn="l" marL="342900" indent="-342900">
              <a:buSzPct val="100000"/>
              <a:buChar char="●"/>
            </a:pPr>
            <a:r>
              <a:rPr lang="en-US" sz="1000" b="1" dirty="0">
                <a:solidFill>
                  <a:srgbClr val="0F2747"/>
                </a:solidFill>
                <a:latin typeface="Noto Sans CJK JP" pitchFamily="34" charset="0"/>
                <a:ea typeface="Noto Sans CJK JP" pitchFamily="34" charset="-122"/>
                <a:cs typeface="Noto Sans CJK JP" pitchFamily="34" charset="-120"/>
              </a:rPr>
              <a:t>加えて、屋根5%+窓25%=空調30%カット効果。 ★塗装にはない遮熱効果で電気代も下がる二重効果★</a:t>
            </a:r>
            <a:endParaRPr lang="en-US" sz="1000" dirty="0"/>
          </a:p>
        </p:txBody>
      </p:sp>
      <p:sp>
        <p:nvSpPr>
          <p:cNvPr id="27" name="Text 25"/>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28" name="Text 26"/>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13 / 20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06</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BCP ・レジリエンス × 脱炭素・ CO₂ 削減価値</a:t>
            </a:r>
            <a:endParaRPr lang="en-US" sz="3000" dirty="0"/>
          </a:p>
        </p:txBody>
      </p:sp>
      <p:sp>
        <p:nvSpPr>
          <p:cNvPr id="4" name="Shape 2"/>
          <p:cNvSpPr/>
          <p:nvPr/>
        </p:nvSpPr>
        <p:spPr>
          <a:xfrm>
            <a:off x="457200"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5" name="Text 3"/>
          <p:cNvSpPr/>
          <p:nvPr/>
        </p:nvSpPr>
        <p:spPr>
          <a:xfrm>
            <a:off x="731520" y="1755648"/>
            <a:ext cx="5029200" cy="329184"/>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BCP 価値（停電時の事業継続力）</a:t>
            </a:r>
            <a:endParaRPr lang="en-US" sz="1400" dirty="0"/>
          </a:p>
        </p:txBody>
      </p:sp>
      <p:sp>
        <p:nvSpPr>
          <p:cNvPr id="6" name="Text 4"/>
          <p:cNvSpPr/>
          <p:nvPr/>
        </p:nvSpPr>
        <p:spPr>
          <a:xfrm>
            <a:off x="731520" y="2103120"/>
            <a:ext cx="5029200" cy="274320"/>
          </a:xfrm>
          <a:prstGeom prst="rect">
            <a:avLst/>
          </a:prstGeom>
          <a:noFill/>
          <a:ln/>
        </p:spPr>
        <p:txBody>
          <a:bodyPr wrap="square" lIns="0" tIns="0" rIns="0" bIns="0" rtlCol="0" anchor="ctr"/>
          <a:lstStyle/>
          <a:p>
            <a:pPr algn="l" indent="0" marL="0">
              <a:buNone/>
            </a:pPr>
            <a:r>
              <a:rPr lang="en-US" sz="1100" dirty="0">
                <a:solidFill>
                  <a:srgbClr val="6B7280"/>
                </a:solidFill>
                <a:latin typeface="Noto Sans CJK JP" pitchFamily="34" charset="0"/>
                <a:ea typeface="Noto Sans CJK JP" pitchFamily="34" charset="-122"/>
                <a:cs typeface="Noto Sans CJK JP" pitchFamily="34" charset="-120"/>
              </a:rPr>
              <a:t>Powerwall 3 × 4 台 54kWh で耐えられる時間</a:t>
            </a:r>
            <a:endParaRPr lang="en-US" sz="1100" dirty="0"/>
          </a:p>
        </p:txBody>
      </p:sp>
      <p:sp>
        <p:nvSpPr>
          <p:cNvPr id="7" name="Shape 5"/>
          <p:cNvSpPr/>
          <p:nvPr/>
        </p:nvSpPr>
        <p:spPr>
          <a:xfrm>
            <a:off x="731520" y="2468880"/>
            <a:ext cx="109728" cy="457200"/>
          </a:xfrm>
          <a:prstGeom prst="rect">
            <a:avLst/>
          </a:prstGeom>
          <a:solidFill>
            <a:srgbClr val="1FA383"/>
          </a:solidFill>
          <a:ln/>
        </p:spPr>
      </p:sp>
      <p:sp>
        <p:nvSpPr>
          <p:cNvPr id="8" name="Shape 6"/>
          <p:cNvSpPr/>
          <p:nvPr/>
        </p:nvSpPr>
        <p:spPr>
          <a:xfrm>
            <a:off x="841248" y="2468880"/>
            <a:ext cx="4828032" cy="457200"/>
          </a:xfrm>
          <a:prstGeom prst="rect">
            <a:avLst/>
          </a:prstGeom>
          <a:solidFill>
            <a:srgbClr val="FFFFFF"/>
          </a:solidFill>
          <a:ln w="12700">
            <a:solidFill>
              <a:srgbClr val="E1E5EA"/>
            </a:solidFill>
            <a:prstDash val="solid"/>
          </a:ln>
        </p:spPr>
      </p:sp>
      <p:sp>
        <p:nvSpPr>
          <p:cNvPr id="9" name="Text 7"/>
          <p:cNvSpPr/>
          <p:nvPr/>
        </p:nvSpPr>
        <p:spPr>
          <a:xfrm>
            <a:off x="1005840" y="2468880"/>
            <a:ext cx="3017520" cy="457200"/>
          </a:xfrm>
          <a:prstGeom prst="rect">
            <a:avLst/>
          </a:prstGeom>
          <a:noFill/>
          <a:ln/>
        </p:spPr>
        <p:txBody>
          <a:bodyPr wrap="square" lIns="0" tIns="0" rIns="0" bIns="0" rtlCol="0" anchor="ctr"/>
          <a:lstStyle/>
          <a:p>
            <a:pPr algn="l" indent="0" marL="0">
              <a:buNone/>
            </a:pPr>
            <a:r>
              <a:rPr lang="en-US" sz="1200" dirty="0">
                <a:solidFill>
                  <a:srgbClr val="1A2B40"/>
                </a:solidFill>
                <a:latin typeface="Noto Sans CJK JP" pitchFamily="34" charset="0"/>
                <a:ea typeface="Noto Sans CJK JP" pitchFamily="34" charset="-122"/>
                <a:cs typeface="Noto Sans CJK JP" pitchFamily="34" charset="-120"/>
              </a:rPr>
              <a:t>全負荷 5kW 運転</a:t>
            </a:r>
            <a:endParaRPr lang="en-US" sz="1200" dirty="0"/>
          </a:p>
        </p:txBody>
      </p:sp>
      <p:sp>
        <p:nvSpPr>
          <p:cNvPr id="10" name="Text 8"/>
          <p:cNvSpPr/>
          <p:nvPr/>
        </p:nvSpPr>
        <p:spPr>
          <a:xfrm>
            <a:off x="3931920" y="2468880"/>
            <a:ext cx="1600200" cy="457200"/>
          </a:xfrm>
          <a:prstGeom prst="rect">
            <a:avLst/>
          </a:prstGeom>
          <a:noFill/>
          <a:ln/>
        </p:spPr>
        <p:txBody>
          <a:bodyPr wrap="square" lIns="0" tIns="0" rIns="0" bIns="0" rtlCol="0" anchor="ctr"/>
          <a:lstStyle/>
          <a:p>
            <a:pPr algn="r" indent="0" marL="0">
              <a:buNone/>
            </a:pPr>
            <a:r>
              <a:rPr lang="en-US" sz="1500" b="1" dirty="0">
                <a:solidFill>
                  <a:srgbClr val="1FA383"/>
                </a:solidFill>
                <a:latin typeface="Noto Sans CJK JP" pitchFamily="34" charset="0"/>
                <a:ea typeface="Noto Sans CJK JP" pitchFamily="34" charset="-122"/>
                <a:cs typeface="Noto Sans CJK JP" pitchFamily="34" charset="-120"/>
              </a:rPr>
              <a:t>11 時間</a:t>
            </a:r>
            <a:endParaRPr lang="en-US" sz="1500" dirty="0"/>
          </a:p>
        </p:txBody>
      </p:sp>
      <p:sp>
        <p:nvSpPr>
          <p:cNvPr id="11" name="Shape 9"/>
          <p:cNvSpPr/>
          <p:nvPr/>
        </p:nvSpPr>
        <p:spPr>
          <a:xfrm>
            <a:off x="731520" y="3035808"/>
            <a:ext cx="109728" cy="457200"/>
          </a:xfrm>
          <a:prstGeom prst="rect">
            <a:avLst/>
          </a:prstGeom>
          <a:solidFill>
            <a:srgbClr val="4A90D9"/>
          </a:solidFill>
          <a:ln/>
        </p:spPr>
      </p:sp>
      <p:sp>
        <p:nvSpPr>
          <p:cNvPr id="12" name="Shape 10"/>
          <p:cNvSpPr/>
          <p:nvPr/>
        </p:nvSpPr>
        <p:spPr>
          <a:xfrm>
            <a:off x="841248" y="3035808"/>
            <a:ext cx="4828032" cy="457200"/>
          </a:xfrm>
          <a:prstGeom prst="rect">
            <a:avLst/>
          </a:prstGeom>
          <a:solidFill>
            <a:srgbClr val="FFFFFF"/>
          </a:solidFill>
          <a:ln w="12700">
            <a:solidFill>
              <a:srgbClr val="E1E5EA"/>
            </a:solidFill>
            <a:prstDash val="solid"/>
          </a:ln>
        </p:spPr>
      </p:sp>
      <p:sp>
        <p:nvSpPr>
          <p:cNvPr id="13" name="Text 11"/>
          <p:cNvSpPr/>
          <p:nvPr/>
        </p:nvSpPr>
        <p:spPr>
          <a:xfrm>
            <a:off x="1005840" y="3035808"/>
            <a:ext cx="3017520" cy="457200"/>
          </a:xfrm>
          <a:prstGeom prst="rect">
            <a:avLst/>
          </a:prstGeom>
          <a:noFill/>
          <a:ln/>
        </p:spPr>
        <p:txBody>
          <a:bodyPr wrap="square" lIns="0" tIns="0" rIns="0" bIns="0" rtlCol="0" anchor="ctr"/>
          <a:lstStyle/>
          <a:p>
            <a:pPr algn="l" indent="0" marL="0">
              <a:buNone/>
            </a:pPr>
            <a:r>
              <a:rPr lang="en-US" sz="1200" dirty="0">
                <a:solidFill>
                  <a:srgbClr val="1A2B40"/>
                </a:solidFill>
                <a:latin typeface="Noto Sans CJK JP" pitchFamily="34" charset="0"/>
                <a:ea typeface="Noto Sans CJK JP" pitchFamily="34" charset="-122"/>
                <a:cs typeface="Noto Sans CJK JP" pitchFamily="34" charset="-120"/>
              </a:rPr>
              <a:t>重要 3kW 運転</a:t>
            </a:r>
            <a:endParaRPr lang="en-US" sz="1200" dirty="0"/>
          </a:p>
        </p:txBody>
      </p:sp>
      <p:sp>
        <p:nvSpPr>
          <p:cNvPr id="14" name="Text 12"/>
          <p:cNvSpPr/>
          <p:nvPr/>
        </p:nvSpPr>
        <p:spPr>
          <a:xfrm>
            <a:off x="3931920" y="3035808"/>
            <a:ext cx="1600200" cy="457200"/>
          </a:xfrm>
          <a:prstGeom prst="rect">
            <a:avLst/>
          </a:prstGeom>
          <a:noFill/>
          <a:ln/>
        </p:spPr>
        <p:txBody>
          <a:bodyPr wrap="square" lIns="0" tIns="0" rIns="0" bIns="0" rtlCol="0" anchor="ctr"/>
          <a:lstStyle/>
          <a:p>
            <a:pPr algn="r" indent="0" marL="0">
              <a:buNone/>
            </a:pPr>
            <a:r>
              <a:rPr lang="en-US" sz="1500" b="1" dirty="0">
                <a:solidFill>
                  <a:srgbClr val="4A90D9"/>
                </a:solidFill>
                <a:latin typeface="Noto Sans CJK JP" pitchFamily="34" charset="0"/>
                <a:ea typeface="Noto Sans CJK JP" pitchFamily="34" charset="-122"/>
                <a:cs typeface="Noto Sans CJK JP" pitchFamily="34" charset="-120"/>
              </a:rPr>
              <a:t>18 時間</a:t>
            </a:r>
            <a:endParaRPr lang="en-US" sz="1500" dirty="0"/>
          </a:p>
        </p:txBody>
      </p:sp>
      <p:sp>
        <p:nvSpPr>
          <p:cNvPr id="15" name="Shape 13"/>
          <p:cNvSpPr/>
          <p:nvPr/>
        </p:nvSpPr>
        <p:spPr>
          <a:xfrm>
            <a:off x="731520" y="3602736"/>
            <a:ext cx="109728" cy="457200"/>
          </a:xfrm>
          <a:prstGeom prst="rect">
            <a:avLst/>
          </a:prstGeom>
          <a:solidFill>
            <a:srgbClr val="B89A55"/>
          </a:solidFill>
          <a:ln/>
        </p:spPr>
      </p:sp>
      <p:sp>
        <p:nvSpPr>
          <p:cNvPr id="16" name="Shape 14"/>
          <p:cNvSpPr/>
          <p:nvPr/>
        </p:nvSpPr>
        <p:spPr>
          <a:xfrm>
            <a:off x="841248" y="3602736"/>
            <a:ext cx="4828032" cy="457200"/>
          </a:xfrm>
          <a:prstGeom prst="rect">
            <a:avLst/>
          </a:prstGeom>
          <a:solidFill>
            <a:srgbClr val="FFFFFF"/>
          </a:solidFill>
          <a:ln w="12700">
            <a:solidFill>
              <a:srgbClr val="E1E5EA"/>
            </a:solidFill>
            <a:prstDash val="solid"/>
          </a:ln>
        </p:spPr>
      </p:sp>
      <p:sp>
        <p:nvSpPr>
          <p:cNvPr id="17" name="Text 15"/>
          <p:cNvSpPr/>
          <p:nvPr/>
        </p:nvSpPr>
        <p:spPr>
          <a:xfrm>
            <a:off x="1005840" y="3602736"/>
            <a:ext cx="3017520" cy="457200"/>
          </a:xfrm>
          <a:prstGeom prst="rect">
            <a:avLst/>
          </a:prstGeom>
          <a:noFill/>
          <a:ln/>
        </p:spPr>
        <p:txBody>
          <a:bodyPr wrap="square" lIns="0" tIns="0" rIns="0" bIns="0" rtlCol="0" anchor="ctr"/>
          <a:lstStyle/>
          <a:p>
            <a:pPr algn="l" indent="0" marL="0">
              <a:buNone/>
            </a:pPr>
            <a:r>
              <a:rPr lang="en-US" sz="1200" dirty="0">
                <a:solidFill>
                  <a:srgbClr val="1A2B40"/>
                </a:solidFill>
                <a:latin typeface="Noto Sans CJK JP" pitchFamily="34" charset="0"/>
                <a:ea typeface="Noto Sans CJK JP" pitchFamily="34" charset="-122"/>
                <a:cs typeface="Noto Sans CJK JP" pitchFamily="34" charset="-120"/>
              </a:rPr>
              <a:t>最低限 1.5kW 運転</a:t>
            </a:r>
            <a:endParaRPr lang="en-US" sz="1200" dirty="0"/>
          </a:p>
        </p:txBody>
      </p:sp>
      <p:sp>
        <p:nvSpPr>
          <p:cNvPr id="18" name="Text 16"/>
          <p:cNvSpPr/>
          <p:nvPr/>
        </p:nvSpPr>
        <p:spPr>
          <a:xfrm>
            <a:off x="3931920" y="3602736"/>
            <a:ext cx="1600200" cy="457200"/>
          </a:xfrm>
          <a:prstGeom prst="rect">
            <a:avLst/>
          </a:prstGeom>
          <a:noFill/>
          <a:ln/>
        </p:spPr>
        <p:txBody>
          <a:bodyPr wrap="square" lIns="0" tIns="0" rIns="0" bIns="0" rtlCol="0" anchor="ctr"/>
          <a:lstStyle/>
          <a:p>
            <a:pPr algn="r" indent="0" marL="0">
              <a:buNone/>
            </a:pPr>
            <a:r>
              <a:rPr lang="en-US" sz="1500" b="1" dirty="0">
                <a:solidFill>
                  <a:srgbClr val="B89A55"/>
                </a:solidFill>
                <a:latin typeface="Noto Sans CJK JP" pitchFamily="34" charset="0"/>
                <a:ea typeface="Noto Sans CJK JP" pitchFamily="34" charset="-122"/>
                <a:cs typeface="Noto Sans CJK JP" pitchFamily="34" charset="-120"/>
              </a:rPr>
              <a:t>36 時間</a:t>
            </a:r>
            <a:endParaRPr lang="en-US" sz="1500" dirty="0"/>
          </a:p>
        </p:txBody>
      </p:sp>
      <p:sp>
        <p:nvSpPr>
          <p:cNvPr id="19" name="Shape 17"/>
          <p:cNvSpPr/>
          <p:nvPr/>
        </p:nvSpPr>
        <p:spPr>
          <a:xfrm>
            <a:off x="731520" y="4169664"/>
            <a:ext cx="109728" cy="457200"/>
          </a:xfrm>
          <a:prstGeom prst="rect">
            <a:avLst/>
          </a:prstGeom>
          <a:solidFill>
            <a:srgbClr val="0F2747"/>
          </a:solidFill>
          <a:ln/>
        </p:spPr>
      </p:sp>
      <p:sp>
        <p:nvSpPr>
          <p:cNvPr id="20" name="Shape 18"/>
          <p:cNvSpPr/>
          <p:nvPr/>
        </p:nvSpPr>
        <p:spPr>
          <a:xfrm>
            <a:off x="841248" y="4169664"/>
            <a:ext cx="4828032" cy="457200"/>
          </a:xfrm>
          <a:prstGeom prst="rect">
            <a:avLst/>
          </a:prstGeom>
          <a:solidFill>
            <a:srgbClr val="FFFFFF"/>
          </a:solidFill>
          <a:ln w="12700">
            <a:solidFill>
              <a:srgbClr val="E1E5EA"/>
            </a:solidFill>
            <a:prstDash val="solid"/>
          </a:ln>
        </p:spPr>
      </p:sp>
      <p:sp>
        <p:nvSpPr>
          <p:cNvPr id="21" name="Text 19"/>
          <p:cNvSpPr/>
          <p:nvPr/>
        </p:nvSpPr>
        <p:spPr>
          <a:xfrm>
            <a:off x="1005840" y="4169664"/>
            <a:ext cx="3017520" cy="457200"/>
          </a:xfrm>
          <a:prstGeom prst="rect">
            <a:avLst/>
          </a:prstGeom>
          <a:noFill/>
          <a:ln/>
        </p:spPr>
        <p:txBody>
          <a:bodyPr wrap="square" lIns="0" tIns="0" rIns="0" bIns="0" rtlCol="0" anchor="ctr"/>
          <a:lstStyle/>
          <a:p>
            <a:pPr algn="l" indent="0" marL="0">
              <a:buNone/>
            </a:pPr>
            <a:r>
              <a:rPr lang="en-US" sz="1200" dirty="0">
                <a:solidFill>
                  <a:srgbClr val="1A2B40"/>
                </a:solidFill>
                <a:latin typeface="Noto Sans CJK JP" pitchFamily="34" charset="0"/>
                <a:ea typeface="Noto Sans CJK JP" pitchFamily="34" charset="-122"/>
                <a:cs typeface="Noto Sans CJK JP" pitchFamily="34" charset="-120"/>
              </a:rPr>
              <a:t>+ 日中の太陽光発電</a:t>
            </a:r>
            <a:endParaRPr lang="en-US" sz="1200" dirty="0"/>
          </a:p>
        </p:txBody>
      </p:sp>
      <p:sp>
        <p:nvSpPr>
          <p:cNvPr id="22" name="Text 20"/>
          <p:cNvSpPr/>
          <p:nvPr/>
        </p:nvSpPr>
        <p:spPr>
          <a:xfrm>
            <a:off x="3931920" y="4169664"/>
            <a:ext cx="1600200" cy="457200"/>
          </a:xfrm>
          <a:prstGeom prst="rect">
            <a:avLst/>
          </a:prstGeom>
          <a:noFill/>
          <a:ln/>
        </p:spPr>
        <p:txBody>
          <a:bodyPr wrap="square" lIns="0" tIns="0" rIns="0" bIns="0" rtlCol="0" anchor="ctr"/>
          <a:lstStyle/>
          <a:p>
            <a:pPr algn="r" indent="0" marL="0">
              <a:buNone/>
            </a:pPr>
            <a:r>
              <a:rPr lang="en-US" sz="1500" b="1" dirty="0">
                <a:solidFill>
                  <a:srgbClr val="0F2747"/>
                </a:solidFill>
                <a:latin typeface="Noto Sans CJK JP" pitchFamily="34" charset="0"/>
                <a:ea typeface="Noto Sans CJK JP" pitchFamily="34" charset="-122"/>
                <a:cs typeface="Noto Sans CJK JP" pitchFamily="34" charset="-120"/>
              </a:rPr>
              <a:t>数日継続</a:t>
            </a:r>
            <a:endParaRPr lang="en-US" sz="1500" dirty="0"/>
          </a:p>
        </p:txBody>
      </p:sp>
      <p:sp>
        <p:nvSpPr>
          <p:cNvPr id="23" name="Shape 21"/>
          <p:cNvSpPr/>
          <p:nvPr/>
        </p:nvSpPr>
        <p:spPr>
          <a:xfrm>
            <a:off x="731520" y="4846320"/>
            <a:ext cx="4937760" cy="1097280"/>
          </a:xfrm>
          <a:prstGeom prst="rect">
            <a:avLst/>
          </a:prstGeom>
          <a:solidFill>
            <a:srgbClr val="FFFFFF"/>
          </a:solidFill>
          <a:ln w="16510">
            <a:solidFill>
              <a:srgbClr val="C0392B"/>
            </a:solidFill>
            <a:prstDash val="solid"/>
          </a:ln>
        </p:spPr>
      </p:sp>
      <p:sp>
        <p:nvSpPr>
          <p:cNvPr id="24" name="Text 22"/>
          <p:cNvSpPr/>
          <p:nvPr/>
        </p:nvSpPr>
        <p:spPr>
          <a:xfrm>
            <a:off x="868680" y="4937760"/>
            <a:ext cx="4572000" cy="274320"/>
          </a:xfrm>
          <a:prstGeom prst="rect">
            <a:avLst/>
          </a:prstGeom>
          <a:noFill/>
          <a:ln/>
        </p:spPr>
        <p:txBody>
          <a:bodyPr wrap="square" lIns="0" tIns="0" rIns="0" bIns="0" rtlCol="0" anchor="ctr"/>
          <a:lstStyle/>
          <a:p>
            <a:pPr algn="l" indent="0" marL="0">
              <a:buNone/>
            </a:pPr>
            <a:r>
              <a:rPr lang="en-US" sz="1150" b="1" dirty="0">
                <a:solidFill>
                  <a:srgbClr val="0F2747"/>
                </a:solidFill>
                <a:latin typeface="Noto Sans CJK JP" pitchFamily="34" charset="0"/>
                <a:ea typeface="Noto Sans CJK JP" pitchFamily="34" charset="-122"/>
                <a:cs typeface="Noto Sans CJK JP" pitchFamily="34" charset="-120"/>
              </a:rPr>
              <a:t>千葉県のレジリエンスリスク</a:t>
            </a:r>
            <a:endParaRPr lang="en-US" sz="1150" dirty="0"/>
          </a:p>
        </p:txBody>
      </p:sp>
      <p:sp>
        <p:nvSpPr>
          <p:cNvPr id="25" name="Text 23"/>
          <p:cNvSpPr/>
          <p:nvPr/>
        </p:nvSpPr>
        <p:spPr>
          <a:xfrm>
            <a:off x="868680" y="5230368"/>
            <a:ext cx="1371600" cy="228600"/>
          </a:xfrm>
          <a:prstGeom prst="rect">
            <a:avLst/>
          </a:prstGeom>
          <a:noFill/>
          <a:ln/>
        </p:spPr>
        <p:txBody>
          <a:bodyPr wrap="square" lIns="0" tIns="0" rIns="0" bIns="0" rtlCol="0" anchor="ctr"/>
          <a:lstStyle/>
          <a:p>
            <a:pPr algn="l" indent="0" marL="0">
              <a:buNone/>
            </a:pPr>
            <a:r>
              <a:rPr lang="en-US" sz="1100" b="1" dirty="0">
                <a:solidFill>
                  <a:srgbClr val="C0392B"/>
                </a:solidFill>
                <a:latin typeface="Noto Sans CJK JP" pitchFamily="34" charset="0"/>
                <a:ea typeface="Noto Sans CJK JP" pitchFamily="34" charset="-122"/>
                <a:cs typeface="Noto Sans CJK JP" pitchFamily="34" charset="-120"/>
              </a:rPr>
              <a:t>93 万戸</a:t>
            </a:r>
            <a:endParaRPr lang="en-US" sz="1100" dirty="0"/>
          </a:p>
        </p:txBody>
      </p:sp>
      <p:sp>
        <p:nvSpPr>
          <p:cNvPr id="26" name="Text 24"/>
          <p:cNvSpPr/>
          <p:nvPr/>
        </p:nvSpPr>
        <p:spPr>
          <a:xfrm>
            <a:off x="2286000" y="5230368"/>
            <a:ext cx="3291840" cy="228600"/>
          </a:xfrm>
          <a:prstGeom prst="rect">
            <a:avLst/>
          </a:prstGeom>
          <a:noFill/>
          <a:ln/>
        </p:spPr>
        <p:txBody>
          <a:bodyPr wrap="square" lIns="0" tIns="0" rIns="0" bIns="0" rtlCol="0" anchor="ctr"/>
          <a:lstStyle/>
          <a:p>
            <a:pPr algn="l" indent="0" marL="0">
              <a:buNone/>
            </a:pPr>
            <a:r>
              <a:rPr lang="en-US" sz="950" dirty="0">
                <a:solidFill>
                  <a:srgbClr val="1A2B40"/>
                </a:solidFill>
                <a:latin typeface="Noto Sans CJK JP" pitchFamily="34" charset="0"/>
                <a:ea typeface="Noto Sans CJK JP" pitchFamily="34" charset="-122"/>
                <a:cs typeface="Noto Sans CJK JP" pitchFamily="34" charset="-120"/>
              </a:rPr>
              <a:t>2019 年台風 15 号 停電被害</a:t>
            </a:r>
            <a:endParaRPr lang="en-US" sz="950" dirty="0"/>
          </a:p>
        </p:txBody>
      </p:sp>
      <p:sp>
        <p:nvSpPr>
          <p:cNvPr id="27" name="Text 25"/>
          <p:cNvSpPr/>
          <p:nvPr/>
        </p:nvSpPr>
        <p:spPr>
          <a:xfrm>
            <a:off x="868680" y="5458968"/>
            <a:ext cx="1371600" cy="228600"/>
          </a:xfrm>
          <a:prstGeom prst="rect">
            <a:avLst/>
          </a:prstGeom>
          <a:noFill/>
          <a:ln/>
        </p:spPr>
        <p:txBody>
          <a:bodyPr wrap="square" lIns="0" tIns="0" rIns="0" bIns="0" rtlCol="0" anchor="ctr"/>
          <a:lstStyle/>
          <a:p>
            <a:pPr algn="l" indent="0" marL="0">
              <a:buNone/>
            </a:pPr>
            <a:r>
              <a:rPr lang="en-US" sz="1100" b="1" dirty="0">
                <a:solidFill>
                  <a:srgbClr val="C0392B"/>
                </a:solidFill>
                <a:latin typeface="Noto Sans CJK JP" pitchFamily="34" charset="0"/>
                <a:ea typeface="Noto Sans CJK JP" pitchFamily="34" charset="-122"/>
                <a:cs typeface="Noto Sans CJK JP" pitchFamily="34" charset="-120"/>
              </a:rPr>
              <a:t>最大 2 週間</a:t>
            </a:r>
            <a:endParaRPr lang="en-US" sz="1100" dirty="0"/>
          </a:p>
        </p:txBody>
      </p:sp>
      <p:sp>
        <p:nvSpPr>
          <p:cNvPr id="28" name="Text 26"/>
          <p:cNvSpPr/>
          <p:nvPr/>
        </p:nvSpPr>
        <p:spPr>
          <a:xfrm>
            <a:off x="2286000" y="5458968"/>
            <a:ext cx="3291840" cy="228600"/>
          </a:xfrm>
          <a:prstGeom prst="rect">
            <a:avLst/>
          </a:prstGeom>
          <a:noFill/>
          <a:ln/>
        </p:spPr>
        <p:txBody>
          <a:bodyPr wrap="square" lIns="0" tIns="0" rIns="0" bIns="0" rtlCol="0" anchor="ctr"/>
          <a:lstStyle/>
          <a:p>
            <a:pPr algn="l" indent="0" marL="0">
              <a:buNone/>
            </a:pPr>
            <a:r>
              <a:rPr lang="en-US" sz="950" dirty="0">
                <a:solidFill>
                  <a:srgbClr val="1A2B40"/>
                </a:solidFill>
                <a:latin typeface="Noto Sans CJK JP" pitchFamily="34" charset="0"/>
                <a:ea typeface="Noto Sans CJK JP" pitchFamily="34" charset="-122"/>
                <a:cs typeface="Noto Sans CJK JP" pitchFamily="34" charset="-120"/>
              </a:rPr>
              <a:t>千葉県内の停電継続</a:t>
            </a:r>
            <a:endParaRPr lang="en-US" sz="950" dirty="0"/>
          </a:p>
        </p:txBody>
      </p:sp>
      <p:sp>
        <p:nvSpPr>
          <p:cNvPr id="29" name="Text 27"/>
          <p:cNvSpPr/>
          <p:nvPr/>
        </p:nvSpPr>
        <p:spPr>
          <a:xfrm>
            <a:off x="868680" y="5687568"/>
            <a:ext cx="1371600" cy="228600"/>
          </a:xfrm>
          <a:prstGeom prst="rect">
            <a:avLst/>
          </a:prstGeom>
          <a:noFill/>
          <a:ln/>
        </p:spPr>
        <p:txBody>
          <a:bodyPr wrap="square" lIns="0" tIns="0" rIns="0" bIns="0" rtlCol="0" anchor="ctr"/>
          <a:lstStyle/>
          <a:p>
            <a:pPr algn="l" indent="0" marL="0">
              <a:buNone/>
            </a:pPr>
            <a:r>
              <a:rPr lang="en-US" sz="1100" b="1" dirty="0">
                <a:solidFill>
                  <a:srgbClr val="C0392B"/>
                </a:solidFill>
                <a:latin typeface="Noto Sans CJK JP" pitchFamily="34" charset="0"/>
                <a:ea typeface="Noto Sans CJK JP" pitchFamily="34" charset="-122"/>
                <a:cs typeface="Noto Sans CJK JP" pitchFamily="34" charset="-120"/>
              </a:rPr>
              <a:t>60 万円〜</a:t>
            </a:r>
            <a:endParaRPr lang="en-US" sz="1100" dirty="0"/>
          </a:p>
        </p:txBody>
      </p:sp>
      <p:sp>
        <p:nvSpPr>
          <p:cNvPr id="30" name="Text 28"/>
          <p:cNvSpPr/>
          <p:nvPr/>
        </p:nvSpPr>
        <p:spPr>
          <a:xfrm>
            <a:off x="2286000" y="5687568"/>
            <a:ext cx="3291840" cy="228600"/>
          </a:xfrm>
          <a:prstGeom prst="rect">
            <a:avLst/>
          </a:prstGeom>
          <a:noFill/>
          <a:ln/>
        </p:spPr>
        <p:txBody>
          <a:bodyPr wrap="square" lIns="0" tIns="0" rIns="0" bIns="0" rtlCol="0" anchor="ctr"/>
          <a:lstStyle/>
          <a:p>
            <a:pPr algn="l" indent="0" marL="0">
              <a:buNone/>
            </a:pPr>
            <a:r>
              <a:rPr lang="en-US" sz="950" dirty="0">
                <a:solidFill>
                  <a:srgbClr val="1A2B40"/>
                </a:solidFill>
                <a:latin typeface="Noto Sans CJK JP" pitchFamily="34" charset="0"/>
                <a:ea typeface="Noto Sans CJK JP" pitchFamily="34" charset="-122"/>
                <a:cs typeface="Noto Sans CJK JP" pitchFamily="34" charset="-120"/>
              </a:rPr>
              <a:t>1 日休業 + 冷凍商品損失</a:t>
            </a:r>
            <a:endParaRPr lang="en-US" sz="950" dirty="0"/>
          </a:p>
        </p:txBody>
      </p:sp>
      <p:sp>
        <p:nvSpPr>
          <p:cNvPr id="31" name="Shape 29"/>
          <p:cNvSpPr/>
          <p:nvPr/>
        </p:nvSpPr>
        <p:spPr>
          <a:xfrm>
            <a:off x="6245352"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32" name="Text 30"/>
          <p:cNvSpPr/>
          <p:nvPr/>
        </p:nvSpPr>
        <p:spPr>
          <a:xfrm>
            <a:off x="6519672" y="1755648"/>
            <a:ext cx="5029200" cy="329184"/>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脱炭素・ CO₂ 削減価値</a:t>
            </a:r>
            <a:endParaRPr lang="en-US" sz="1400" dirty="0"/>
          </a:p>
        </p:txBody>
      </p:sp>
      <p:sp>
        <p:nvSpPr>
          <p:cNvPr id="33" name="Shape 31"/>
          <p:cNvSpPr/>
          <p:nvPr/>
        </p:nvSpPr>
        <p:spPr>
          <a:xfrm>
            <a:off x="6519672" y="2148840"/>
            <a:ext cx="4937760" cy="868680"/>
          </a:xfrm>
          <a:prstGeom prst="rect">
            <a:avLst/>
          </a:prstGeom>
          <a:solidFill>
            <a:srgbClr val="1FA383"/>
          </a:solidFill>
          <a:ln/>
        </p:spPr>
      </p:sp>
      <p:sp>
        <p:nvSpPr>
          <p:cNvPr id="34" name="Text 32"/>
          <p:cNvSpPr/>
          <p:nvPr/>
        </p:nvSpPr>
        <p:spPr>
          <a:xfrm>
            <a:off x="6519672" y="2240280"/>
            <a:ext cx="493776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CJK JP" pitchFamily="34" charset="0"/>
                <a:ea typeface="Noto Sans CJK JP" pitchFamily="34" charset="-122"/>
                <a:cs typeface="Noto Sans CJK JP" pitchFamily="34" charset="-120"/>
              </a:rPr>
              <a:t>初年度 26.57 t-CO₂ 削減</a:t>
            </a:r>
            <a:endParaRPr lang="en-US" sz="2000" dirty="0"/>
          </a:p>
        </p:txBody>
      </p:sp>
      <p:sp>
        <p:nvSpPr>
          <p:cNvPr id="35" name="Text 33"/>
          <p:cNvSpPr/>
          <p:nvPr/>
        </p:nvSpPr>
        <p:spPr>
          <a:xfrm>
            <a:off x="6519672" y="2651760"/>
            <a:ext cx="4937760" cy="274320"/>
          </a:xfrm>
          <a:prstGeom prst="rect">
            <a:avLst/>
          </a:prstGeom>
          <a:noFill/>
          <a:ln/>
        </p:spPr>
        <p:txBody>
          <a:bodyPr wrap="square" lIns="0" tIns="0" rIns="0" bIns="0" rtlCol="0" anchor="ctr"/>
          <a:lstStyle/>
          <a:p>
            <a:pPr algn="ctr" indent="0" marL="0">
              <a:buNone/>
            </a:pPr>
            <a:r>
              <a:rPr lang="en-US" sz="1050" dirty="0">
                <a:solidFill>
                  <a:srgbClr val="D7F2E9"/>
                </a:solidFill>
                <a:latin typeface="Noto Sans CJK JP" pitchFamily="34" charset="0"/>
                <a:ea typeface="Noto Sans CJK JP" pitchFamily="34" charset="-122"/>
                <a:cs typeface="Noto Sans CJK JP" pitchFamily="34" charset="-120"/>
              </a:rPr>
              <a:t>(C/D 共通 / 杉の木 約 4,500 本 / 年 に相当 )</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19672" y="3108960"/>
          <a:ext cx="4937760" cy="914400"/>
        </p:xfrm>
        <a:graphic>
          <a:graphicData uri="http://schemas.openxmlformats.org/drawingml/2006/table">
            <a:tbl>
              <a:tblPr/>
              <a:tblGrid>
                <a:gridCol w="1920240"/>
                <a:gridCol w="1005840"/>
                <a:gridCol w="1005840"/>
                <a:gridCol w="1005840"/>
              </a:tblGrid>
              <a:tr h="292608">
                <a:tc>
                  <a:txBody>
                    <a:bodyPr/>
                    <a:lstStyle/>
                    <a:p>
                      <a:pPr algn="ctr" indent="0" marL="0">
                        <a:buNone/>
                      </a:pP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0F2747"/>
                    </a:solidFill>
                  </a:tcPr>
                </a:tc>
                <a:tc>
                  <a:txBody>
                    <a:bodyPr/>
                    <a:lstStyle/>
                    <a:p>
                      <a:pPr algn="ctr" indent="0" marL="0">
                        <a:buNone/>
                      </a:pPr>
                      <a:r>
                        <a:rPr lang="en-US" sz="1050" b="1" dirty="0">
                          <a:solidFill>
                            <a:srgbClr val="C7A867"/>
                          </a:solidFill>
                          <a:latin typeface="Noto Sans CJK JP" pitchFamily="34" charset="0"/>
                          <a:ea typeface="Noto Sans CJK JP" pitchFamily="34" charset="-122"/>
                          <a:cs typeface="Noto Sans CJK JP" pitchFamily="34" charset="-120"/>
                        </a:rPr>
                        <a:t>A</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0F2747"/>
                    </a:solidFill>
                  </a:tcPr>
                </a:tc>
                <a:tc>
                  <a:txBody>
                    <a:bodyPr/>
                    <a:lstStyle/>
                    <a:p>
                      <a:pPr algn="ctr" indent="0" marL="0">
                        <a:buNone/>
                      </a:pPr>
                      <a:r>
                        <a:rPr lang="en-US" sz="1050" b="1" dirty="0">
                          <a:solidFill>
                            <a:srgbClr val="C7A867"/>
                          </a:solidFill>
                          <a:latin typeface="Noto Sans CJK JP" pitchFamily="34" charset="0"/>
                          <a:ea typeface="Noto Sans CJK JP" pitchFamily="34" charset="-122"/>
                          <a:cs typeface="Noto Sans CJK JP" pitchFamily="34" charset="-120"/>
                        </a:rPr>
                        <a:t>B</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0F2747"/>
                    </a:solidFill>
                  </a:tcPr>
                </a:tc>
                <a:tc>
                  <a:txBody>
                    <a:bodyPr/>
                    <a:lstStyle/>
                    <a:p>
                      <a:pPr algn="ctr" indent="0" marL="0">
                        <a:buNone/>
                      </a:pPr>
                      <a:r>
                        <a:rPr lang="en-US" sz="1050" b="1" dirty="0">
                          <a:solidFill>
                            <a:srgbClr val="C7A867"/>
                          </a:solidFill>
                          <a:latin typeface="Noto Sans CJK JP" pitchFamily="34" charset="0"/>
                          <a:ea typeface="Noto Sans CJK JP" pitchFamily="34" charset="-122"/>
                          <a:cs typeface="Noto Sans CJK JP" pitchFamily="34" charset="-120"/>
                        </a:rPr>
                        <a:t>C/D</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0F2747"/>
                    </a:solidFill>
                  </a:tcPr>
                </a:tc>
              </a:tr>
              <a:tr h="310896">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再エネ比率</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0%</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47.2%</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58.8%</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r>
              <a:tr h="310896">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CO₂ 削減 ( 年 )</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0 t</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21.3 t</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26.6 t</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r>
              <a:tr h="310896">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CO₂ 削減 (25 年 )</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0 t</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501 t</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564 t</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r>
              <a:tr h="310896">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余剰電力</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売電</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捨てる</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2B40"/>
                          </a:solidFill>
                          <a:latin typeface="Noto Sans CJK JP" pitchFamily="34" charset="0"/>
                          <a:ea typeface="Noto Sans CJK JP" pitchFamily="34" charset="-122"/>
                          <a:cs typeface="Noto Sans CJK JP" pitchFamily="34" charset="-120"/>
                        </a:rPr>
                        <a:t>蓄電池へ</a:t>
                      </a:r>
                      <a:endParaRPr lang="en-US" sz="1050" dirty="0">
                        <a:latin typeface="Noto Sans CJK JP" charset="0"/>
                        <a:ea typeface="Noto Sans CJK JP" charset="0"/>
                        <a:cs typeface="Noto Sans CJK JP" charset="0"/>
                      </a:endParaRPr>
                    </a:p>
                  </a:txBody>
                  <a:tcPr marL="91440" marR="91440" marT="45720" marB="45720" anchor="ctr">
                    <a:lnL w="6350" cap="flat" cmpd="sng" algn="ctr">
                      <a:solidFill>
                        <a:srgbClr val="E1E5EA"/>
                      </a:solidFill>
                      <a:prstDash val="solid"/>
                      <a:round/>
                      <a:headEnd type="none" w="med" len="med"/>
                      <a:tailEnd type="none" w="med" len="med"/>
                    </a:lnL>
                    <a:lnR w="6350" cap="flat" cmpd="sng" algn="ctr">
                      <a:solidFill>
                        <a:srgbClr val="E1E5EA"/>
                      </a:solidFill>
                      <a:prstDash val="solid"/>
                      <a:round/>
                      <a:headEnd type="none" w="med" len="med"/>
                      <a:tailEnd type="none" w="med" len="med"/>
                    </a:lnR>
                    <a:lnT w="6350" cap="flat" cmpd="sng" algn="ctr">
                      <a:solidFill>
                        <a:srgbClr val="E1E5EA"/>
                      </a:solidFill>
                      <a:prstDash val="solid"/>
                      <a:round/>
                      <a:headEnd type="none" w="med" len="med"/>
                      <a:tailEnd type="none" w="med" len="med"/>
                    </a:lnT>
                    <a:lnB w="6350" cap="flat" cmpd="sng" algn="ctr">
                      <a:solidFill>
                        <a:srgbClr val="E1E5EA"/>
                      </a:solidFill>
                      <a:prstDash val="solid"/>
                      <a:round/>
                      <a:headEnd type="none" w="med" len="med"/>
                      <a:tailEnd type="none" w="med" len="med"/>
                    </a:lnB>
                    <a:solidFill>
                      <a:srgbClr val="FFFFFF"/>
                    </a:solidFill>
                  </a:tcPr>
                </a:tc>
              </a:tr>
            </a:tbl>
          </a:graphicData>
        </a:graphic>
      </p:graphicFrame>
      <p:sp>
        <p:nvSpPr>
          <p:cNvPr id="37" name="Shape 34"/>
          <p:cNvSpPr/>
          <p:nvPr/>
        </p:nvSpPr>
        <p:spPr>
          <a:xfrm>
            <a:off x="6519672" y="4937760"/>
            <a:ext cx="4937760" cy="1005840"/>
          </a:xfrm>
          <a:prstGeom prst="rect">
            <a:avLst/>
          </a:prstGeom>
          <a:solidFill>
            <a:srgbClr val="0F2747"/>
          </a:solidFill>
          <a:ln/>
        </p:spPr>
      </p:sp>
      <p:sp>
        <p:nvSpPr>
          <p:cNvPr id="38" name="Text 35"/>
          <p:cNvSpPr/>
          <p:nvPr/>
        </p:nvSpPr>
        <p:spPr>
          <a:xfrm>
            <a:off x="6675120" y="5010912"/>
            <a:ext cx="4572000" cy="274320"/>
          </a:xfrm>
          <a:prstGeom prst="rect">
            <a:avLst/>
          </a:prstGeom>
          <a:noFill/>
          <a:ln/>
        </p:spPr>
        <p:txBody>
          <a:bodyPr wrap="square" lIns="0" tIns="0" rIns="0" bIns="0" rtlCol="0" anchor="ctr"/>
          <a:lstStyle/>
          <a:p>
            <a:pPr algn="l" indent="0" marL="0">
              <a:buNone/>
            </a:pPr>
            <a:r>
              <a:rPr lang="en-US" sz="1100" b="1" dirty="0">
                <a:solidFill>
                  <a:srgbClr val="C7A867"/>
                </a:solidFill>
                <a:latin typeface="Noto Sans CJK JP" pitchFamily="34" charset="0"/>
                <a:ea typeface="Noto Sans CJK JP" pitchFamily="34" charset="-122"/>
                <a:cs typeface="Noto Sans CJK JP" pitchFamily="34" charset="-120"/>
              </a:rPr>
              <a:t>ESG ・ SDGs 文脈での価値</a:t>
            </a:r>
            <a:endParaRPr lang="en-US" sz="1100" dirty="0"/>
          </a:p>
        </p:txBody>
      </p:sp>
      <p:sp>
        <p:nvSpPr>
          <p:cNvPr id="39" name="Text 36"/>
          <p:cNvSpPr/>
          <p:nvPr/>
        </p:nvSpPr>
        <p:spPr>
          <a:xfrm>
            <a:off x="6693408" y="5285232"/>
            <a:ext cx="4663440" cy="621792"/>
          </a:xfrm>
          <a:prstGeom prst="rect">
            <a:avLst/>
          </a:prstGeom>
          <a:noFill/>
          <a:ln/>
        </p:spPr>
        <p:txBody>
          <a:bodyPr wrap="square" lIns="0" tIns="0" rIns="0" bIns="0" rtlCol="0" anchor="t"/>
          <a:lstStyle/>
          <a:p>
            <a:pPr algn="l" marL="342900" indent="-342900">
              <a:spcAft>
                <a:spcPts val="300"/>
              </a:spcAft>
              <a:buSzPct val="100000"/>
              <a:buChar char="●"/>
            </a:pPr>
            <a:r>
              <a:rPr lang="en-US" sz="950" dirty="0">
                <a:solidFill>
                  <a:srgbClr val="FFFFFF"/>
                </a:solidFill>
                <a:latin typeface="Noto Sans CJK JP" pitchFamily="34" charset="0"/>
                <a:ea typeface="Noto Sans CJK JP" pitchFamily="34" charset="-122"/>
                <a:cs typeface="Noto Sans CJK JP" pitchFamily="34" charset="-120"/>
              </a:rPr>
              <a:t>取引先の脱炭素要請に対応 (Scope2 排出量削減 )</a:t>
            </a:r>
            <a:endParaRPr lang="en-US" sz="950" dirty="0"/>
          </a:p>
          <a:p>
            <a:pPr algn="l" marL="342900" indent="-342900">
              <a:spcAft>
                <a:spcPts val="300"/>
              </a:spcAft>
              <a:buSzPct val="100000"/>
              <a:buChar char="●"/>
            </a:pPr>
            <a:r>
              <a:rPr lang="en-US" sz="950" dirty="0">
                <a:solidFill>
                  <a:srgbClr val="FFFFFF"/>
                </a:solidFill>
                <a:latin typeface="Noto Sans CJK JP" pitchFamily="34" charset="0"/>
                <a:ea typeface="Noto Sans CJK JP" pitchFamily="34" charset="-122"/>
                <a:cs typeface="Noto Sans CJK JP" pitchFamily="34" charset="-120"/>
              </a:rPr>
              <a:t>再エネ比率 59% は中小事業者として極めて高水準</a:t>
            </a:r>
            <a:endParaRPr lang="en-US" sz="950" dirty="0"/>
          </a:p>
          <a:p>
            <a:pPr algn="l" marL="342900" indent="-342900">
              <a:buSzPct val="100000"/>
              <a:buChar char="●"/>
            </a:pPr>
            <a:r>
              <a:rPr lang="en-US" sz="950" dirty="0">
                <a:solidFill>
                  <a:srgbClr val="FFFFFF"/>
                </a:solidFill>
                <a:latin typeface="Noto Sans CJK JP" pitchFamily="34" charset="0"/>
                <a:ea typeface="Noto Sans CJK JP" pitchFamily="34" charset="-122"/>
                <a:cs typeface="Noto Sans CJK JP" pitchFamily="34" charset="-120"/>
              </a:rPr>
              <a:t>RE100 関連の取引拡大を狙える定量実績</a:t>
            </a:r>
            <a:endParaRPr lang="en-US" sz="950" dirty="0"/>
          </a:p>
        </p:txBody>
      </p:sp>
      <p:sp>
        <p:nvSpPr>
          <p:cNvPr id="40" name="Text 37"/>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41" name="Text 38"/>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14 / 20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06</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千葉県補助金活用スキーム ― 蓄電池 + ポリウレア の合算ストーリー</a:t>
            </a:r>
            <a:endParaRPr lang="en-US" sz="3000" dirty="0"/>
          </a:p>
        </p:txBody>
      </p:sp>
      <p:sp>
        <p:nvSpPr>
          <p:cNvPr id="4" name="Shape 2"/>
          <p:cNvSpPr/>
          <p:nvPr/>
        </p:nvSpPr>
        <p:spPr>
          <a:xfrm>
            <a:off x="457200"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5" name="Text 3"/>
          <p:cNvSpPr/>
          <p:nvPr/>
        </p:nvSpPr>
        <p:spPr>
          <a:xfrm>
            <a:off x="731520" y="1755648"/>
            <a:ext cx="5029200" cy="329184"/>
          </a:xfrm>
          <a:prstGeom prst="rect">
            <a:avLst/>
          </a:prstGeom>
          <a:noFill/>
          <a:ln/>
        </p:spPr>
        <p:txBody>
          <a:bodyPr wrap="square" lIns="0" tIns="0" rIns="0" bIns="0" rtlCol="0" anchor="ctr"/>
          <a:lstStyle/>
          <a:p>
            <a:pPr algn="l" indent="0" marL="0">
              <a:buNone/>
            </a:pPr>
            <a:r>
              <a:rPr lang="en-US" sz="1350" b="1" dirty="0">
                <a:solidFill>
                  <a:srgbClr val="0F2747"/>
                </a:solidFill>
                <a:latin typeface="Noto Sans CJK JP" pitchFamily="34" charset="0"/>
                <a:ea typeface="Noto Sans CJK JP" pitchFamily="34" charset="-122"/>
                <a:cs typeface="Noto Sans CJK JP" pitchFamily="34" charset="-120"/>
              </a:rPr>
              <a:t>千葉県業務用設備等脱炭素化促進事業補助金</a:t>
            </a:r>
            <a:endParaRPr lang="en-US" sz="1350" dirty="0"/>
          </a:p>
        </p:txBody>
      </p:sp>
      <p:sp>
        <p:nvSpPr>
          <p:cNvPr id="6" name="Shape 4"/>
          <p:cNvSpPr/>
          <p:nvPr/>
        </p:nvSpPr>
        <p:spPr>
          <a:xfrm>
            <a:off x="731520" y="2194560"/>
            <a:ext cx="1325880" cy="420624"/>
          </a:xfrm>
          <a:prstGeom prst="rect">
            <a:avLst/>
          </a:prstGeom>
          <a:solidFill>
            <a:srgbClr val="0F2747"/>
          </a:solidFill>
          <a:ln/>
        </p:spPr>
      </p:sp>
      <p:sp>
        <p:nvSpPr>
          <p:cNvPr id="7" name="Text 5"/>
          <p:cNvSpPr/>
          <p:nvPr/>
        </p:nvSpPr>
        <p:spPr>
          <a:xfrm>
            <a:off x="731520" y="2194560"/>
            <a:ext cx="13258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対象</a:t>
            </a:r>
            <a:endParaRPr lang="en-US" sz="1000" dirty="0"/>
          </a:p>
        </p:txBody>
      </p:sp>
      <p:sp>
        <p:nvSpPr>
          <p:cNvPr id="8" name="Text 6"/>
          <p:cNvSpPr/>
          <p:nvPr/>
        </p:nvSpPr>
        <p:spPr>
          <a:xfrm>
            <a:off x="2194560" y="2194560"/>
            <a:ext cx="3566160" cy="420624"/>
          </a:xfrm>
          <a:prstGeom prst="rect">
            <a:avLst/>
          </a:prstGeom>
          <a:noFill/>
          <a:ln/>
        </p:spPr>
        <p:txBody>
          <a:bodyPr wrap="square" lIns="0" tIns="0" rIns="0" bIns="0" rtlCol="0" anchor="ctr"/>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県内の中小事業者等（中小企業・個人事業者・ NPO 等）</a:t>
            </a:r>
            <a:endParaRPr lang="en-US" sz="1000" dirty="0"/>
          </a:p>
        </p:txBody>
      </p:sp>
      <p:sp>
        <p:nvSpPr>
          <p:cNvPr id="9" name="Shape 7"/>
          <p:cNvSpPr/>
          <p:nvPr/>
        </p:nvSpPr>
        <p:spPr>
          <a:xfrm>
            <a:off x="731520" y="2679192"/>
            <a:ext cx="1325880" cy="420624"/>
          </a:xfrm>
          <a:prstGeom prst="rect">
            <a:avLst/>
          </a:prstGeom>
          <a:solidFill>
            <a:srgbClr val="0F2747"/>
          </a:solidFill>
          <a:ln/>
        </p:spPr>
      </p:sp>
      <p:sp>
        <p:nvSpPr>
          <p:cNvPr id="10" name="Text 8"/>
          <p:cNvSpPr/>
          <p:nvPr/>
        </p:nvSpPr>
        <p:spPr>
          <a:xfrm>
            <a:off x="731520" y="2679192"/>
            <a:ext cx="13258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対象設備</a:t>
            </a:r>
            <a:endParaRPr lang="en-US" sz="1000" dirty="0"/>
          </a:p>
        </p:txBody>
      </p:sp>
      <p:sp>
        <p:nvSpPr>
          <p:cNvPr id="11" name="Text 9"/>
          <p:cNvSpPr/>
          <p:nvPr/>
        </p:nvSpPr>
        <p:spPr>
          <a:xfrm>
            <a:off x="2194560" y="2679192"/>
            <a:ext cx="3566160" cy="420624"/>
          </a:xfrm>
          <a:prstGeom prst="rect">
            <a:avLst/>
          </a:prstGeom>
          <a:noFill/>
          <a:ln/>
        </p:spPr>
        <p:txBody>
          <a:bodyPr wrap="square" lIns="0" tIns="0" rIns="0" bIns="0" rtlCol="0" anchor="ctr"/>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再エネ発電電力を蓄電する蓄電池の設置 ほか</a:t>
            </a:r>
            <a:endParaRPr lang="en-US" sz="1000" dirty="0"/>
          </a:p>
        </p:txBody>
      </p:sp>
      <p:sp>
        <p:nvSpPr>
          <p:cNvPr id="12" name="Shape 10"/>
          <p:cNvSpPr/>
          <p:nvPr/>
        </p:nvSpPr>
        <p:spPr>
          <a:xfrm>
            <a:off x="731520" y="3163824"/>
            <a:ext cx="1325880" cy="676656"/>
          </a:xfrm>
          <a:prstGeom prst="rect">
            <a:avLst/>
          </a:prstGeom>
          <a:solidFill>
            <a:srgbClr val="0F2747"/>
          </a:solidFill>
          <a:ln/>
        </p:spPr>
      </p:sp>
      <p:sp>
        <p:nvSpPr>
          <p:cNvPr id="13" name="Text 11"/>
          <p:cNvSpPr/>
          <p:nvPr/>
        </p:nvSpPr>
        <p:spPr>
          <a:xfrm>
            <a:off x="731520" y="3163824"/>
            <a:ext cx="1325880" cy="676656"/>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補助率</a:t>
            </a:r>
            <a:endParaRPr lang="en-US" sz="1000" dirty="0"/>
          </a:p>
        </p:txBody>
      </p:sp>
      <p:sp>
        <p:nvSpPr>
          <p:cNvPr id="14" name="Text 12"/>
          <p:cNvSpPr/>
          <p:nvPr/>
        </p:nvSpPr>
        <p:spPr>
          <a:xfrm>
            <a:off x="2194560" y="3163824"/>
            <a:ext cx="3566160" cy="676656"/>
          </a:xfrm>
          <a:prstGeom prst="rect">
            <a:avLst/>
          </a:prstGeom>
          <a:noFill/>
          <a:ln/>
        </p:spPr>
        <p:txBody>
          <a:bodyPr wrap="square" lIns="0" tIns="0" rIns="0" bIns="0" rtlCol="0" anchor="ctr"/>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省エネ診断あり ➡ 1/2 ( 上限 1,000 万円 )</a:t>
            </a:r>
            <a:endParaRPr lang="en-US" sz="1000" dirty="0"/>
          </a:p>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簡易自己診断のみ ➡ 1/4 ( 上限 500 万円 )</a:t>
            </a:r>
            <a:endParaRPr lang="en-US" sz="1000" dirty="0"/>
          </a:p>
        </p:txBody>
      </p:sp>
      <p:sp>
        <p:nvSpPr>
          <p:cNvPr id="15" name="Shape 13"/>
          <p:cNvSpPr/>
          <p:nvPr/>
        </p:nvSpPr>
        <p:spPr>
          <a:xfrm>
            <a:off x="731520" y="3904488"/>
            <a:ext cx="1325880" cy="676656"/>
          </a:xfrm>
          <a:prstGeom prst="rect">
            <a:avLst/>
          </a:prstGeom>
          <a:solidFill>
            <a:srgbClr val="0F2747"/>
          </a:solidFill>
          <a:ln/>
        </p:spPr>
      </p:sp>
      <p:sp>
        <p:nvSpPr>
          <p:cNvPr id="16" name="Text 14"/>
          <p:cNvSpPr/>
          <p:nvPr/>
        </p:nvSpPr>
        <p:spPr>
          <a:xfrm>
            <a:off x="731520" y="3904488"/>
            <a:ext cx="1325880" cy="676656"/>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要件</a:t>
            </a:r>
            <a:endParaRPr lang="en-US" sz="1000" dirty="0"/>
          </a:p>
        </p:txBody>
      </p:sp>
      <p:sp>
        <p:nvSpPr>
          <p:cNvPr id="17" name="Text 15"/>
          <p:cNvSpPr/>
          <p:nvPr/>
        </p:nvSpPr>
        <p:spPr>
          <a:xfrm>
            <a:off x="2194560" y="3904488"/>
            <a:ext cx="3566160" cy="676656"/>
          </a:xfrm>
          <a:prstGeom prst="rect">
            <a:avLst/>
          </a:prstGeom>
          <a:noFill/>
          <a:ln/>
        </p:spPr>
        <p:txBody>
          <a:bodyPr wrap="square" lIns="0" tIns="0" rIns="0" bIns="0" rtlCol="0" anchor="ctr"/>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①CO₂ スマート宣言事業所登録 ②省エネ診断受診</a:t>
            </a:r>
            <a:endParaRPr lang="en-US" sz="1000" dirty="0"/>
          </a:p>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③CO₂ 削減 3t 以上 / 年 ④交付決定前に未着手</a:t>
            </a:r>
            <a:endParaRPr lang="en-US" sz="1000" dirty="0"/>
          </a:p>
        </p:txBody>
      </p:sp>
      <p:sp>
        <p:nvSpPr>
          <p:cNvPr id="18" name="Shape 16"/>
          <p:cNvSpPr/>
          <p:nvPr/>
        </p:nvSpPr>
        <p:spPr>
          <a:xfrm>
            <a:off x="731520" y="4645152"/>
            <a:ext cx="1325880" cy="420624"/>
          </a:xfrm>
          <a:prstGeom prst="rect">
            <a:avLst/>
          </a:prstGeom>
          <a:solidFill>
            <a:srgbClr val="0F2747"/>
          </a:solidFill>
          <a:ln/>
        </p:spPr>
      </p:sp>
      <p:sp>
        <p:nvSpPr>
          <p:cNvPr id="19" name="Text 17"/>
          <p:cNvSpPr/>
          <p:nvPr/>
        </p:nvSpPr>
        <p:spPr>
          <a:xfrm>
            <a:off x="731520" y="4645152"/>
            <a:ext cx="13258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対象経費</a:t>
            </a:r>
            <a:endParaRPr lang="en-US" sz="1000" dirty="0"/>
          </a:p>
        </p:txBody>
      </p:sp>
      <p:sp>
        <p:nvSpPr>
          <p:cNvPr id="20" name="Text 18"/>
          <p:cNvSpPr/>
          <p:nvPr/>
        </p:nvSpPr>
        <p:spPr>
          <a:xfrm>
            <a:off x="2194560" y="4645152"/>
            <a:ext cx="3566160" cy="420624"/>
          </a:xfrm>
          <a:prstGeom prst="rect">
            <a:avLst/>
          </a:prstGeom>
          <a:noFill/>
          <a:ln/>
        </p:spPr>
        <p:txBody>
          <a:bodyPr wrap="square" lIns="0" tIns="0" rIns="0" bIns="0" rtlCol="0" anchor="ctr"/>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設備費・工事費（撤去 / 消費税相当除く）</a:t>
            </a:r>
            <a:endParaRPr lang="en-US" sz="1000" dirty="0"/>
          </a:p>
        </p:txBody>
      </p:sp>
      <p:sp>
        <p:nvSpPr>
          <p:cNvPr id="21" name="Shape 19"/>
          <p:cNvSpPr/>
          <p:nvPr/>
        </p:nvSpPr>
        <p:spPr>
          <a:xfrm>
            <a:off x="731520" y="5129784"/>
            <a:ext cx="1325880" cy="420624"/>
          </a:xfrm>
          <a:prstGeom prst="rect">
            <a:avLst/>
          </a:prstGeom>
          <a:solidFill>
            <a:srgbClr val="0F2747"/>
          </a:solidFill>
          <a:ln/>
        </p:spPr>
      </p:sp>
      <p:sp>
        <p:nvSpPr>
          <p:cNvPr id="22" name="Text 20"/>
          <p:cNvSpPr/>
          <p:nvPr/>
        </p:nvSpPr>
        <p:spPr>
          <a:xfrm>
            <a:off x="731520" y="5129784"/>
            <a:ext cx="1325880"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募集時期</a:t>
            </a:r>
            <a:endParaRPr lang="en-US" sz="1000" dirty="0"/>
          </a:p>
        </p:txBody>
      </p:sp>
      <p:sp>
        <p:nvSpPr>
          <p:cNvPr id="23" name="Text 21"/>
          <p:cNvSpPr/>
          <p:nvPr/>
        </p:nvSpPr>
        <p:spPr>
          <a:xfrm>
            <a:off x="2194560" y="5129784"/>
            <a:ext cx="3566160" cy="420624"/>
          </a:xfrm>
          <a:prstGeom prst="rect">
            <a:avLst/>
          </a:prstGeom>
          <a:noFill/>
          <a:ln/>
        </p:spPr>
        <p:txBody>
          <a:bodyPr wrap="square" lIns="0" tIns="0" rIns="0" bIns="0" rtlCol="0" anchor="ctr"/>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例年 5 〜 10 月 (R8 年度内容は準備中・予算先着順 )</a:t>
            </a:r>
            <a:endParaRPr lang="en-US" sz="1000" dirty="0"/>
          </a:p>
        </p:txBody>
      </p:sp>
      <p:sp>
        <p:nvSpPr>
          <p:cNvPr id="24" name="Shape 22"/>
          <p:cNvSpPr/>
          <p:nvPr/>
        </p:nvSpPr>
        <p:spPr>
          <a:xfrm>
            <a:off x="6245352" y="1554480"/>
            <a:ext cx="5486400" cy="4617720"/>
          </a:xfrm>
          <a:prstGeom prst="roundRect">
            <a:avLst>
              <a:gd name="adj" fmla="val 1188"/>
            </a:avLst>
          </a:prstGeom>
          <a:solidFill>
            <a:srgbClr val="F4F6F8"/>
          </a:solidFill>
          <a:ln w="12700">
            <a:solidFill>
              <a:srgbClr val="E1E5EA"/>
            </a:solidFill>
            <a:prstDash val="solid"/>
          </a:ln>
          <a:effectLst>
            <a:outerShdw sx="100000" sy="100000" kx="0" ky="0" algn="bl" rotWithShape="0" blurRad="88900" dist="38100" dir="8100000">
              <a:srgbClr val="000000">
                <a:alpha val="12000"/>
              </a:srgbClr>
            </a:outerShdw>
          </a:effectLst>
        </p:spPr>
      </p:sp>
      <p:sp>
        <p:nvSpPr>
          <p:cNvPr id="25" name="Text 23"/>
          <p:cNvSpPr/>
          <p:nvPr/>
        </p:nvSpPr>
        <p:spPr>
          <a:xfrm>
            <a:off x="6519672" y="1755648"/>
            <a:ext cx="5029200" cy="329184"/>
          </a:xfrm>
          <a:prstGeom prst="rect">
            <a:avLst/>
          </a:prstGeom>
          <a:noFill/>
          <a:ln/>
        </p:spPr>
        <p:txBody>
          <a:bodyPr wrap="square" lIns="0" tIns="0" rIns="0" bIns="0" rtlCol="0" anchor="ctr"/>
          <a:lstStyle/>
          <a:p>
            <a:pPr algn="l" indent="0" marL="0">
              <a:buNone/>
            </a:pPr>
            <a:r>
              <a:rPr lang="en-US" sz="1350" b="1" dirty="0">
                <a:solidFill>
                  <a:srgbClr val="0F2747"/>
                </a:solidFill>
                <a:latin typeface="Noto Sans CJK JP" pitchFamily="34" charset="0"/>
                <a:ea typeface="Noto Sans CJK JP" pitchFamily="34" charset="-122"/>
                <a:cs typeface="Noto Sans CJK JP" pitchFamily="34" charset="-120"/>
              </a:rPr>
              <a:t>補助金活用の試算 ( 蓄電池 + ポリウレア )</a:t>
            </a:r>
            <a:endParaRPr lang="en-US" sz="1350" dirty="0"/>
          </a:p>
        </p:txBody>
      </p:sp>
      <p:sp>
        <p:nvSpPr>
          <p:cNvPr id="26" name="Shape 24"/>
          <p:cNvSpPr/>
          <p:nvPr/>
        </p:nvSpPr>
        <p:spPr>
          <a:xfrm>
            <a:off x="6519672" y="2194560"/>
            <a:ext cx="4937760" cy="457200"/>
          </a:xfrm>
          <a:prstGeom prst="rect">
            <a:avLst/>
          </a:prstGeom>
          <a:solidFill>
            <a:srgbClr val="FFFFFF"/>
          </a:solidFill>
          <a:ln w="16510">
            <a:solidFill>
              <a:srgbClr val="1A2B40"/>
            </a:solidFill>
            <a:prstDash val="solid"/>
          </a:ln>
        </p:spPr>
      </p:sp>
      <p:sp>
        <p:nvSpPr>
          <p:cNvPr id="27" name="Text 25"/>
          <p:cNvSpPr/>
          <p:nvPr/>
        </p:nvSpPr>
        <p:spPr>
          <a:xfrm>
            <a:off x="6656832" y="2194560"/>
            <a:ext cx="3291840" cy="457200"/>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蓄電池 税抜 (Powerwall 3 × 4 台 )</a:t>
            </a:r>
            <a:endParaRPr lang="en-US" sz="1050" dirty="0"/>
          </a:p>
        </p:txBody>
      </p:sp>
      <p:sp>
        <p:nvSpPr>
          <p:cNvPr id="28" name="Text 26"/>
          <p:cNvSpPr/>
          <p:nvPr/>
        </p:nvSpPr>
        <p:spPr>
          <a:xfrm>
            <a:off x="9144000" y="2194560"/>
            <a:ext cx="2221992" cy="457200"/>
          </a:xfrm>
          <a:prstGeom prst="rect">
            <a:avLst/>
          </a:prstGeom>
          <a:noFill/>
          <a:ln/>
        </p:spPr>
        <p:txBody>
          <a:bodyPr wrap="square" lIns="0" tIns="0" rIns="0" bIns="0" rtlCol="0" anchor="ctr"/>
          <a:lstStyle/>
          <a:p>
            <a:pPr algn="r" indent="0" marL="0">
              <a:buNone/>
            </a:pPr>
            <a:r>
              <a:rPr lang="en-US" sz="1300" b="1" dirty="0">
                <a:solidFill>
                  <a:srgbClr val="1A2B40"/>
                </a:solidFill>
                <a:latin typeface="Noto Sans CJK JP" pitchFamily="34" charset="0"/>
                <a:ea typeface="Noto Sans CJK JP" pitchFamily="34" charset="-122"/>
                <a:cs typeface="Noto Sans CJK JP" pitchFamily="34" charset="-120"/>
              </a:rPr>
              <a:t>8,730,000 円</a:t>
            </a:r>
            <a:endParaRPr lang="en-US" sz="1300" dirty="0"/>
          </a:p>
        </p:txBody>
      </p:sp>
      <p:sp>
        <p:nvSpPr>
          <p:cNvPr id="29" name="Shape 27"/>
          <p:cNvSpPr/>
          <p:nvPr/>
        </p:nvSpPr>
        <p:spPr>
          <a:xfrm>
            <a:off x="6519672" y="2697480"/>
            <a:ext cx="4937760" cy="457200"/>
          </a:xfrm>
          <a:prstGeom prst="rect">
            <a:avLst/>
          </a:prstGeom>
          <a:solidFill>
            <a:srgbClr val="FFFFFF"/>
          </a:solidFill>
          <a:ln w="16510">
            <a:solidFill>
              <a:srgbClr val="4A90D9"/>
            </a:solidFill>
            <a:prstDash val="solid"/>
          </a:ln>
        </p:spPr>
      </p:sp>
      <p:sp>
        <p:nvSpPr>
          <p:cNvPr id="30" name="Text 28"/>
          <p:cNvSpPr/>
          <p:nvPr/>
        </p:nvSpPr>
        <p:spPr>
          <a:xfrm>
            <a:off x="6656832" y="2697480"/>
            <a:ext cx="3291840" cy="457200"/>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  → 単独補助 (1/2)</a:t>
            </a:r>
            <a:endParaRPr lang="en-US" sz="1050" dirty="0"/>
          </a:p>
        </p:txBody>
      </p:sp>
      <p:sp>
        <p:nvSpPr>
          <p:cNvPr id="31" name="Text 29"/>
          <p:cNvSpPr/>
          <p:nvPr/>
        </p:nvSpPr>
        <p:spPr>
          <a:xfrm>
            <a:off x="9144000" y="2697480"/>
            <a:ext cx="2221992" cy="457200"/>
          </a:xfrm>
          <a:prstGeom prst="rect">
            <a:avLst/>
          </a:prstGeom>
          <a:noFill/>
          <a:ln/>
        </p:spPr>
        <p:txBody>
          <a:bodyPr wrap="square" lIns="0" tIns="0" rIns="0" bIns="0" rtlCol="0" anchor="ctr"/>
          <a:lstStyle/>
          <a:p>
            <a:pPr algn="r" indent="0" marL="0">
              <a:buNone/>
            </a:pPr>
            <a:r>
              <a:rPr lang="en-US" sz="1300" b="1" dirty="0">
                <a:solidFill>
                  <a:srgbClr val="4A90D9"/>
                </a:solidFill>
                <a:latin typeface="Noto Sans CJK JP" pitchFamily="34" charset="0"/>
                <a:ea typeface="Noto Sans CJK JP" pitchFamily="34" charset="-122"/>
                <a:cs typeface="Noto Sans CJK JP" pitchFamily="34" charset="-120"/>
              </a:rPr>
              <a:t>▲ 4,365,000 円</a:t>
            </a:r>
            <a:endParaRPr lang="en-US" sz="1300" dirty="0"/>
          </a:p>
        </p:txBody>
      </p:sp>
      <p:sp>
        <p:nvSpPr>
          <p:cNvPr id="32" name="Shape 30"/>
          <p:cNvSpPr/>
          <p:nvPr/>
        </p:nvSpPr>
        <p:spPr>
          <a:xfrm>
            <a:off x="6519672" y="3246120"/>
            <a:ext cx="4937760" cy="457200"/>
          </a:xfrm>
          <a:prstGeom prst="rect">
            <a:avLst/>
          </a:prstGeom>
          <a:solidFill>
            <a:srgbClr val="FFFFFF"/>
          </a:solidFill>
          <a:ln w="16510">
            <a:solidFill>
              <a:srgbClr val="1A2B40"/>
            </a:solidFill>
            <a:prstDash val="solid"/>
          </a:ln>
        </p:spPr>
      </p:sp>
      <p:sp>
        <p:nvSpPr>
          <p:cNvPr id="33" name="Text 31"/>
          <p:cNvSpPr/>
          <p:nvPr/>
        </p:nvSpPr>
        <p:spPr>
          <a:xfrm>
            <a:off x="6656832" y="3246120"/>
            <a:ext cx="3291840" cy="457200"/>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ポリウレア + 昇降足場 税抜 (2,900 ㎡ + 足場 1 回 )</a:t>
            </a:r>
            <a:endParaRPr lang="en-US" sz="1050" dirty="0"/>
          </a:p>
        </p:txBody>
      </p:sp>
      <p:sp>
        <p:nvSpPr>
          <p:cNvPr id="34" name="Text 32"/>
          <p:cNvSpPr/>
          <p:nvPr/>
        </p:nvSpPr>
        <p:spPr>
          <a:xfrm>
            <a:off x="9144000" y="3246120"/>
            <a:ext cx="2221992" cy="457200"/>
          </a:xfrm>
          <a:prstGeom prst="rect">
            <a:avLst/>
          </a:prstGeom>
          <a:noFill/>
          <a:ln/>
        </p:spPr>
        <p:txBody>
          <a:bodyPr wrap="square" lIns="0" tIns="0" rIns="0" bIns="0" rtlCol="0" anchor="ctr"/>
          <a:lstStyle/>
          <a:p>
            <a:pPr algn="r" indent="0" marL="0">
              <a:buNone/>
            </a:pPr>
            <a:r>
              <a:rPr lang="en-US" sz="1300" b="1" dirty="0">
                <a:solidFill>
                  <a:srgbClr val="1A2B40"/>
                </a:solidFill>
                <a:latin typeface="Noto Sans CJK JP" pitchFamily="34" charset="0"/>
                <a:ea typeface="Noto Sans CJK JP" pitchFamily="34" charset="-122"/>
                <a:cs typeface="Noto Sans CJK JP" pitchFamily="34" charset="-120"/>
              </a:rPr>
              <a:t>25,820,000 円</a:t>
            </a:r>
            <a:endParaRPr lang="en-US" sz="1300" dirty="0"/>
          </a:p>
        </p:txBody>
      </p:sp>
      <p:sp>
        <p:nvSpPr>
          <p:cNvPr id="35" name="Shape 33"/>
          <p:cNvSpPr/>
          <p:nvPr/>
        </p:nvSpPr>
        <p:spPr>
          <a:xfrm>
            <a:off x="6519672" y="3749040"/>
            <a:ext cx="4937760" cy="457200"/>
          </a:xfrm>
          <a:prstGeom prst="rect">
            <a:avLst/>
          </a:prstGeom>
          <a:solidFill>
            <a:srgbClr val="FFFFFF"/>
          </a:solidFill>
          <a:ln w="16510">
            <a:solidFill>
              <a:srgbClr val="4A90D9"/>
            </a:solidFill>
            <a:prstDash val="solid"/>
          </a:ln>
        </p:spPr>
      </p:sp>
      <p:sp>
        <p:nvSpPr>
          <p:cNvPr id="36" name="Text 34"/>
          <p:cNvSpPr/>
          <p:nvPr/>
        </p:nvSpPr>
        <p:spPr>
          <a:xfrm>
            <a:off x="6656832" y="3749040"/>
            <a:ext cx="3291840" cy="457200"/>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  → 単独補助 (1/2)</a:t>
            </a:r>
            <a:endParaRPr lang="en-US" sz="1050" dirty="0"/>
          </a:p>
        </p:txBody>
      </p:sp>
      <p:sp>
        <p:nvSpPr>
          <p:cNvPr id="37" name="Text 35"/>
          <p:cNvSpPr/>
          <p:nvPr/>
        </p:nvSpPr>
        <p:spPr>
          <a:xfrm>
            <a:off x="9144000" y="3749040"/>
            <a:ext cx="2221992" cy="457200"/>
          </a:xfrm>
          <a:prstGeom prst="rect">
            <a:avLst/>
          </a:prstGeom>
          <a:noFill/>
          <a:ln/>
        </p:spPr>
        <p:txBody>
          <a:bodyPr wrap="square" lIns="0" tIns="0" rIns="0" bIns="0" rtlCol="0" anchor="ctr"/>
          <a:lstStyle/>
          <a:p>
            <a:pPr algn="r" indent="0" marL="0">
              <a:buNone/>
            </a:pPr>
            <a:r>
              <a:rPr lang="en-US" sz="1300" b="1" dirty="0">
                <a:solidFill>
                  <a:srgbClr val="4A90D9"/>
                </a:solidFill>
                <a:latin typeface="Noto Sans CJK JP" pitchFamily="34" charset="0"/>
                <a:ea typeface="Noto Sans CJK JP" pitchFamily="34" charset="-122"/>
                <a:cs typeface="Noto Sans CJK JP" pitchFamily="34" charset="-120"/>
              </a:rPr>
              <a:t>▲ 12,910,000 円</a:t>
            </a:r>
            <a:endParaRPr lang="en-US" sz="1300" dirty="0"/>
          </a:p>
        </p:txBody>
      </p:sp>
      <p:sp>
        <p:nvSpPr>
          <p:cNvPr id="38" name="Shape 36"/>
          <p:cNvSpPr/>
          <p:nvPr/>
        </p:nvSpPr>
        <p:spPr>
          <a:xfrm>
            <a:off x="6519672" y="4343400"/>
            <a:ext cx="4937760" cy="457200"/>
          </a:xfrm>
          <a:prstGeom prst="rect">
            <a:avLst/>
          </a:prstGeom>
          <a:solidFill>
            <a:srgbClr val="FFFFFF"/>
          </a:solidFill>
          <a:ln w="12700">
            <a:solidFill>
              <a:srgbClr val="E1E5EA"/>
            </a:solidFill>
            <a:prstDash val="solid"/>
          </a:ln>
        </p:spPr>
      </p:sp>
      <p:sp>
        <p:nvSpPr>
          <p:cNvPr id="39" name="Text 37"/>
          <p:cNvSpPr/>
          <p:nvPr/>
        </p:nvSpPr>
        <p:spPr>
          <a:xfrm>
            <a:off x="6656832" y="4343400"/>
            <a:ext cx="3291840" cy="457200"/>
          </a:xfrm>
          <a:prstGeom prst="rect">
            <a:avLst/>
          </a:prstGeom>
          <a:noFill/>
          <a:ln/>
        </p:spPr>
        <p:txBody>
          <a:bodyPr wrap="square" lIns="0" tIns="0" rIns="0" bIns="0" rtlCol="0" anchor="ctr"/>
          <a:lstStyle/>
          <a:p>
            <a:pPr algn="l" indent="0" marL="0">
              <a:buNone/>
            </a:pPr>
            <a:r>
              <a:rPr lang="en-US" sz="1050" dirty="0">
                <a:solidFill>
                  <a:srgbClr val="1A2B40"/>
                </a:solidFill>
                <a:latin typeface="Noto Sans CJK JP" pitchFamily="34" charset="0"/>
                <a:ea typeface="Noto Sans CJK JP" pitchFamily="34" charset="-122"/>
                <a:cs typeface="Noto Sans CJK JP" pitchFamily="34" charset="-120"/>
              </a:rPr>
              <a:t>単純合計</a:t>
            </a:r>
            <a:endParaRPr lang="en-US" sz="1050" dirty="0"/>
          </a:p>
        </p:txBody>
      </p:sp>
      <p:sp>
        <p:nvSpPr>
          <p:cNvPr id="40" name="Text 38"/>
          <p:cNvSpPr/>
          <p:nvPr/>
        </p:nvSpPr>
        <p:spPr>
          <a:xfrm>
            <a:off x="9144000" y="4343400"/>
            <a:ext cx="2221992" cy="457200"/>
          </a:xfrm>
          <a:prstGeom prst="rect">
            <a:avLst/>
          </a:prstGeom>
          <a:noFill/>
          <a:ln/>
        </p:spPr>
        <p:txBody>
          <a:bodyPr wrap="square" lIns="0" tIns="0" rIns="0" bIns="0" rtlCol="0" anchor="ctr"/>
          <a:lstStyle/>
          <a:p>
            <a:pPr algn="r" indent="0" marL="0">
              <a:buNone/>
            </a:pPr>
            <a:r>
              <a:rPr lang="en-US" sz="1300" b="1" dirty="0">
                <a:solidFill>
                  <a:srgbClr val="1A2B40"/>
                </a:solidFill>
                <a:latin typeface="Noto Sans CJK JP" pitchFamily="34" charset="0"/>
                <a:ea typeface="Noto Sans CJK JP" pitchFamily="34" charset="-122"/>
                <a:cs typeface="Noto Sans CJK JP" pitchFamily="34" charset="-120"/>
              </a:rPr>
              <a:t>▲ 17,275,000 円</a:t>
            </a:r>
            <a:endParaRPr lang="en-US" sz="1300" dirty="0"/>
          </a:p>
        </p:txBody>
      </p:sp>
      <p:sp>
        <p:nvSpPr>
          <p:cNvPr id="41" name="Shape 39"/>
          <p:cNvSpPr/>
          <p:nvPr/>
        </p:nvSpPr>
        <p:spPr>
          <a:xfrm>
            <a:off x="6519672" y="4846320"/>
            <a:ext cx="4937760" cy="457200"/>
          </a:xfrm>
          <a:prstGeom prst="rect">
            <a:avLst/>
          </a:prstGeom>
          <a:solidFill>
            <a:srgbClr val="FFFFFF"/>
          </a:solidFill>
          <a:ln w="16510">
            <a:solidFill>
              <a:srgbClr val="E58027"/>
            </a:solidFill>
            <a:prstDash val="solid"/>
          </a:ln>
        </p:spPr>
      </p:sp>
      <p:sp>
        <p:nvSpPr>
          <p:cNvPr id="42" name="Text 40"/>
          <p:cNvSpPr/>
          <p:nvPr/>
        </p:nvSpPr>
        <p:spPr>
          <a:xfrm>
            <a:off x="6656832" y="4846320"/>
            <a:ext cx="2743200" cy="457200"/>
          </a:xfrm>
          <a:prstGeom prst="rect">
            <a:avLst/>
          </a:prstGeom>
          <a:noFill/>
          <a:ln/>
        </p:spPr>
        <p:txBody>
          <a:bodyPr wrap="square" lIns="0" tIns="0" rIns="0" bIns="0" rtlCol="0" anchor="ctr"/>
          <a:lstStyle/>
          <a:p>
            <a:pPr algn="l" indent="0" marL="0">
              <a:buNone/>
            </a:pPr>
            <a:r>
              <a:rPr lang="en-US" sz="1100" b="1" dirty="0">
                <a:solidFill>
                  <a:srgbClr val="E58027"/>
                </a:solidFill>
                <a:latin typeface="Noto Sans CJK JP" pitchFamily="34" charset="0"/>
                <a:ea typeface="Noto Sans CJK JP" pitchFamily="34" charset="-122"/>
                <a:cs typeface="Noto Sans CJK JP" pitchFamily="34" charset="-120"/>
              </a:rPr>
              <a:t>⚠ 補助金 上限キャップ</a:t>
            </a:r>
            <a:endParaRPr lang="en-US" sz="1100" dirty="0"/>
          </a:p>
        </p:txBody>
      </p:sp>
      <p:sp>
        <p:nvSpPr>
          <p:cNvPr id="43" name="Text 41"/>
          <p:cNvSpPr/>
          <p:nvPr/>
        </p:nvSpPr>
        <p:spPr>
          <a:xfrm>
            <a:off x="9144000" y="4846320"/>
            <a:ext cx="2221992" cy="457200"/>
          </a:xfrm>
          <a:prstGeom prst="rect">
            <a:avLst/>
          </a:prstGeom>
          <a:noFill/>
          <a:ln/>
        </p:spPr>
        <p:txBody>
          <a:bodyPr wrap="square" lIns="0" tIns="0" rIns="0" bIns="0" rtlCol="0" anchor="ctr"/>
          <a:lstStyle/>
          <a:p>
            <a:pPr algn="r" indent="0" marL="0">
              <a:buNone/>
            </a:pPr>
            <a:r>
              <a:rPr lang="en-US" sz="1200" b="1" dirty="0">
                <a:solidFill>
                  <a:srgbClr val="E58027"/>
                </a:solidFill>
                <a:latin typeface="Noto Sans CJK JP" pitchFamily="34" charset="0"/>
                <a:ea typeface="Noto Sans CJK JP" pitchFamily="34" charset="-122"/>
                <a:cs typeface="Noto Sans CJK JP" pitchFamily="34" charset="-120"/>
              </a:rPr>
              <a:t>▲ 1,000 万円 ( 上限 )</a:t>
            </a:r>
            <a:endParaRPr lang="en-US" sz="1200" dirty="0"/>
          </a:p>
        </p:txBody>
      </p:sp>
      <p:sp>
        <p:nvSpPr>
          <p:cNvPr id="44" name="Shape 42"/>
          <p:cNvSpPr/>
          <p:nvPr/>
        </p:nvSpPr>
        <p:spPr>
          <a:xfrm>
            <a:off x="6519672" y="5349240"/>
            <a:ext cx="4937760" cy="502920"/>
          </a:xfrm>
          <a:prstGeom prst="rect">
            <a:avLst/>
          </a:prstGeom>
          <a:solidFill>
            <a:srgbClr val="0F2747"/>
          </a:solidFill>
          <a:ln/>
        </p:spPr>
      </p:sp>
      <p:sp>
        <p:nvSpPr>
          <p:cNvPr id="45" name="Text 43"/>
          <p:cNvSpPr/>
          <p:nvPr/>
        </p:nvSpPr>
        <p:spPr>
          <a:xfrm>
            <a:off x="6656832" y="5349240"/>
            <a:ext cx="2743200" cy="502920"/>
          </a:xfrm>
          <a:prstGeom prst="rect">
            <a:avLst/>
          </a:prstGeom>
          <a:noFill/>
          <a:ln/>
        </p:spPr>
        <p:txBody>
          <a:bodyPr wrap="square" lIns="0" tIns="0" rIns="0" bIns="0" rtlCol="0" anchor="ctr"/>
          <a:lstStyle/>
          <a:p>
            <a:pPr algn="l" indent="0" marL="0">
              <a:buNone/>
            </a:pPr>
            <a:r>
              <a:rPr lang="en-US" sz="1250" b="1" dirty="0">
                <a:solidFill>
                  <a:srgbClr val="FFFFFF"/>
                </a:solidFill>
                <a:latin typeface="Noto Sans CJK JP" pitchFamily="34" charset="0"/>
                <a:ea typeface="Noto Sans CJK JP" pitchFamily="34" charset="-122"/>
                <a:cs typeface="Noto Sans CJK JP" pitchFamily="34" charset="-120"/>
              </a:rPr>
              <a:t>実獲得補助金</a:t>
            </a:r>
            <a:endParaRPr lang="en-US" sz="1250" dirty="0"/>
          </a:p>
        </p:txBody>
      </p:sp>
      <p:sp>
        <p:nvSpPr>
          <p:cNvPr id="46" name="Text 44"/>
          <p:cNvSpPr/>
          <p:nvPr/>
        </p:nvSpPr>
        <p:spPr>
          <a:xfrm>
            <a:off x="8869680" y="5349240"/>
            <a:ext cx="2496312" cy="502920"/>
          </a:xfrm>
          <a:prstGeom prst="rect">
            <a:avLst/>
          </a:prstGeom>
          <a:noFill/>
          <a:ln/>
        </p:spPr>
        <p:txBody>
          <a:bodyPr wrap="square" lIns="0" tIns="0" rIns="0" bIns="0" rtlCol="0" anchor="ctr"/>
          <a:lstStyle/>
          <a:p>
            <a:pPr algn="r" indent="0" marL="0">
              <a:buNone/>
            </a:pPr>
            <a:r>
              <a:rPr lang="en-US" sz="1600" b="1" dirty="0">
                <a:solidFill>
                  <a:srgbClr val="C7A867"/>
                </a:solidFill>
                <a:latin typeface="Noto Sans CJK JP" pitchFamily="34" charset="0"/>
                <a:ea typeface="Noto Sans CJK JP" pitchFamily="34" charset="-122"/>
                <a:cs typeface="Noto Sans CJK JP" pitchFamily="34" charset="-120"/>
              </a:rPr>
              <a:t>▲ 10,000,000 円</a:t>
            </a:r>
            <a:endParaRPr lang="en-US" sz="1600" dirty="0"/>
          </a:p>
        </p:txBody>
      </p:sp>
      <p:sp>
        <p:nvSpPr>
          <p:cNvPr id="47" name="Shape 45"/>
          <p:cNvSpPr/>
          <p:nvPr/>
        </p:nvSpPr>
        <p:spPr>
          <a:xfrm>
            <a:off x="6519672" y="5925312"/>
            <a:ext cx="4937760" cy="365760"/>
          </a:xfrm>
          <a:prstGeom prst="rect">
            <a:avLst/>
          </a:prstGeom>
          <a:solidFill>
            <a:srgbClr val="FFFFFF"/>
          </a:solidFill>
          <a:ln w="12700">
            <a:solidFill>
              <a:srgbClr val="E58027"/>
            </a:solidFill>
            <a:prstDash val="solid"/>
          </a:ln>
        </p:spPr>
      </p:sp>
      <p:sp>
        <p:nvSpPr>
          <p:cNvPr id="48" name="Text 46"/>
          <p:cNvSpPr/>
          <p:nvPr/>
        </p:nvSpPr>
        <p:spPr>
          <a:xfrm>
            <a:off x="6519672" y="5925312"/>
            <a:ext cx="4937760" cy="365760"/>
          </a:xfrm>
          <a:prstGeom prst="rect">
            <a:avLst/>
          </a:prstGeom>
          <a:noFill/>
          <a:ln/>
        </p:spPr>
        <p:txBody>
          <a:bodyPr wrap="square" lIns="0" tIns="0" rIns="0" bIns="0" rtlCol="0" anchor="ctr"/>
          <a:lstStyle/>
          <a:p>
            <a:pPr algn="ctr" indent="0" marL="0">
              <a:buNone/>
            </a:pPr>
            <a:r>
              <a:rPr lang="en-US" sz="950" b="1" dirty="0">
                <a:solidFill>
                  <a:srgbClr val="E58027"/>
                </a:solidFill>
                <a:latin typeface="Noto Sans CJK JP" pitchFamily="34" charset="0"/>
                <a:ea typeface="Noto Sans CJK JP" pitchFamily="34" charset="-122"/>
                <a:cs typeface="Noto Sans CJK JP" pitchFamily="34" charset="-120"/>
              </a:rPr>
              <a:t>予算先着順 / 交付決定前は着工不可 / 早期申請必須</a:t>
            </a:r>
            <a:endParaRPr lang="en-US" sz="950" dirty="0"/>
          </a:p>
        </p:txBody>
      </p:sp>
      <p:sp>
        <p:nvSpPr>
          <p:cNvPr id="49" name="Text 47"/>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50" name="Text 48"/>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15 / 20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06</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蓄電池容量の最適化検討 ― 3 台 / 4 台 / 6 台の比較</a:t>
            </a:r>
            <a:endParaRPr lang="en-US" sz="3000" dirty="0"/>
          </a:p>
        </p:txBody>
      </p:sp>
      <p:sp>
        <p:nvSpPr>
          <p:cNvPr id="4" name="Shape 2"/>
          <p:cNvSpPr/>
          <p:nvPr/>
        </p:nvSpPr>
        <p:spPr>
          <a:xfrm>
            <a:off x="457200" y="1874520"/>
            <a:ext cx="3611880" cy="566928"/>
          </a:xfrm>
          <a:prstGeom prst="rect">
            <a:avLst/>
          </a:prstGeom>
          <a:solidFill>
            <a:srgbClr val="E58027"/>
          </a:solidFill>
          <a:ln/>
        </p:spPr>
      </p:sp>
      <p:sp>
        <p:nvSpPr>
          <p:cNvPr id="5" name="Text 3"/>
          <p:cNvSpPr/>
          <p:nvPr/>
        </p:nvSpPr>
        <p:spPr>
          <a:xfrm>
            <a:off x="685800" y="1874520"/>
            <a:ext cx="3246120" cy="566928"/>
          </a:xfrm>
          <a:prstGeom prst="rect">
            <a:avLst/>
          </a:prstGeom>
          <a:noFill/>
          <a:ln/>
        </p:spPr>
        <p:txBody>
          <a:bodyPr wrap="square" lIns="0" tIns="0" rIns="0" bIns="0" rtlCol="0" anchor="ctr"/>
          <a:lstStyle/>
          <a:p>
            <a:pPr algn="l" indent="0" marL="0">
              <a:buNone/>
            </a:pPr>
            <a:r>
              <a:rPr lang="en-US" sz="1600" b="1" dirty="0">
                <a:solidFill>
                  <a:srgbClr val="FFFFFF"/>
                </a:solidFill>
                <a:latin typeface="Noto Sans CJK JP" pitchFamily="34" charset="0"/>
                <a:ea typeface="Noto Sans CJK JP" pitchFamily="34" charset="-122"/>
                <a:cs typeface="Noto Sans CJK JP" pitchFamily="34" charset="-120"/>
              </a:rPr>
              <a:t>3 台 (40.5kWh)</a:t>
            </a:r>
            <a:endParaRPr lang="en-US" sz="1600" dirty="0"/>
          </a:p>
        </p:txBody>
      </p:sp>
      <p:sp>
        <p:nvSpPr>
          <p:cNvPr id="6" name="Shape 4"/>
          <p:cNvSpPr/>
          <p:nvPr/>
        </p:nvSpPr>
        <p:spPr>
          <a:xfrm>
            <a:off x="457200" y="2441448"/>
            <a:ext cx="3611880" cy="2724912"/>
          </a:xfrm>
          <a:prstGeom prst="rect">
            <a:avLst/>
          </a:prstGeom>
          <a:solidFill>
            <a:srgbClr val="FFFFFF"/>
          </a:solidFill>
          <a:ln w="12700">
            <a:solidFill>
              <a:srgbClr val="E1E5EA"/>
            </a:solidFill>
            <a:prstDash val="solid"/>
          </a:ln>
        </p:spPr>
      </p:sp>
      <p:sp>
        <p:nvSpPr>
          <p:cNvPr id="7" name="Text 5"/>
          <p:cNvSpPr/>
          <p:nvPr/>
        </p:nvSpPr>
        <p:spPr>
          <a:xfrm>
            <a:off x="685800" y="2624328"/>
            <a:ext cx="3200400" cy="1920240"/>
          </a:xfrm>
          <a:prstGeom prst="rect">
            <a:avLst/>
          </a:prstGeom>
          <a:noFill/>
          <a:ln/>
        </p:spPr>
        <p:txBody>
          <a:bodyPr wrap="square" lIns="0" tIns="0" rIns="0" bIns="0" rtlCol="0" anchor="t"/>
          <a:lstStyle/>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投資 655 万 → 補助後 327 万</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実投資合計 1,022 万円</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自家消費 +11,108 kWh/ 年</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BCP 5kW 運転 → 8 時間</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塗装 + 脱着 別途 2,439 万円</a:t>
            </a:r>
            <a:endParaRPr lang="en-US" sz="1100" dirty="0"/>
          </a:p>
        </p:txBody>
      </p:sp>
      <p:sp>
        <p:nvSpPr>
          <p:cNvPr id="8" name="Shape 6"/>
          <p:cNvSpPr/>
          <p:nvPr/>
        </p:nvSpPr>
        <p:spPr>
          <a:xfrm>
            <a:off x="457200" y="4709160"/>
            <a:ext cx="3611880" cy="457200"/>
          </a:xfrm>
          <a:prstGeom prst="rect">
            <a:avLst/>
          </a:prstGeom>
          <a:solidFill>
            <a:srgbClr val="F4F6F8"/>
          </a:solidFill>
          <a:ln/>
        </p:spPr>
      </p:sp>
      <p:sp>
        <p:nvSpPr>
          <p:cNvPr id="9" name="Text 7"/>
          <p:cNvSpPr/>
          <p:nvPr/>
        </p:nvSpPr>
        <p:spPr>
          <a:xfrm>
            <a:off x="457200" y="4709160"/>
            <a:ext cx="3611880" cy="457200"/>
          </a:xfrm>
          <a:prstGeom prst="rect">
            <a:avLst/>
          </a:prstGeom>
          <a:noFill/>
          <a:ln/>
        </p:spPr>
        <p:txBody>
          <a:bodyPr wrap="square" lIns="0" tIns="0" rIns="0" bIns="0" rtlCol="0" anchor="ctr"/>
          <a:lstStyle/>
          <a:p>
            <a:pPr algn="ctr" indent="0" marL="0">
              <a:buNone/>
            </a:pPr>
            <a:r>
              <a:rPr lang="en-US" sz="1400" b="1" dirty="0">
                <a:solidFill>
                  <a:srgbClr val="E58027"/>
                </a:solidFill>
                <a:latin typeface="Noto Sans CJK JP" pitchFamily="34" charset="0"/>
                <a:ea typeface="Noto Sans CJK JP" pitchFamily="34" charset="-122"/>
                <a:cs typeface="Noto Sans CJK JP" pitchFamily="34" charset="-120"/>
              </a:rPr>
              <a:t>BCP 不足</a:t>
            </a:r>
            <a:endParaRPr lang="en-US" sz="1400" dirty="0"/>
          </a:p>
        </p:txBody>
      </p:sp>
      <p:sp>
        <p:nvSpPr>
          <p:cNvPr id="10" name="Shape 8"/>
          <p:cNvSpPr/>
          <p:nvPr/>
        </p:nvSpPr>
        <p:spPr>
          <a:xfrm>
            <a:off x="4315968" y="1874520"/>
            <a:ext cx="3611880" cy="566928"/>
          </a:xfrm>
          <a:prstGeom prst="rect">
            <a:avLst/>
          </a:prstGeom>
          <a:solidFill>
            <a:srgbClr val="B89A55"/>
          </a:solidFill>
          <a:ln/>
        </p:spPr>
      </p:sp>
      <p:sp>
        <p:nvSpPr>
          <p:cNvPr id="11" name="Text 9"/>
          <p:cNvSpPr/>
          <p:nvPr/>
        </p:nvSpPr>
        <p:spPr>
          <a:xfrm>
            <a:off x="4544568" y="1874520"/>
            <a:ext cx="3246120" cy="566928"/>
          </a:xfrm>
          <a:prstGeom prst="rect">
            <a:avLst/>
          </a:prstGeom>
          <a:noFill/>
          <a:ln/>
        </p:spPr>
        <p:txBody>
          <a:bodyPr wrap="square" lIns="0" tIns="0" rIns="0" bIns="0" rtlCol="0" anchor="ctr"/>
          <a:lstStyle/>
          <a:p>
            <a:pPr algn="l" indent="0" marL="0">
              <a:buNone/>
            </a:pPr>
            <a:r>
              <a:rPr lang="en-US" sz="1600" b="1" dirty="0">
                <a:solidFill>
                  <a:srgbClr val="FFFFFF"/>
                </a:solidFill>
                <a:latin typeface="Noto Sans CJK JP" pitchFamily="34" charset="0"/>
                <a:ea typeface="Noto Sans CJK JP" pitchFamily="34" charset="-122"/>
                <a:cs typeface="Noto Sans CJK JP" pitchFamily="34" charset="-120"/>
              </a:rPr>
              <a:t>4 台 (54.0kWh)</a:t>
            </a:r>
            <a:endParaRPr lang="en-US" sz="1600" dirty="0"/>
          </a:p>
        </p:txBody>
      </p:sp>
      <p:sp>
        <p:nvSpPr>
          <p:cNvPr id="12" name="Shape 10"/>
          <p:cNvSpPr/>
          <p:nvPr/>
        </p:nvSpPr>
        <p:spPr>
          <a:xfrm>
            <a:off x="4315968" y="2441448"/>
            <a:ext cx="3611880" cy="2724912"/>
          </a:xfrm>
          <a:prstGeom prst="rect">
            <a:avLst/>
          </a:prstGeom>
          <a:solidFill>
            <a:srgbClr val="FFFFFF"/>
          </a:solidFill>
          <a:ln w="12700">
            <a:solidFill>
              <a:srgbClr val="E1E5EA"/>
            </a:solidFill>
            <a:prstDash val="solid"/>
          </a:ln>
        </p:spPr>
      </p:sp>
      <p:sp>
        <p:nvSpPr>
          <p:cNvPr id="13" name="Text 11"/>
          <p:cNvSpPr/>
          <p:nvPr/>
        </p:nvSpPr>
        <p:spPr>
          <a:xfrm>
            <a:off x="4544568" y="2624328"/>
            <a:ext cx="3200400" cy="1920240"/>
          </a:xfrm>
          <a:prstGeom prst="rect">
            <a:avLst/>
          </a:prstGeom>
          <a:noFill/>
          <a:ln/>
        </p:spPr>
        <p:txBody>
          <a:bodyPr wrap="square" lIns="0" tIns="0" rIns="0" bIns="0" rtlCol="0" anchor="t"/>
          <a:lstStyle/>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投資 873 万 → 補助後 436 万</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実投資合計 1,153 万円</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自家消費 +12,871 kWh/ 年</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BCP 5kW 運転 11h/3kW 運転 18h</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塗装 + 脱着 別途 2,439 万円</a:t>
            </a:r>
            <a:endParaRPr lang="en-US" sz="1100" dirty="0"/>
          </a:p>
        </p:txBody>
      </p:sp>
      <p:sp>
        <p:nvSpPr>
          <p:cNvPr id="14" name="Shape 12"/>
          <p:cNvSpPr/>
          <p:nvPr/>
        </p:nvSpPr>
        <p:spPr>
          <a:xfrm>
            <a:off x="4315968" y="4709160"/>
            <a:ext cx="3611880" cy="457200"/>
          </a:xfrm>
          <a:prstGeom prst="rect">
            <a:avLst/>
          </a:prstGeom>
          <a:solidFill>
            <a:srgbClr val="F4F6F8"/>
          </a:solidFill>
          <a:ln/>
        </p:spPr>
      </p:sp>
      <p:sp>
        <p:nvSpPr>
          <p:cNvPr id="15" name="Text 13"/>
          <p:cNvSpPr/>
          <p:nvPr/>
        </p:nvSpPr>
        <p:spPr>
          <a:xfrm>
            <a:off x="4315968" y="4709160"/>
            <a:ext cx="3611880" cy="457200"/>
          </a:xfrm>
          <a:prstGeom prst="rect">
            <a:avLst/>
          </a:prstGeom>
          <a:noFill/>
          <a:ln/>
        </p:spPr>
        <p:txBody>
          <a:bodyPr wrap="square" lIns="0" tIns="0" rIns="0" bIns="0" rtlCol="0" anchor="ctr"/>
          <a:lstStyle/>
          <a:p>
            <a:pPr algn="ctr" indent="0" marL="0">
              <a:buNone/>
            </a:pPr>
            <a:r>
              <a:rPr lang="en-US" sz="1400" b="1" dirty="0">
                <a:solidFill>
                  <a:srgbClr val="B89A55"/>
                </a:solidFill>
                <a:latin typeface="Noto Sans CJK JP" pitchFamily="34" charset="0"/>
                <a:ea typeface="Noto Sans CJK JP" pitchFamily="34" charset="-122"/>
                <a:cs typeface="Noto Sans CJK JP" pitchFamily="34" charset="-120"/>
              </a:rPr>
              <a:t>推奨・最適</a:t>
            </a:r>
            <a:endParaRPr lang="en-US" sz="1400" dirty="0"/>
          </a:p>
        </p:txBody>
      </p:sp>
      <p:sp>
        <p:nvSpPr>
          <p:cNvPr id="16" name="Shape 14"/>
          <p:cNvSpPr/>
          <p:nvPr/>
        </p:nvSpPr>
        <p:spPr>
          <a:xfrm>
            <a:off x="8174736" y="1874520"/>
            <a:ext cx="3611880" cy="566928"/>
          </a:xfrm>
          <a:prstGeom prst="rect">
            <a:avLst/>
          </a:prstGeom>
          <a:solidFill>
            <a:srgbClr val="C0392B"/>
          </a:solidFill>
          <a:ln/>
        </p:spPr>
      </p:sp>
      <p:sp>
        <p:nvSpPr>
          <p:cNvPr id="17" name="Text 15"/>
          <p:cNvSpPr/>
          <p:nvPr/>
        </p:nvSpPr>
        <p:spPr>
          <a:xfrm>
            <a:off x="8403336" y="1874520"/>
            <a:ext cx="3246120" cy="566928"/>
          </a:xfrm>
          <a:prstGeom prst="rect">
            <a:avLst/>
          </a:prstGeom>
          <a:noFill/>
          <a:ln/>
        </p:spPr>
        <p:txBody>
          <a:bodyPr wrap="square" lIns="0" tIns="0" rIns="0" bIns="0" rtlCol="0" anchor="ctr"/>
          <a:lstStyle/>
          <a:p>
            <a:pPr algn="l" indent="0" marL="0">
              <a:buNone/>
            </a:pPr>
            <a:r>
              <a:rPr lang="en-US" sz="1600" b="1" dirty="0">
                <a:solidFill>
                  <a:srgbClr val="FFFFFF"/>
                </a:solidFill>
                <a:latin typeface="Noto Sans CJK JP" pitchFamily="34" charset="0"/>
                <a:ea typeface="Noto Sans CJK JP" pitchFamily="34" charset="-122"/>
                <a:cs typeface="Noto Sans CJK JP" pitchFamily="34" charset="-120"/>
              </a:rPr>
              <a:t>6 台 (81.0kWh)</a:t>
            </a:r>
            <a:endParaRPr lang="en-US" sz="1600" dirty="0"/>
          </a:p>
        </p:txBody>
      </p:sp>
      <p:sp>
        <p:nvSpPr>
          <p:cNvPr id="18" name="Shape 16"/>
          <p:cNvSpPr/>
          <p:nvPr/>
        </p:nvSpPr>
        <p:spPr>
          <a:xfrm>
            <a:off x="8174736" y="2441448"/>
            <a:ext cx="3611880" cy="2724912"/>
          </a:xfrm>
          <a:prstGeom prst="rect">
            <a:avLst/>
          </a:prstGeom>
          <a:solidFill>
            <a:srgbClr val="FFFFFF"/>
          </a:solidFill>
          <a:ln w="12700">
            <a:solidFill>
              <a:srgbClr val="E1E5EA"/>
            </a:solidFill>
            <a:prstDash val="solid"/>
          </a:ln>
        </p:spPr>
      </p:sp>
      <p:sp>
        <p:nvSpPr>
          <p:cNvPr id="19" name="Text 17"/>
          <p:cNvSpPr/>
          <p:nvPr/>
        </p:nvSpPr>
        <p:spPr>
          <a:xfrm>
            <a:off x="8403336" y="2624328"/>
            <a:ext cx="3200400" cy="1920240"/>
          </a:xfrm>
          <a:prstGeom prst="rect">
            <a:avLst/>
          </a:prstGeom>
          <a:noFill/>
          <a:ln/>
        </p:spPr>
        <p:txBody>
          <a:bodyPr wrap="square" lIns="0" tIns="0" rIns="0" bIns="0" rtlCol="0" anchor="t"/>
          <a:lstStyle/>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投資 1,310 万 → 補助後 655 万</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実投資合計 1,415 万円</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自家消費 +14,466 kWh/ 年</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BCP 5kW 運転 → 16 時間</a:t>
            </a:r>
            <a:endParaRPr lang="en-US" sz="1100" dirty="0"/>
          </a:p>
          <a:p>
            <a:pPr algn="l" marL="342900" indent="-342900">
              <a:spcAft>
                <a:spcPts val="1000"/>
              </a:spcAft>
              <a:buSzPct val="100000"/>
              <a:buChar char="●"/>
            </a:pPr>
            <a:r>
              <a:rPr lang="en-US" sz="1100" dirty="0">
                <a:solidFill>
                  <a:srgbClr val="1A2B40"/>
                </a:solidFill>
                <a:latin typeface="Noto Sans CJK JP" pitchFamily="34" charset="0"/>
                <a:ea typeface="Noto Sans CJK JP" pitchFamily="34" charset="-122"/>
                <a:cs typeface="Noto Sans CJK JP" pitchFamily="34" charset="-120"/>
              </a:rPr>
              <a:t>塗装 + 脱着 別途 2,439 万円</a:t>
            </a:r>
            <a:endParaRPr lang="en-US" sz="1100" dirty="0"/>
          </a:p>
        </p:txBody>
      </p:sp>
      <p:sp>
        <p:nvSpPr>
          <p:cNvPr id="20" name="Shape 18"/>
          <p:cNvSpPr/>
          <p:nvPr/>
        </p:nvSpPr>
        <p:spPr>
          <a:xfrm>
            <a:off x="8174736" y="4709160"/>
            <a:ext cx="3611880" cy="457200"/>
          </a:xfrm>
          <a:prstGeom prst="rect">
            <a:avLst/>
          </a:prstGeom>
          <a:solidFill>
            <a:srgbClr val="F4F6F8"/>
          </a:solidFill>
          <a:ln/>
        </p:spPr>
      </p:sp>
      <p:sp>
        <p:nvSpPr>
          <p:cNvPr id="21" name="Text 19"/>
          <p:cNvSpPr/>
          <p:nvPr/>
        </p:nvSpPr>
        <p:spPr>
          <a:xfrm>
            <a:off x="8174736" y="4709160"/>
            <a:ext cx="3611880" cy="457200"/>
          </a:xfrm>
          <a:prstGeom prst="rect">
            <a:avLst/>
          </a:prstGeom>
          <a:noFill/>
          <a:ln/>
        </p:spPr>
        <p:txBody>
          <a:bodyPr wrap="square" lIns="0" tIns="0" rIns="0" bIns="0" rtlCol="0" anchor="ctr"/>
          <a:lstStyle/>
          <a:p>
            <a:pPr algn="ctr" indent="0" marL="0">
              <a:buNone/>
            </a:pPr>
            <a:r>
              <a:rPr lang="en-US" sz="1400" b="1" dirty="0">
                <a:solidFill>
                  <a:srgbClr val="C0392B"/>
                </a:solidFill>
                <a:latin typeface="Noto Sans CJK JP" pitchFamily="34" charset="0"/>
                <a:ea typeface="Noto Sans CJK JP" pitchFamily="34" charset="-122"/>
                <a:cs typeface="Noto Sans CJK JP" pitchFamily="34" charset="-120"/>
              </a:rPr>
              <a:t>投資効率悪</a:t>
            </a:r>
            <a:endParaRPr lang="en-US" sz="1400" dirty="0"/>
          </a:p>
        </p:txBody>
      </p:sp>
      <p:sp>
        <p:nvSpPr>
          <p:cNvPr id="22" name="Shape 20"/>
          <p:cNvSpPr/>
          <p:nvPr/>
        </p:nvSpPr>
        <p:spPr>
          <a:xfrm>
            <a:off x="457200" y="5440680"/>
            <a:ext cx="11274552" cy="960120"/>
          </a:xfrm>
          <a:prstGeom prst="rect">
            <a:avLst/>
          </a:prstGeom>
          <a:solidFill>
            <a:srgbClr val="0F2747"/>
          </a:solidFill>
          <a:ln/>
        </p:spPr>
      </p:sp>
      <p:sp>
        <p:nvSpPr>
          <p:cNvPr id="23" name="Text 21"/>
          <p:cNvSpPr/>
          <p:nvPr/>
        </p:nvSpPr>
        <p:spPr>
          <a:xfrm>
            <a:off x="640080" y="5504688"/>
            <a:ext cx="10058400" cy="274320"/>
          </a:xfrm>
          <a:prstGeom prst="rect">
            <a:avLst/>
          </a:prstGeom>
          <a:noFill/>
          <a:ln/>
        </p:spPr>
        <p:txBody>
          <a:bodyPr wrap="square" lIns="0" tIns="0" rIns="0" bIns="0" rtlCol="0" anchor="ctr"/>
          <a:lstStyle/>
          <a:p>
            <a:pPr algn="l" indent="0" marL="0">
              <a:buNone/>
            </a:pPr>
            <a:r>
              <a:rPr lang="en-US" sz="1200" b="1" dirty="0">
                <a:solidFill>
                  <a:srgbClr val="C7A867"/>
                </a:solidFill>
                <a:latin typeface="Noto Sans CJK JP" pitchFamily="34" charset="0"/>
                <a:ea typeface="Noto Sans CJK JP" pitchFamily="34" charset="-122"/>
                <a:cs typeface="Noto Sans CJK JP" pitchFamily="34" charset="-120"/>
              </a:rPr>
              <a:t>なぜ 4 台が最適か</a:t>
            </a:r>
            <a:endParaRPr lang="en-US" sz="1200" dirty="0"/>
          </a:p>
        </p:txBody>
      </p:sp>
      <p:sp>
        <p:nvSpPr>
          <p:cNvPr id="24" name="Text 22"/>
          <p:cNvSpPr/>
          <p:nvPr/>
        </p:nvSpPr>
        <p:spPr>
          <a:xfrm>
            <a:off x="640080" y="5779008"/>
            <a:ext cx="10972800" cy="566928"/>
          </a:xfrm>
          <a:prstGeom prst="rect">
            <a:avLst/>
          </a:prstGeom>
          <a:noFill/>
          <a:ln/>
        </p:spPr>
        <p:txBody>
          <a:bodyPr wrap="square" lIns="0" tIns="0" rIns="0" bIns="0" rtlCol="0" anchor="ctr"/>
          <a:lstStyle/>
          <a:p>
            <a:pPr algn="l" indent="0" marL="0">
              <a:lnSpc>
                <a:spcPct val="120000"/>
              </a:lnSpc>
              <a:buNone/>
            </a:pPr>
            <a:r>
              <a:rPr lang="en-US" sz="1050" dirty="0">
                <a:solidFill>
                  <a:srgbClr val="FFFFFF"/>
                </a:solidFill>
                <a:latin typeface="Noto Sans CJK JP" pitchFamily="34" charset="0"/>
                <a:ea typeface="Noto Sans CJK JP" pitchFamily="34" charset="-122"/>
                <a:cs typeface="Noto Sans CJK JP" pitchFamily="34" charset="-120"/>
              </a:rPr>
              <a:t>店舗の冷凍庫・冷蔵設備を停電中に運転継続するには連続 11 時間が安全圏。 3 台の 8 時間では深夜から早朝の停電が一日続いた場合に商品損失リスク。</a:t>
            </a:r>
            <a:endParaRPr lang="en-US" sz="1050" dirty="0"/>
          </a:p>
          <a:p>
            <a:pPr algn="l" indent="0" marL="0">
              <a:lnSpc>
                <a:spcPct val="120000"/>
              </a:lnSpc>
              <a:buNone/>
            </a:pPr>
            <a:r>
              <a:rPr lang="en-US" sz="1050" dirty="0">
                <a:solidFill>
                  <a:srgbClr val="FFFFFF"/>
                </a:solidFill>
                <a:latin typeface="Noto Sans CJK JP" pitchFamily="34" charset="0"/>
                <a:ea typeface="Noto Sans CJK JP" pitchFamily="34" charset="-122"/>
                <a:cs typeface="Noto Sans CJK JP" pitchFamily="34" charset="-120"/>
              </a:rPr>
              <a:t>6 台は過剰投資で 4 台比 +262 万円多い投資 ( 投資効率悪化 ) 。 4 台が経済性と BCP 耐久性のバランス最適</a:t>
            </a:r>
            <a:endParaRPr lang="en-US" sz="1050" dirty="0"/>
          </a:p>
        </p:txBody>
      </p:sp>
      <p:sp>
        <p:nvSpPr>
          <p:cNvPr id="25" name="Text 23"/>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26" name="Text 24"/>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16 / 20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07</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リスクと注意事項</a:t>
            </a:r>
            <a:endParaRPr lang="en-US" sz="3000" dirty="0"/>
          </a:p>
        </p:txBody>
      </p:sp>
      <p:sp>
        <p:nvSpPr>
          <p:cNvPr id="4" name="Shape 2"/>
          <p:cNvSpPr/>
          <p:nvPr/>
        </p:nvSpPr>
        <p:spPr>
          <a:xfrm>
            <a:off x="457200" y="1554480"/>
            <a:ext cx="5486400" cy="2148840"/>
          </a:xfrm>
          <a:prstGeom prst="rect">
            <a:avLst/>
          </a:prstGeom>
          <a:solidFill>
            <a:srgbClr val="FFFFFF"/>
          </a:solidFill>
          <a:ln w="16510">
            <a:solidFill>
              <a:srgbClr val="C0392B"/>
            </a:solidFill>
            <a:prstDash val="solid"/>
          </a:ln>
        </p:spPr>
      </p:sp>
      <p:sp>
        <p:nvSpPr>
          <p:cNvPr id="5" name="Shape 3"/>
          <p:cNvSpPr/>
          <p:nvPr/>
        </p:nvSpPr>
        <p:spPr>
          <a:xfrm>
            <a:off x="731520" y="1810512"/>
            <a:ext cx="548640" cy="548640"/>
          </a:xfrm>
          <a:prstGeom prst="ellipse">
            <a:avLst/>
          </a:prstGeom>
          <a:solidFill>
            <a:srgbClr val="C0392B"/>
          </a:solidFill>
          <a:ln/>
        </p:spPr>
      </p:sp>
      <p:sp>
        <p:nvSpPr>
          <p:cNvPr id="6" name="Text 4"/>
          <p:cNvSpPr/>
          <p:nvPr/>
        </p:nvSpPr>
        <p:spPr>
          <a:xfrm>
            <a:off x="731520" y="181051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CJK JP" pitchFamily="34" charset="0"/>
                <a:ea typeface="Noto Sans CJK JP" pitchFamily="34" charset="-122"/>
                <a:cs typeface="Noto Sans CJK JP" pitchFamily="34" charset="-120"/>
              </a:rPr>
              <a:t>!</a:t>
            </a:r>
            <a:endParaRPr lang="en-US" sz="2000" dirty="0"/>
          </a:p>
        </p:txBody>
      </p:sp>
      <p:sp>
        <p:nvSpPr>
          <p:cNvPr id="7" name="Text 5"/>
          <p:cNvSpPr/>
          <p:nvPr/>
        </p:nvSpPr>
        <p:spPr>
          <a:xfrm>
            <a:off x="1463040" y="1828800"/>
            <a:ext cx="4297680" cy="502920"/>
          </a:xfrm>
          <a:prstGeom prst="rect">
            <a:avLst/>
          </a:prstGeom>
          <a:noFill/>
          <a:ln/>
        </p:spPr>
        <p:txBody>
          <a:bodyPr wrap="square" lIns="0" tIns="0" rIns="0" bIns="0" rtlCol="0" anchor="ctr"/>
          <a:lstStyle/>
          <a:p>
            <a:pPr algn="l" indent="0" marL="0">
              <a:buNone/>
            </a:pPr>
            <a:r>
              <a:rPr lang="en-US" sz="1500" b="1" dirty="0">
                <a:solidFill>
                  <a:srgbClr val="0F2747"/>
                </a:solidFill>
                <a:latin typeface="Noto Sans CJK JP" pitchFamily="34" charset="0"/>
                <a:ea typeface="Noto Sans CJK JP" pitchFamily="34" charset="-122"/>
                <a:cs typeface="Noto Sans CJK JP" pitchFamily="34" charset="-120"/>
              </a:rPr>
              <a:t>補助金枠の予算先着</a:t>
            </a:r>
            <a:endParaRPr lang="en-US" sz="1500" dirty="0"/>
          </a:p>
        </p:txBody>
      </p:sp>
      <p:sp>
        <p:nvSpPr>
          <p:cNvPr id="8" name="Text 6"/>
          <p:cNvSpPr/>
          <p:nvPr/>
        </p:nvSpPr>
        <p:spPr>
          <a:xfrm>
            <a:off x="731520" y="2468880"/>
            <a:ext cx="4937760" cy="566928"/>
          </a:xfrm>
          <a:prstGeom prst="rect">
            <a:avLst/>
          </a:prstGeom>
          <a:noFill/>
          <a:ln/>
        </p:spPr>
        <p:txBody>
          <a:bodyPr wrap="square" lIns="0" tIns="0" rIns="0" bIns="0" rtlCol="0" anchor="t"/>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千葉県補助金は予算到達次第終了。 R7 年度は 9 月末で予算枠到達。 R8 年度開始 (5 〜 6 月想定 ) 後の早期申請が必須</a:t>
            </a:r>
            <a:endParaRPr lang="en-US" sz="1000" dirty="0"/>
          </a:p>
        </p:txBody>
      </p:sp>
      <p:sp>
        <p:nvSpPr>
          <p:cNvPr id="9" name="Shape 7"/>
          <p:cNvSpPr/>
          <p:nvPr/>
        </p:nvSpPr>
        <p:spPr>
          <a:xfrm>
            <a:off x="731520" y="3035808"/>
            <a:ext cx="4937760" cy="548640"/>
          </a:xfrm>
          <a:prstGeom prst="rect">
            <a:avLst/>
          </a:prstGeom>
          <a:solidFill>
            <a:srgbClr val="F4F6F8"/>
          </a:solidFill>
          <a:ln w="12700">
            <a:solidFill>
              <a:srgbClr val="E1E5EA"/>
            </a:solidFill>
            <a:prstDash val="solid"/>
          </a:ln>
        </p:spPr>
      </p:sp>
      <p:sp>
        <p:nvSpPr>
          <p:cNvPr id="10" name="Text 8"/>
          <p:cNvSpPr/>
          <p:nvPr/>
        </p:nvSpPr>
        <p:spPr>
          <a:xfrm>
            <a:off x="841248" y="3072384"/>
            <a:ext cx="4754880" cy="201168"/>
          </a:xfrm>
          <a:prstGeom prst="rect">
            <a:avLst/>
          </a:prstGeom>
          <a:noFill/>
          <a:ln/>
        </p:spPr>
        <p:txBody>
          <a:bodyPr wrap="square" lIns="0" tIns="0" rIns="0" bIns="0" rtlCol="0" anchor="ctr"/>
          <a:lstStyle/>
          <a:p>
            <a:pPr algn="l" indent="0" marL="0">
              <a:buNone/>
            </a:pPr>
            <a:r>
              <a:rPr lang="en-US" sz="900" b="1" dirty="0">
                <a:solidFill>
                  <a:srgbClr val="E58027"/>
                </a:solidFill>
                <a:latin typeface="Noto Sans CJK JP" pitchFamily="34" charset="0"/>
                <a:ea typeface="Noto Sans CJK JP" pitchFamily="34" charset="-122"/>
                <a:cs typeface="Noto Sans CJK JP" pitchFamily="34" charset="-120"/>
              </a:rPr>
              <a:t>対策</a:t>
            </a:r>
            <a:endParaRPr lang="en-US" sz="900" dirty="0"/>
          </a:p>
        </p:txBody>
      </p:sp>
      <p:sp>
        <p:nvSpPr>
          <p:cNvPr id="11" name="Text 9"/>
          <p:cNvSpPr/>
          <p:nvPr/>
        </p:nvSpPr>
        <p:spPr>
          <a:xfrm>
            <a:off x="841248" y="3255264"/>
            <a:ext cx="4709160" cy="310896"/>
          </a:xfrm>
          <a:prstGeom prst="rect">
            <a:avLst/>
          </a:prstGeom>
          <a:noFill/>
          <a:ln/>
        </p:spPr>
        <p:txBody>
          <a:bodyPr wrap="square" lIns="0" tIns="0" rIns="0" bIns="0" rtlCol="0" anchor="t"/>
          <a:lstStyle/>
          <a:p>
            <a:pPr algn="l" indent="0" marL="0">
              <a:lnSpc>
                <a:spcPct val="110000"/>
              </a:lnSpc>
              <a:buNone/>
            </a:pPr>
            <a:r>
              <a:rPr lang="en-US" sz="880" dirty="0">
                <a:solidFill>
                  <a:srgbClr val="1A2B40"/>
                </a:solidFill>
                <a:latin typeface="Noto Sans CJK JP" pitchFamily="34" charset="0"/>
                <a:ea typeface="Noto Sans CJK JP" pitchFamily="34" charset="-122"/>
                <a:cs typeface="Noto Sans CJK JP" pitchFamily="34" charset="-120"/>
              </a:rPr>
              <a:t>事前に省エネ診断と CO₂ スマート宣言登録を完了させ、募集開始即日に申請</a:t>
            </a:r>
            <a:endParaRPr lang="en-US" sz="880" dirty="0"/>
          </a:p>
        </p:txBody>
      </p:sp>
      <p:sp>
        <p:nvSpPr>
          <p:cNvPr id="12" name="Shape 10"/>
          <p:cNvSpPr/>
          <p:nvPr/>
        </p:nvSpPr>
        <p:spPr>
          <a:xfrm>
            <a:off x="6245352" y="1554480"/>
            <a:ext cx="5486400" cy="2148840"/>
          </a:xfrm>
          <a:prstGeom prst="rect">
            <a:avLst/>
          </a:prstGeom>
          <a:solidFill>
            <a:srgbClr val="FFFFFF"/>
          </a:solidFill>
          <a:ln w="16510">
            <a:solidFill>
              <a:srgbClr val="E58027"/>
            </a:solidFill>
            <a:prstDash val="solid"/>
          </a:ln>
        </p:spPr>
      </p:sp>
      <p:sp>
        <p:nvSpPr>
          <p:cNvPr id="13" name="Shape 11"/>
          <p:cNvSpPr/>
          <p:nvPr/>
        </p:nvSpPr>
        <p:spPr>
          <a:xfrm>
            <a:off x="6519672" y="1810512"/>
            <a:ext cx="548640" cy="548640"/>
          </a:xfrm>
          <a:prstGeom prst="ellipse">
            <a:avLst/>
          </a:prstGeom>
          <a:solidFill>
            <a:srgbClr val="E58027"/>
          </a:solidFill>
          <a:ln/>
        </p:spPr>
      </p:sp>
      <p:sp>
        <p:nvSpPr>
          <p:cNvPr id="14" name="Text 12"/>
          <p:cNvSpPr/>
          <p:nvPr/>
        </p:nvSpPr>
        <p:spPr>
          <a:xfrm>
            <a:off x="6519672" y="181051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CJK JP" pitchFamily="34" charset="0"/>
                <a:ea typeface="Noto Sans CJK JP" pitchFamily="34" charset="-122"/>
                <a:cs typeface="Noto Sans CJK JP" pitchFamily="34" charset="-120"/>
              </a:rPr>
              <a:t>↓</a:t>
            </a:r>
            <a:endParaRPr lang="en-US" sz="2000" dirty="0"/>
          </a:p>
        </p:txBody>
      </p:sp>
      <p:sp>
        <p:nvSpPr>
          <p:cNvPr id="15" name="Text 13"/>
          <p:cNvSpPr/>
          <p:nvPr/>
        </p:nvSpPr>
        <p:spPr>
          <a:xfrm>
            <a:off x="7251192" y="1828800"/>
            <a:ext cx="4297680" cy="502920"/>
          </a:xfrm>
          <a:prstGeom prst="rect">
            <a:avLst/>
          </a:prstGeom>
          <a:noFill/>
          <a:ln/>
        </p:spPr>
        <p:txBody>
          <a:bodyPr wrap="square" lIns="0" tIns="0" rIns="0" bIns="0" rtlCol="0" anchor="ctr"/>
          <a:lstStyle/>
          <a:p>
            <a:pPr algn="l" indent="0" marL="0">
              <a:buNone/>
            </a:pPr>
            <a:r>
              <a:rPr lang="en-US" sz="1500" b="1" dirty="0">
                <a:solidFill>
                  <a:srgbClr val="0F2747"/>
                </a:solidFill>
                <a:latin typeface="Noto Sans CJK JP" pitchFamily="34" charset="0"/>
                <a:ea typeface="Noto Sans CJK JP" pitchFamily="34" charset="-122"/>
                <a:cs typeface="Noto Sans CJK JP" pitchFamily="34" charset="-120"/>
              </a:rPr>
              <a:t>卒 FIT 後の売電単価急減</a:t>
            </a:r>
            <a:endParaRPr lang="en-US" sz="1500" dirty="0"/>
          </a:p>
        </p:txBody>
      </p:sp>
      <p:sp>
        <p:nvSpPr>
          <p:cNvPr id="16" name="Text 14"/>
          <p:cNvSpPr/>
          <p:nvPr/>
        </p:nvSpPr>
        <p:spPr>
          <a:xfrm>
            <a:off x="6519672" y="2468880"/>
            <a:ext cx="4937760" cy="566928"/>
          </a:xfrm>
          <a:prstGeom prst="rect">
            <a:avLst/>
          </a:prstGeom>
          <a:noFill/>
          <a:ln/>
        </p:spPr>
        <p:txBody>
          <a:bodyPr wrap="square" lIns="0" tIns="0" rIns="0" bIns="0" rtlCol="0" anchor="t"/>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現状の全量売電は買取期間満了後、再生可能エネルギー市場価格 (8 〜 10 円 /kWh 程度 ) への移行が見込まれる</a:t>
            </a:r>
            <a:endParaRPr lang="en-US" sz="1000" dirty="0"/>
          </a:p>
        </p:txBody>
      </p:sp>
      <p:sp>
        <p:nvSpPr>
          <p:cNvPr id="17" name="Shape 15"/>
          <p:cNvSpPr/>
          <p:nvPr/>
        </p:nvSpPr>
        <p:spPr>
          <a:xfrm>
            <a:off x="6519672" y="3035808"/>
            <a:ext cx="4937760" cy="548640"/>
          </a:xfrm>
          <a:prstGeom prst="rect">
            <a:avLst/>
          </a:prstGeom>
          <a:solidFill>
            <a:srgbClr val="F4F6F8"/>
          </a:solidFill>
          <a:ln w="12700">
            <a:solidFill>
              <a:srgbClr val="E1E5EA"/>
            </a:solidFill>
            <a:prstDash val="solid"/>
          </a:ln>
        </p:spPr>
      </p:sp>
      <p:sp>
        <p:nvSpPr>
          <p:cNvPr id="18" name="Text 16"/>
          <p:cNvSpPr/>
          <p:nvPr/>
        </p:nvSpPr>
        <p:spPr>
          <a:xfrm>
            <a:off x="6629400" y="3072384"/>
            <a:ext cx="4754880" cy="201168"/>
          </a:xfrm>
          <a:prstGeom prst="rect">
            <a:avLst/>
          </a:prstGeom>
          <a:noFill/>
          <a:ln/>
        </p:spPr>
        <p:txBody>
          <a:bodyPr wrap="square" lIns="0" tIns="0" rIns="0" bIns="0" rtlCol="0" anchor="ctr"/>
          <a:lstStyle/>
          <a:p>
            <a:pPr algn="l" indent="0" marL="0">
              <a:buNone/>
            </a:pPr>
            <a:r>
              <a:rPr lang="en-US" sz="900" b="1" dirty="0">
                <a:solidFill>
                  <a:srgbClr val="E58027"/>
                </a:solidFill>
                <a:latin typeface="Noto Sans CJK JP" pitchFamily="34" charset="0"/>
                <a:ea typeface="Noto Sans CJK JP" pitchFamily="34" charset="-122"/>
                <a:cs typeface="Noto Sans CJK JP" pitchFamily="34" charset="-120"/>
              </a:rPr>
              <a:t>対策</a:t>
            </a:r>
            <a:endParaRPr lang="en-US" sz="900" dirty="0"/>
          </a:p>
        </p:txBody>
      </p:sp>
      <p:sp>
        <p:nvSpPr>
          <p:cNvPr id="19" name="Text 17"/>
          <p:cNvSpPr/>
          <p:nvPr/>
        </p:nvSpPr>
        <p:spPr>
          <a:xfrm>
            <a:off x="6629400" y="3255264"/>
            <a:ext cx="4709160" cy="310896"/>
          </a:xfrm>
          <a:prstGeom prst="rect">
            <a:avLst/>
          </a:prstGeom>
          <a:noFill/>
          <a:ln/>
        </p:spPr>
        <p:txBody>
          <a:bodyPr wrap="square" lIns="0" tIns="0" rIns="0" bIns="0" rtlCol="0" anchor="t"/>
          <a:lstStyle/>
          <a:p>
            <a:pPr algn="l" indent="0" marL="0">
              <a:lnSpc>
                <a:spcPct val="110000"/>
              </a:lnSpc>
              <a:buNone/>
            </a:pPr>
            <a:r>
              <a:rPr lang="en-US" sz="880" dirty="0">
                <a:solidFill>
                  <a:srgbClr val="1A2B40"/>
                </a:solidFill>
                <a:latin typeface="Noto Sans CJK JP" pitchFamily="34" charset="0"/>
                <a:ea typeface="Noto Sans CJK JP" pitchFamily="34" charset="-122"/>
                <a:cs typeface="Noto Sans CJK JP" pitchFamily="34" charset="-120"/>
              </a:rPr>
              <a:t>本提案は買取期間内であっても自家消費へ切替が経済合理的。卒 FIT 前の意思決定が望ましい</a:t>
            </a:r>
            <a:endParaRPr lang="en-US" sz="880" dirty="0"/>
          </a:p>
        </p:txBody>
      </p:sp>
      <p:sp>
        <p:nvSpPr>
          <p:cNvPr id="20" name="Shape 18"/>
          <p:cNvSpPr/>
          <p:nvPr/>
        </p:nvSpPr>
        <p:spPr>
          <a:xfrm>
            <a:off x="457200" y="3959352"/>
            <a:ext cx="5486400" cy="2148840"/>
          </a:xfrm>
          <a:prstGeom prst="rect">
            <a:avLst/>
          </a:prstGeom>
          <a:solidFill>
            <a:srgbClr val="FFFFFF"/>
          </a:solidFill>
          <a:ln w="16510">
            <a:solidFill>
              <a:srgbClr val="4A90D9"/>
            </a:solidFill>
            <a:prstDash val="solid"/>
          </a:ln>
        </p:spPr>
      </p:sp>
      <p:sp>
        <p:nvSpPr>
          <p:cNvPr id="21" name="Shape 19"/>
          <p:cNvSpPr/>
          <p:nvPr/>
        </p:nvSpPr>
        <p:spPr>
          <a:xfrm>
            <a:off x="731520" y="4215384"/>
            <a:ext cx="548640" cy="548640"/>
          </a:xfrm>
          <a:prstGeom prst="ellipse">
            <a:avLst/>
          </a:prstGeom>
          <a:solidFill>
            <a:srgbClr val="4A90D9"/>
          </a:solidFill>
          <a:ln/>
        </p:spPr>
      </p:sp>
      <p:sp>
        <p:nvSpPr>
          <p:cNvPr id="22" name="Text 20"/>
          <p:cNvSpPr/>
          <p:nvPr/>
        </p:nvSpPr>
        <p:spPr>
          <a:xfrm>
            <a:off x="731520" y="421538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CJK JP" pitchFamily="34" charset="0"/>
                <a:ea typeface="Noto Sans CJK JP" pitchFamily="34" charset="-122"/>
                <a:cs typeface="Noto Sans CJK JP" pitchFamily="34" charset="-120"/>
              </a:rPr>
              <a:t>↺</a:t>
            </a:r>
            <a:endParaRPr lang="en-US" sz="2000" dirty="0"/>
          </a:p>
        </p:txBody>
      </p:sp>
      <p:sp>
        <p:nvSpPr>
          <p:cNvPr id="23" name="Text 21"/>
          <p:cNvSpPr/>
          <p:nvPr/>
        </p:nvSpPr>
        <p:spPr>
          <a:xfrm>
            <a:off x="1463040" y="4233672"/>
            <a:ext cx="4297680" cy="502920"/>
          </a:xfrm>
          <a:prstGeom prst="rect">
            <a:avLst/>
          </a:prstGeom>
          <a:noFill/>
          <a:ln/>
        </p:spPr>
        <p:txBody>
          <a:bodyPr wrap="square" lIns="0" tIns="0" rIns="0" bIns="0" rtlCol="0" anchor="ctr"/>
          <a:lstStyle/>
          <a:p>
            <a:pPr algn="l" indent="0" marL="0">
              <a:buNone/>
            </a:pPr>
            <a:r>
              <a:rPr lang="en-US" sz="1500" b="1" dirty="0">
                <a:solidFill>
                  <a:srgbClr val="0F2747"/>
                </a:solidFill>
                <a:latin typeface="Noto Sans CJK JP" pitchFamily="34" charset="0"/>
                <a:ea typeface="Noto Sans CJK JP" pitchFamily="34" charset="-122"/>
                <a:cs typeface="Noto Sans CJK JP" pitchFamily="34" charset="-120"/>
              </a:rPr>
              <a:t>蓄電池の運用年数と PCS</a:t>
            </a:r>
            <a:endParaRPr lang="en-US" sz="1500" dirty="0"/>
          </a:p>
        </p:txBody>
      </p:sp>
      <p:sp>
        <p:nvSpPr>
          <p:cNvPr id="24" name="Text 22"/>
          <p:cNvSpPr/>
          <p:nvPr/>
        </p:nvSpPr>
        <p:spPr>
          <a:xfrm>
            <a:off x="731520" y="4873752"/>
            <a:ext cx="4937760" cy="566928"/>
          </a:xfrm>
          <a:prstGeom prst="rect">
            <a:avLst/>
          </a:prstGeom>
          <a:noFill/>
          <a:ln/>
        </p:spPr>
        <p:txBody>
          <a:bodyPr wrap="square" lIns="0" tIns="0" rIns="0" bIns="0" rtlCol="0" anchor="t"/>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Powerwall 3 は LFP で設計寿命 15-20 年。 10 年保証 (70% 容量 ) 。 PCS は内蔵のため別途交換不要</a:t>
            </a:r>
            <a:endParaRPr lang="en-US" sz="1000" dirty="0"/>
          </a:p>
        </p:txBody>
      </p:sp>
      <p:sp>
        <p:nvSpPr>
          <p:cNvPr id="25" name="Shape 23"/>
          <p:cNvSpPr/>
          <p:nvPr/>
        </p:nvSpPr>
        <p:spPr>
          <a:xfrm>
            <a:off x="731520" y="5440680"/>
            <a:ext cx="4937760" cy="548640"/>
          </a:xfrm>
          <a:prstGeom prst="rect">
            <a:avLst/>
          </a:prstGeom>
          <a:solidFill>
            <a:srgbClr val="F4F6F8"/>
          </a:solidFill>
          <a:ln w="12700">
            <a:solidFill>
              <a:srgbClr val="E1E5EA"/>
            </a:solidFill>
            <a:prstDash val="solid"/>
          </a:ln>
        </p:spPr>
      </p:sp>
      <p:sp>
        <p:nvSpPr>
          <p:cNvPr id="26" name="Text 24"/>
          <p:cNvSpPr/>
          <p:nvPr/>
        </p:nvSpPr>
        <p:spPr>
          <a:xfrm>
            <a:off x="841248" y="5477256"/>
            <a:ext cx="4754880" cy="201168"/>
          </a:xfrm>
          <a:prstGeom prst="rect">
            <a:avLst/>
          </a:prstGeom>
          <a:noFill/>
          <a:ln/>
        </p:spPr>
        <p:txBody>
          <a:bodyPr wrap="square" lIns="0" tIns="0" rIns="0" bIns="0" rtlCol="0" anchor="ctr"/>
          <a:lstStyle/>
          <a:p>
            <a:pPr algn="l" indent="0" marL="0">
              <a:buNone/>
            </a:pPr>
            <a:r>
              <a:rPr lang="en-US" sz="900" b="1" dirty="0">
                <a:solidFill>
                  <a:srgbClr val="E58027"/>
                </a:solidFill>
                <a:latin typeface="Noto Sans CJK JP" pitchFamily="34" charset="0"/>
                <a:ea typeface="Noto Sans CJK JP" pitchFamily="34" charset="-122"/>
                <a:cs typeface="Noto Sans CJK JP" pitchFamily="34" charset="-120"/>
              </a:rPr>
              <a:t>対策</a:t>
            </a:r>
            <a:endParaRPr lang="en-US" sz="900" dirty="0"/>
          </a:p>
        </p:txBody>
      </p:sp>
      <p:sp>
        <p:nvSpPr>
          <p:cNvPr id="27" name="Text 25"/>
          <p:cNvSpPr/>
          <p:nvPr/>
        </p:nvSpPr>
        <p:spPr>
          <a:xfrm>
            <a:off x="841248" y="5660136"/>
            <a:ext cx="4709160" cy="310896"/>
          </a:xfrm>
          <a:prstGeom prst="rect">
            <a:avLst/>
          </a:prstGeom>
          <a:noFill/>
          <a:ln/>
        </p:spPr>
        <p:txBody>
          <a:bodyPr wrap="square" lIns="0" tIns="0" rIns="0" bIns="0" rtlCol="0" anchor="t"/>
          <a:lstStyle/>
          <a:p>
            <a:pPr algn="l" indent="0" marL="0">
              <a:lnSpc>
                <a:spcPct val="110000"/>
              </a:lnSpc>
              <a:buNone/>
            </a:pPr>
            <a:r>
              <a:rPr lang="en-US" sz="880" dirty="0">
                <a:solidFill>
                  <a:srgbClr val="1A2B40"/>
                </a:solidFill>
                <a:latin typeface="Noto Sans CJK JP" pitchFamily="34" charset="0"/>
                <a:ea typeface="Noto Sans CJK JP" pitchFamily="34" charset="-122"/>
                <a:cs typeface="Noto Sans CJK JP" pitchFamily="34" charset="-120"/>
              </a:rPr>
              <a:t>本試算では蓄電池を 20 年運用前提。容量低下が進んだ場合は PV 自家消費のみに切替も可能</a:t>
            </a:r>
            <a:endParaRPr lang="en-US" sz="880" dirty="0"/>
          </a:p>
        </p:txBody>
      </p:sp>
      <p:sp>
        <p:nvSpPr>
          <p:cNvPr id="28" name="Shape 26"/>
          <p:cNvSpPr/>
          <p:nvPr/>
        </p:nvSpPr>
        <p:spPr>
          <a:xfrm>
            <a:off x="6245352" y="3959352"/>
            <a:ext cx="5486400" cy="2148840"/>
          </a:xfrm>
          <a:prstGeom prst="rect">
            <a:avLst/>
          </a:prstGeom>
          <a:solidFill>
            <a:srgbClr val="FFFFFF"/>
          </a:solidFill>
          <a:ln w="16510">
            <a:solidFill>
              <a:srgbClr val="1FA383"/>
            </a:solidFill>
            <a:prstDash val="solid"/>
          </a:ln>
        </p:spPr>
      </p:sp>
      <p:sp>
        <p:nvSpPr>
          <p:cNvPr id="29" name="Shape 27"/>
          <p:cNvSpPr/>
          <p:nvPr/>
        </p:nvSpPr>
        <p:spPr>
          <a:xfrm>
            <a:off x="6519672" y="4215384"/>
            <a:ext cx="548640" cy="548640"/>
          </a:xfrm>
          <a:prstGeom prst="ellipse">
            <a:avLst/>
          </a:prstGeom>
          <a:solidFill>
            <a:srgbClr val="1FA383"/>
          </a:solidFill>
          <a:ln/>
        </p:spPr>
      </p:sp>
      <p:sp>
        <p:nvSpPr>
          <p:cNvPr id="30" name="Text 28"/>
          <p:cNvSpPr/>
          <p:nvPr/>
        </p:nvSpPr>
        <p:spPr>
          <a:xfrm>
            <a:off x="6519672" y="421538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Noto Sans CJK JP" pitchFamily="34" charset="0"/>
                <a:ea typeface="Noto Sans CJK JP" pitchFamily="34" charset="-122"/>
                <a:cs typeface="Noto Sans CJK JP" pitchFamily="34" charset="-120"/>
              </a:rPr>
              <a:t>?</a:t>
            </a:r>
            <a:endParaRPr lang="en-US" sz="2000" dirty="0"/>
          </a:p>
        </p:txBody>
      </p:sp>
      <p:sp>
        <p:nvSpPr>
          <p:cNvPr id="31" name="Text 29"/>
          <p:cNvSpPr/>
          <p:nvPr/>
        </p:nvSpPr>
        <p:spPr>
          <a:xfrm>
            <a:off x="7251192" y="4233672"/>
            <a:ext cx="4297680" cy="502920"/>
          </a:xfrm>
          <a:prstGeom prst="rect">
            <a:avLst/>
          </a:prstGeom>
          <a:noFill/>
          <a:ln/>
        </p:spPr>
        <p:txBody>
          <a:bodyPr wrap="square" lIns="0" tIns="0" rIns="0" bIns="0" rtlCol="0" anchor="ctr"/>
          <a:lstStyle/>
          <a:p>
            <a:pPr algn="l" indent="0" marL="0">
              <a:buNone/>
            </a:pPr>
            <a:r>
              <a:rPr lang="en-US" sz="1500" b="1" dirty="0">
                <a:solidFill>
                  <a:srgbClr val="0F2747"/>
                </a:solidFill>
                <a:latin typeface="Noto Sans CJK JP" pitchFamily="34" charset="0"/>
                <a:ea typeface="Noto Sans CJK JP" pitchFamily="34" charset="-122"/>
                <a:cs typeface="Noto Sans CJK JP" pitchFamily="34" charset="-120"/>
              </a:rPr>
              <a:t>省エネ診断の所要時間</a:t>
            </a:r>
            <a:endParaRPr lang="en-US" sz="1500" dirty="0"/>
          </a:p>
        </p:txBody>
      </p:sp>
      <p:sp>
        <p:nvSpPr>
          <p:cNvPr id="32" name="Text 30"/>
          <p:cNvSpPr/>
          <p:nvPr/>
        </p:nvSpPr>
        <p:spPr>
          <a:xfrm>
            <a:off x="6519672" y="4873752"/>
            <a:ext cx="4937760" cy="566928"/>
          </a:xfrm>
          <a:prstGeom prst="rect">
            <a:avLst/>
          </a:prstGeom>
          <a:noFill/>
          <a:ln/>
        </p:spPr>
        <p:txBody>
          <a:bodyPr wrap="square" lIns="0" tIns="0" rIns="0" bIns="0" rtlCol="0" anchor="t"/>
          <a:lstStyle/>
          <a:p>
            <a:pPr algn="l" indent="0" marL="0">
              <a:lnSpc>
                <a:spcPct val="120000"/>
              </a:lnSpc>
              <a:buNone/>
            </a:pPr>
            <a:r>
              <a:rPr lang="en-US" sz="1000" dirty="0">
                <a:solidFill>
                  <a:srgbClr val="1A2B40"/>
                </a:solidFill>
                <a:latin typeface="Noto Sans CJK JP" pitchFamily="34" charset="0"/>
                <a:ea typeface="Noto Sans CJK JP" pitchFamily="34" charset="-122"/>
                <a:cs typeface="Noto Sans CJK JP" pitchFamily="34" charset="-120"/>
              </a:rPr>
              <a:t>補助率 1/2 ( 上限 1,000 万 ) の獲得には省エネ診断の受診が必須。申込から診断完了まで 1 〜 2 ヶ月を要する</a:t>
            </a:r>
            <a:endParaRPr lang="en-US" sz="1000" dirty="0"/>
          </a:p>
        </p:txBody>
      </p:sp>
      <p:sp>
        <p:nvSpPr>
          <p:cNvPr id="33" name="Shape 31"/>
          <p:cNvSpPr/>
          <p:nvPr/>
        </p:nvSpPr>
        <p:spPr>
          <a:xfrm>
            <a:off x="6519672" y="5440680"/>
            <a:ext cx="4937760" cy="548640"/>
          </a:xfrm>
          <a:prstGeom prst="rect">
            <a:avLst/>
          </a:prstGeom>
          <a:solidFill>
            <a:srgbClr val="F4F6F8"/>
          </a:solidFill>
          <a:ln w="12700">
            <a:solidFill>
              <a:srgbClr val="E1E5EA"/>
            </a:solidFill>
            <a:prstDash val="solid"/>
          </a:ln>
        </p:spPr>
      </p:sp>
      <p:sp>
        <p:nvSpPr>
          <p:cNvPr id="34" name="Text 32"/>
          <p:cNvSpPr/>
          <p:nvPr/>
        </p:nvSpPr>
        <p:spPr>
          <a:xfrm>
            <a:off x="6629400" y="5477256"/>
            <a:ext cx="4754880" cy="201168"/>
          </a:xfrm>
          <a:prstGeom prst="rect">
            <a:avLst/>
          </a:prstGeom>
          <a:noFill/>
          <a:ln/>
        </p:spPr>
        <p:txBody>
          <a:bodyPr wrap="square" lIns="0" tIns="0" rIns="0" bIns="0" rtlCol="0" anchor="ctr"/>
          <a:lstStyle/>
          <a:p>
            <a:pPr algn="l" indent="0" marL="0">
              <a:buNone/>
            </a:pPr>
            <a:r>
              <a:rPr lang="en-US" sz="900" b="1" dirty="0">
                <a:solidFill>
                  <a:srgbClr val="E58027"/>
                </a:solidFill>
                <a:latin typeface="Noto Sans CJK JP" pitchFamily="34" charset="0"/>
                <a:ea typeface="Noto Sans CJK JP" pitchFamily="34" charset="-122"/>
                <a:cs typeface="Noto Sans CJK JP" pitchFamily="34" charset="-120"/>
              </a:rPr>
              <a:t>対策</a:t>
            </a:r>
            <a:endParaRPr lang="en-US" sz="900" dirty="0"/>
          </a:p>
        </p:txBody>
      </p:sp>
      <p:sp>
        <p:nvSpPr>
          <p:cNvPr id="35" name="Text 33"/>
          <p:cNvSpPr/>
          <p:nvPr/>
        </p:nvSpPr>
        <p:spPr>
          <a:xfrm>
            <a:off x="6629400" y="5660136"/>
            <a:ext cx="4709160" cy="310896"/>
          </a:xfrm>
          <a:prstGeom prst="rect">
            <a:avLst/>
          </a:prstGeom>
          <a:noFill/>
          <a:ln/>
        </p:spPr>
        <p:txBody>
          <a:bodyPr wrap="square" lIns="0" tIns="0" rIns="0" bIns="0" rtlCol="0" anchor="t"/>
          <a:lstStyle/>
          <a:p>
            <a:pPr algn="l" indent="0" marL="0">
              <a:lnSpc>
                <a:spcPct val="110000"/>
              </a:lnSpc>
              <a:buNone/>
            </a:pPr>
            <a:r>
              <a:rPr lang="en-US" sz="880" dirty="0">
                <a:solidFill>
                  <a:srgbClr val="1A2B40"/>
                </a:solidFill>
                <a:latin typeface="Noto Sans CJK JP" pitchFamily="34" charset="0"/>
                <a:ea typeface="Noto Sans CJK JP" pitchFamily="34" charset="-122"/>
                <a:cs typeface="Noto Sans CJK JP" pitchFamily="34" charset="-120"/>
              </a:rPr>
              <a:t>R8 年度補助金募集 (5 〜 6 月想定 ) に間に合わせるには、今月中の登録・診断申込開始が必須。順序が遅れると補助率 1/4 ( 上限 500 万 ) に降格</a:t>
            </a:r>
            <a:endParaRPr lang="en-US" sz="880" dirty="0"/>
          </a:p>
        </p:txBody>
      </p:sp>
      <p:sp>
        <p:nvSpPr>
          <p:cNvPr id="36" name="Text 34"/>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37" name="Text 35"/>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17 / 20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10896"/>
            <a:ext cx="1097280" cy="320040"/>
          </a:xfrm>
          <a:prstGeom prst="rect">
            <a:avLst/>
          </a:prstGeom>
          <a:noFill/>
          <a:ln/>
        </p:spPr>
        <p:txBody>
          <a:bodyPr wrap="square" lIns="0" tIns="0" rIns="0" bIns="0" rtlCol="0" anchor="ctr"/>
          <a:lstStyle/>
          <a:p>
            <a:pPr algn="l" indent="0" marL="0">
              <a:buNone/>
            </a:pPr>
            <a:r>
              <a:rPr lang="en-US" sz="1300" b="1" dirty="0">
                <a:solidFill>
                  <a:srgbClr val="C7A867"/>
                </a:solidFill>
                <a:latin typeface="Noto Sans CJK JP" pitchFamily="34" charset="0"/>
                <a:ea typeface="Noto Sans CJK JP" pitchFamily="34" charset="-122"/>
                <a:cs typeface="Noto Sans CJK JP" pitchFamily="34" charset="-120"/>
              </a:rPr>
              <a:t>07</a:t>
            </a:r>
            <a:endParaRPr lang="en-US" sz="1300" dirty="0"/>
          </a:p>
        </p:txBody>
      </p:sp>
      <p:sp>
        <p:nvSpPr>
          <p:cNvPr id="3" name="Text 1"/>
          <p:cNvSpPr/>
          <p:nvPr/>
        </p:nvSpPr>
        <p:spPr>
          <a:xfrm>
            <a:off x="457200" y="64008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次のステップ ― Roadmap to Implementation</a:t>
            </a:r>
            <a:endParaRPr lang="en-US" sz="3000" dirty="0"/>
          </a:p>
        </p:txBody>
      </p:sp>
      <p:sp>
        <p:nvSpPr>
          <p:cNvPr id="4" name="Shape 2"/>
          <p:cNvSpPr/>
          <p:nvPr/>
        </p:nvSpPr>
        <p:spPr>
          <a:xfrm>
            <a:off x="457200" y="1554480"/>
            <a:ext cx="1005840" cy="786384"/>
          </a:xfrm>
          <a:prstGeom prst="rect">
            <a:avLst/>
          </a:prstGeom>
          <a:solidFill>
            <a:srgbClr val="1FA383"/>
          </a:solidFill>
          <a:ln/>
        </p:spPr>
      </p:sp>
      <p:sp>
        <p:nvSpPr>
          <p:cNvPr id="5" name="Text 3"/>
          <p:cNvSpPr/>
          <p:nvPr/>
        </p:nvSpPr>
        <p:spPr>
          <a:xfrm>
            <a:off x="457200" y="1554480"/>
            <a:ext cx="1005840"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Noto Sans CJK JP" pitchFamily="34" charset="0"/>
                <a:ea typeface="Noto Sans CJK JP" pitchFamily="34" charset="-122"/>
                <a:cs typeface="Noto Sans CJK JP" pitchFamily="34" charset="-120"/>
              </a:rPr>
              <a:t>01</a:t>
            </a:r>
            <a:endParaRPr lang="en-US" sz="2200" dirty="0"/>
          </a:p>
        </p:txBody>
      </p:sp>
      <p:sp>
        <p:nvSpPr>
          <p:cNvPr id="6" name="Shape 4"/>
          <p:cNvSpPr/>
          <p:nvPr/>
        </p:nvSpPr>
        <p:spPr>
          <a:xfrm>
            <a:off x="1463040" y="1554480"/>
            <a:ext cx="7315200" cy="786384"/>
          </a:xfrm>
          <a:prstGeom prst="rect">
            <a:avLst/>
          </a:prstGeom>
          <a:solidFill>
            <a:srgbClr val="F4F6F8"/>
          </a:solidFill>
          <a:ln w="12700">
            <a:solidFill>
              <a:srgbClr val="E1E5EA"/>
            </a:solidFill>
            <a:prstDash val="solid"/>
          </a:ln>
        </p:spPr>
      </p:sp>
      <p:sp>
        <p:nvSpPr>
          <p:cNvPr id="7" name="Text 5"/>
          <p:cNvSpPr/>
          <p:nvPr/>
        </p:nvSpPr>
        <p:spPr>
          <a:xfrm>
            <a:off x="1691640" y="1645920"/>
            <a:ext cx="6949440" cy="329184"/>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CO₂ スマート宣言事業所登録</a:t>
            </a:r>
            <a:endParaRPr lang="en-US" sz="1400" dirty="0"/>
          </a:p>
        </p:txBody>
      </p:sp>
      <p:sp>
        <p:nvSpPr>
          <p:cNvPr id="8" name="Text 6"/>
          <p:cNvSpPr/>
          <p:nvPr/>
        </p:nvSpPr>
        <p:spPr>
          <a:xfrm>
            <a:off x="1691640" y="1956816"/>
            <a:ext cx="6949440" cy="329184"/>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千葉県の脱炭素事業所登録制度。補助金申請の前提条件。 Web 申請で完結</a:t>
            </a:r>
            <a:endParaRPr lang="en-US" sz="1000" dirty="0"/>
          </a:p>
        </p:txBody>
      </p:sp>
      <p:sp>
        <p:nvSpPr>
          <p:cNvPr id="9" name="Shape 7"/>
          <p:cNvSpPr/>
          <p:nvPr/>
        </p:nvSpPr>
        <p:spPr>
          <a:xfrm>
            <a:off x="8961120" y="1554480"/>
            <a:ext cx="3200400" cy="786384"/>
          </a:xfrm>
          <a:prstGeom prst="rect">
            <a:avLst/>
          </a:prstGeom>
          <a:solidFill>
            <a:srgbClr val="FFFFFF"/>
          </a:solidFill>
          <a:ln w="16510">
            <a:solidFill>
              <a:srgbClr val="1FA383"/>
            </a:solidFill>
            <a:prstDash val="solid"/>
          </a:ln>
        </p:spPr>
      </p:sp>
      <p:sp>
        <p:nvSpPr>
          <p:cNvPr id="10" name="Text 8"/>
          <p:cNvSpPr/>
          <p:nvPr/>
        </p:nvSpPr>
        <p:spPr>
          <a:xfrm>
            <a:off x="9052560" y="1554480"/>
            <a:ext cx="3017520" cy="786384"/>
          </a:xfrm>
          <a:prstGeom prst="rect">
            <a:avLst/>
          </a:prstGeom>
          <a:noFill/>
          <a:ln/>
        </p:spPr>
        <p:txBody>
          <a:bodyPr wrap="square" lIns="0" tIns="0" rIns="0" bIns="0" rtlCol="0" anchor="ctr"/>
          <a:lstStyle/>
          <a:p>
            <a:pPr algn="l" indent="0" marL="0">
              <a:lnSpc>
                <a:spcPct val="110000"/>
              </a:lnSpc>
              <a:buNone/>
            </a:pPr>
            <a:r>
              <a:rPr lang="en-US" sz="1050" b="1" dirty="0">
                <a:solidFill>
                  <a:srgbClr val="1FA383"/>
                </a:solidFill>
                <a:latin typeface="Noto Sans CJK JP" pitchFamily="34" charset="0"/>
                <a:ea typeface="Noto Sans CJK JP" pitchFamily="34" charset="-122"/>
                <a:cs typeface="Noto Sans CJK JP" pitchFamily="34" charset="-120"/>
              </a:rPr>
              <a:t>今月中・無料・即日完了</a:t>
            </a:r>
            <a:endParaRPr lang="en-US" sz="1050" dirty="0"/>
          </a:p>
        </p:txBody>
      </p:sp>
      <p:sp>
        <p:nvSpPr>
          <p:cNvPr id="11" name="Shape 9"/>
          <p:cNvSpPr/>
          <p:nvPr/>
        </p:nvSpPr>
        <p:spPr>
          <a:xfrm>
            <a:off x="457200" y="2432304"/>
            <a:ext cx="1005840" cy="786384"/>
          </a:xfrm>
          <a:prstGeom prst="rect">
            <a:avLst/>
          </a:prstGeom>
          <a:solidFill>
            <a:srgbClr val="4A90D9"/>
          </a:solidFill>
          <a:ln/>
        </p:spPr>
      </p:sp>
      <p:sp>
        <p:nvSpPr>
          <p:cNvPr id="12" name="Text 10"/>
          <p:cNvSpPr/>
          <p:nvPr/>
        </p:nvSpPr>
        <p:spPr>
          <a:xfrm>
            <a:off x="457200" y="2432304"/>
            <a:ext cx="1005840"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Noto Sans CJK JP" pitchFamily="34" charset="0"/>
                <a:ea typeface="Noto Sans CJK JP" pitchFamily="34" charset="-122"/>
                <a:cs typeface="Noto Sans CJK JP" pitchFamily="34" charset="-120"/>
              </a:rPr>
              <a:t>02</a:t>
            </a:r>
            <a:endParaRPr lang="en-US" sz="2200" dirty="0"/>
          </a:p>
        </p:txBody>
      </p:sp>
      <p:sp>
        <p:nvSpPr>
          <p:cNvPr id="13" name="Shape 11"/>
          <p:cNvSpPr/>
          <p:nvPr/>
        </p:nvSpPr>
        <p:spPr>
          <a:xfrm>
            <a:off x="1463040" y="2432304"/>
            <a:ext cx="7315200" cy="786384"/>
          </a:xfrm>
          <a:prstGeom prst="rect">
            <a:avLst/>
          </a:prstGeom>
          <a:solidFill>
            <a:srgbClr val="F4F6F8"/>
          </a:solidFill>
          <a:ln w="12700">
            <a:solidFill>
              <a:srgbClr val="E1E5EA"/>
            </a:solidFill>
            <a:prstDash val="solid"/>
          </a:ln>
        </p:spPr>
      </p:sp>
      <p:sp>
        <p:nvSpPr>
          <p:cNvPr id="14" name="Text 12"/>
          <p:cNvSpPr/>
          <p:nvPr/>
        </p:nvSpPr>
        <p:spPr>
          <a:xfrm>
            <a:off x="1691640" y="2523744"/>
            <a:ext cx="6949440" cy="329184"/>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省エネ診断 申込</a:t>
            </a:r>
            <a:endParaRPr lang="en-US" sz="1400" dirty="0"/>
          </a:p>
        </p:txBody>
      </p:sp>
      <p:sp>
        <p:nvSpPr>
          <p:cNvPr id="15" name="Text 13"/>
          <p:cNvSpPr/>
          <p:nvPr/>
        </p:nvSpPr>
        <p:spPr>
          <a:xfrm>
            <a:off x="1691640" y="2834640"/>
            <a:ext cx="6949440" cy="329184"/>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 一財 ) 省エネルギーセンター等に申込。補助率 1/2 ( 上限 1,000 万 ) のため必須要件</a:t>
            </a:r>
            <a:endParaRPr lang="en-US" sz="1000" dirty="0"/>
          </a:p>
        </p:txBody>
      </p:sp>
      <p:sp>
        <p:nvSpPr>
          <p:cNvPr id="16" name="Shape 14"/>
          <p:cNvSpPr/>
          <p:nvPr/>
        </p:nvSpPr>
        <p:spPr>
          <a:xfrm>
            <a:off x="8961120" y="2432304"/>
            <a:ext cx="3200400" cy="786384"/>
          </a:xfrm>
          <a:prstGeom prst="rect">
            <a:avLst/>
          </a:prstGeom>
          <a:solidFill>
            <a:srgbClr val="FFFFFF"/>
          </a:solidFill>
          <a:ln w="16510">
            <a:solidFill>
              <a:srgbClr val="4A90D9"/>
            </a:solidFill>
            <a:prstDash val="solid"/>
          </a:ln>
        </p:spPr>
      </p:sp>
      <p:sp>
        <p:nvSpPr>
          <p:cNvPr id="17" name="Text 15"/>
          <p:cNvSpPr/>
          <p:nvPr/>
        </p:nvSpPr>
        <p:spPr>
          <a:xfrm>
            <a:off x="9052560" y="2432304"/>
            <a:ext cx="3017520" cy="786384"/>
          </a:xfrm>
          <a:prstGeom prst="rect">
            <a:avLst/>
          </a:prstGeom>
          <a:noFill/>
          <a:ln/>
        </p:spPr>
        <p:txBody>
          <a:bodyPr wrap="square" lIns="0" tIns="0" rIns="0" bIns="0" rtlCol="0" anchor="ctr"/>
          <a:lstStyle/>
          <a:p>
            <a:pPr algn="l" indent="0" marL="0">
              <a:lnSpc>
                <a:spcPct val="110000"/>
              </a:lnSpc>
              <a:buNone/>
            </a:pPr>
            <a:r>
              <a:rPr lang="en-US" sz="1050" b="1" dirty="0">
                <a:solidFill>
                  <a:srgbClr val="4A90D9"/>
                </a:solidFill>
                <a:latin typeface="Noto Sans CJK JP" pitchFamily="34" charset="0"/>
                <a:ea typeface="Noto Sans CJK JP" pitchFamily="34" charset="-122"/>
                <a:cs typeface="Noto Sans CJK JP" pitchFamily="34" charset="-120"/>
              </a:rPr>
              <a:t>今月〜来月・ 2 万円前後ご負担あり ( 中小企業 )</a:t>
            </a:r>
            <a:endParaRPr lang="en-US" sz="1050" dirty="0"/>
          </a:p>
        </p:txBody>
      </p:sp>
      <p:sp>
        <p:nvSpPr>
          <p:cNvPr id="18" name="Shape 16"/>
          <p:cNvSpPr/>
          <p:nvPr/>
        </p:nvSpPr>
        <p:spPr>
          <a:xfrm>
            <a:off x="457200" y="3310128"/>
            <a:ext cx="1005840" cy="786384"/>
          </a:xfrm>
          <a:prstGeom prst="rect">
            <a:avLst/>
          </a:prstGeom>
          <a:solidFill>
            <a:srgbClr val="B89A55"/>
          </a:solidFill>
          <a:ln/>
        </p:spPr>
      </p:sp>
      <p:sp>
        <p:nvSpPr>
          <p:cNvPr id="19" name="Text 17"/>
          <p:cNvSpPr/>
          <p:nvPr/>
        </p:nvSpPr>
        <p:spPr>
          <a:xfrm>
            <a:off x="457200" y="3310128"/>
            <a:ext cx="1005840"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Noto Sans CJK JP" pitchFamily="34" charset="0"/>
                <a:ea typeface="Noto Sans CJK JP" pitchFamily="34" charset="-122"/>
                <a:cs typeface="Noto Sans CJK JP" pitchFamily="34" charset="-120"/>
              </a:rPr>
              <a:t>03</a:t>
            </a:r>
            <a:endParaRPr lang="en-US" sz="2200" dirty="0"/>
          </a:p>
        </p:txBody>
      </p:sp>
      <p:sp>
        <p:nvSpPr>
          <p:cNvPr id="20" name="Shape 18"/>
          <p:cNvSpPr/>
          <p:nvPr/>
        </p:nvSpPr>
        <p:spPr>
          <a:xfrm>
            <a:off x="1463040" y="3310128"/>
            <a:ext cx="7315200" cy="786384"/>
          </a:xfrm>
          <a:prstGeom prst="rect">
            <a:avLst/>
          </a:prstGeom>
          <a:solidFill>
            <a:srgbClr val="F4F6F8"/>
          </a:solidFill>
          <a:ln w="12700">
            <a:solidFill>
              <a:srgbClr val="E1E5EA"/>
            </a:solidFill>
            <a:prstDash val="solid"/>
          </a:ln>
        </p:spPr>
      </p:sp>
      <p:sp>
        <p:nvSpPr>
          <p:cNvPr id="21" name="Text 19"/>
          <p:cNvSpPr/>
          <p:nvPr/>
        </p:nvSpPr>
        <p:spPr>
          <a:xfrm>
            <a:off x="1691640" y="3401568"/>
            <a:ext cx="6949440" cy="329184"/>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省エネ診断 受診</a:t>
            </a:r>
            <a:endParaRPr lang="en-US" sz="1400" dirty="0"/>
          </a:p>
        </p:txBody>
      </p:sp>
      <p:sp>
        <p:nvSpPr>
          <p:cNvPr id="22" name="Text 20"/>
          <p:cNvSpPr/>
          <p:nvPr/>
        </p:nvSpPr>
        <p:spPr>
          <a:xfrm>
            <a:off x="1691640" y="3712464"/>
            <a:ext cx="6949440" cy="329184"/>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電力使用状況の現地調査と改善提案を受診。診断報告書を補助金申請書類として活用</a:t>
            </a:r>
            <a:endParaRPr lang="en-US" sz="1000" dirty="0"/>
          </a:p>
        </p:txBody>
      </p:sp>
      <p:sp>
        <p:nvSpPr>
          <p:cNvPr id="23" name="Shape 21"/>
          <p:cNvSpPr/>
          <p:nvPr/>
        </p:nvSpPr>
        <p:spPr>
          <a:xfrm>
            <a:off x="8961120" y="3310128"/>
            <a:ext cx="3200400" cy="786384"/>
          </a:xfrm>
          <a:prstGeom prst="rect">
            <a:avLst/>
          </a:prstGeom>
          <a:solidFill>
            <a:srgbClr val="FFFFFF"/>
          </a:solidFill>
          <a:ln w="16510">
            <a:solidFill>
              <a:srgbClr val="B89A55"/>
            </a:solidFill>
            <a:prstDash val="solid"/>
          </a:ln>
        </p:spPr>
      </p:sp>
      <p:sp>
        <p:nvSpPr>
          <p:cNvPr id="24" name="Text 22"/>
          <p:cNvSpPr/>
          <p:nvPr/>
        </p:nvSpPr>
        <p:spPr>
          <a:xfrm>
            <a:off x="9052560" y="3310128"/>
            <a:ext cx="3017520" cy="786384"/>
          </a:xfrm>
          <a:prstGeom prst="rect">
            <a:avLst/>
          </a:prstGeom>
          <a:noFill/>
          <a:ln/>
        </p:spPr>
        <p:txBody>
          <a:bodyPr wrap="square" lIns="0" tIns="0" rIns="0" bIns="0" rtlCol="0" anchor="ctr"/>
          <a:lstStyle/>
          <a:p>
            <a:pPr algn="l" indent="0" marL="0">
              <a:lnSpc>
                <a:spcPct val="110000"/>
              </a:lnSpc>
              <a:buNone/>
            </a:pPr>
            <a:r>
              <a:rPr lang="en-US" sz="1050" b="1" dirty="0">
                <a:solidFill>
                  <a:srgbClr val="B89A55"/>
                </a:solidFill>
                <a:latin typeface="Noto Sans CJK JP" pitchFamily="34" charset="0"/>
                <a:ea typeface="Noto Sans CJK JP" pitchFamily="34" charset="-122"/>
                <a:cs typeface="Noto Sans CJK JP" pitchFamily="34" charset="-120"/>
              </a:rPr>
              <a:t>1 〜 2 ヶ月・現地調査含む</a:t>
            </a:r>
            <a:endParaRPr lang="en-US" sz="1050" dirty="0"/>
          </a:p>
        </p:txBody>
      </p:sp>
      <p:sp>
        <p:nvSpPr>
          <p:cNvPr id="25" name="Shape 23"/>
          <p:cNvSpPr/>
          <p:nvPr/>
        </p:nvSpPr>
        <p:spPr>
          <a:xfrm>
            <a:off x="457200" y="4187952"/>
            <a:ext cx="1005840" cy="786384"/>
          </a:xfrm>
          <a:prstGeom prst="rect">
            <a:avLst/>
          </a:prstGeom>
          <a:solidFill>
            <a:srgbClr val="E58027"/>
          </a:solidFill>
          <a:ln/>
        </p:spPr>
      </p:sp>
      <p:sp>
        <p:nvSpPr>
          <p:cNvPr id="26" name="Text 24"/>
          <p:cNvSpPr/>
          <p:nvPr/>
        </p:nvSpPr>
        <p:spPr>
          <a:xfrm>
            <a:off x="457200" y="4187952"/>
            <a:ext cx="1005840"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Noto Sans CJK JP" pitchFamily="34" charset="0"/>
                <a:ea typeface="Noto Sans CJK JP" pitchFamily="34" charset="-122"/>
                <a:cs typeface="Noto Sans CJK JP" pitchFamily="34" charset="-120"/>
              </a:rPr>
              <a:t>04</a:t>
            </a:r>
            <a:endParaRPr lang="en-US" sz="2200" dirty="0"/>
          </a:p>
        </p:txBody>
      </p:sp>
      <p:sp>
        <p:nvSpPr>
          <p:cNvPr id="27" name="Shape 25"/>
          <p:cNvSpPr/>
          <p:nvPr/>
        </p:nvSpPr>
        <p:spPr>
          <a:xfrm>
            <a:off x="1463040" y="4187952"/>
            <a:ext cx="7315200" cy="786384"/>
          </a:xfrm>
          <a:prstGeom prst="rect">
            <a:avLst/>
          </a:prstGeom>
          <a:solidFill>
            <a:srgbClr val="F4F6F8"/>
          </a:solidFill>
          <a:ln w="12700">
            <a:solidFill>
              <a:srgbClr val="E1E5EA"/>
            </a:solidFill>
            <a:prstDash val="solid"/>
          </a:ln>
        </p:spPr>
      </p:sp>
      <p:sp>
        <p:nvSpPr>
          <p:cNvPr id="28" name="Text 26"/>
          <p:cNvSpPr/>
          <p:nvPr/>
        </p:nvSpPr>
        <p:spPr>
          <a:xfrm>
            <a:off x="1691640" y="4279392"/>
            <a:ext cx="6949440" cy="329184"/>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補助金申請</a:t>
            </a:r>
            <a:endParaRPr lang="en-US" sz="1400" dirty="0"/>
          </a:p>
        </p:txBody>
      </p:sp>
      <p:sp>
        <p:nvSpPr>
          <p:cNvPr id="29" name="Text 27"/>
          <p:cNvSpPr/>
          <p:nvPr/>
        </p:nvSpPr>
        <p:spPr>
          <a:xfrm>
            <a:off x="1691640" y="4590288"/>
            <a:ext cx="6949440" cy="329184"/>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千葉県業務用設備等脱炭素化促進事業補助金 申請。交付決定前は着工不可</a:t>
            </a:r>
            <a:endParaRPr lang="en-US" sz="1000" dirty="0"/>
          </a:p>
        </p:txBody>
      </p:sp>
      <p:sp>
        <p:nvSpPr>
          <p:cNvPr id="30" name="Shape 28"/>
          <p:cNvSpPr/>
          <p:nvPr/>
        </p:nvSpPr>
        <p:spPr>
          <a:xfrm>
            <a:off x="8961120" y="4187952"/>
            <a:ext cx="3200400" cy="786384"/>
          </a:xfrm>
          <a:prstGeom prst="rect">
            <a:avLst/>
          </a:prstGeom>
          <a:solidFill>
            <a:srgbClr val="FFFFFF"/>
          </a:solidFill>
          <a:ln w="16510">
            <a:solidFill>
              <a:srgbClr val="E58027"/>
            </a:solidFill>
            <a:prstDash val="solid"/>
          </a:ln>
        </p:spPr>
      </p:sp>
      <p:sp>
        <p:nvSpPr>
          <p:cNvPr id="31" name="Text 29"/>
          <p:cNvSpPr/>
          <p:nvPr/>
        </p:nvSpPr>
        <p:spPr>
          <a:xfrm>
            <a:off x="9052560" y="4187952"/>
            <a:ext cx="3017520" cy="786384"/>
          </a:xfrm>
          <a:prstGeom prst="rect">
            <a:avLst/>
          </a:prstGeom>
          <a:noFill/>
          <a:ln/>
        </p:spPr>
        <p:txBody>
          <a:bodyPr wrap="square" lIns="0" tIns="0" rIns="0" bIns="0" rtlCol="0" anchor="ctr"/>
          <a:lstStyle/>
          <a:p>
            <a:pPr algn="l" indent="0" marL="0">
              <a:lnSpc>
                <a:spcPct val="110000"/>
              </a:lnSpc>
              <a:buNone/>
            </a:pPr>
            <a:r>
              <a:rPr lang="en-US" sz="1050" b="1" dirty="0">
                <a:solidFill>
                  <a:srgbClr val="E58027"/>
                </a:solidFill>
                <a:latin typeface="Noto Sans CJK JP" pitchFamily="34" charset="0"/>
                <a:ea typeface="Noto Sans CJK JP" pitchFamily="34" charset="-122"/>
                <a:cs typeface="Noto Sans CJK JP" pitchFamily="34" charset="-120"/>
              </a:rPr>
              <a:t>R8 年度募集開始即日 (5 〜 6 月想定 )</a:t>
            </a:r>
            <a:endParaRPr lang="en-US" sz="1050" dirty="0"/>
          </a:p>
        </p:txBody>
      </p:sp>
      <p:sp>
        <p:nvSpPr>
          <p:cNvPr id="32" name="Shape 30"/>
          <p:cNvSpPr/>
          <p:nvPr/>
        </p:nvSpPr>
        <p:spPr>
          <a:xfrm>
            <a:off x="457200" y="5065776"/>
            <a:ext cx="1005840" cy="786384"/>
          </a:xfrm>
          <a:prstGeom prst="rect">
            <a:avLst/>
          </a:prstGeom>
          <a:solidFill>
            <a:srgbClr val="0F2747"/>
          </a:solidFill>
          <a:ln/>
        </p:spPr>
      </p:sp>
      <p:sp>
        <p:nvSpPr>
          <p:cNvPr id="33" name="Text 31"/>
          <p:cNvSpPr/>
          <p:nvPr/>
        </p:nvSpPr>
        <p:spPr>
          <a:xfrm>
            <a:off x="457200" y="5065776"/>
            <a:ext cx="1005840" cy="786384"/>
          </a:xfrm>
          <a:prstGeom prst="rect">
            <a:avLst/>
          </a:prstGeom>
          <a:noFill/>
          <a:ln/>
        </p:spPr>
        <p:txBody>
          <a:bodyPr wrap="square" lIns="0" tIns="0" rIns="0" bIns="0" rtlCol="0" anchor="ctr"/>
          <a:lstStyle/>
          <a:p>
            <a:pPr algn="ctr" indent="0" marL="0">
              <a:buNone/>
            </a:pPr>
            <a:r>
              <a:rPr lang="en-US" sz="2200" b="1" dirty="0">
                <a:solidFill>
                  <a:srgbClr val="FFFFFF"/>
                </a:solidFill>
                <a:latin typeface="Noto Sans CJK JP" pitchFamily="34" charset="0"/>
                <a:ea typeface="Noto Sans CJK JP" pitchFamily="34" charset="-122"/>
                <a:cs typeface="Noto Sans CJK JP" pitchFamily="34" charset="-120"/>
              </a:rPr>
              <a:t>05</a:t>
            </a:r>
            <a:endParaRPr lang="en-US" sz="2200" dirty="0"/>
          </a:p>
        </p:txBody>
      </p:sp>
      <p:sp>
        <p:nvSpPr>
          <p:cNvPr id="34" name="Shape 32"/>
          <p:cNvSpPr/>
          <p:nvPr/>
        </p:nvSpPr>
        <p:spPr>
          <a:xfrm>
            <a:off x="1463040" y="5065776"/>
            <a:ext cx="7315200" cy="786384"/>
          </a:xfrm>
          <a:prstGeom prst="rect">
            <a:avLst/>
          </a:prstGeom>
          <a:solidFill>
            <a:srgbClr val="F4F6F8"/>
          </a:solidFill>
          <a:ln w="12700">
            <a:solidFill>
              <a:srgbClr val="E1E5EA"/>
            </a:solidFill>
            <a:prstDash val="solid"/>
          </a:ln>
        </p:spPr>
      </p:sp>
      <p:sp>
        <p:nvSpPr>
          <p:cNvPr id="35" name="Text 33"/>
          <p:cNvSpPr/>
          <p:nvPr/>
        </p:nvSpPr>
        <p:spPr>
          <a:xfrm>
            <a:off x="1691640" y="5157216"/>
            <a:ext cx="6949440" cy="329184"/>
          </a:xfrm>
          <a:prstGeom prst="rect">
            <a:avLst/>
          </a:prstGeom>
          <a:noFill/>
          <a:ln/>
        </p:spPr>
        <p:txBody>
          <a:bodyPr wrap="square" lIns="0" tIns="0" rIns="0" bIns="0" rtlCol="0" anchor="ctr"/>
          <a:lstStyle/>
          <a:p>
            <a:pPr algn="l" indent="0" marL="0">
              <a:buNone/>
            </a:pPr>
            <a:r>
              <a:rPr lang="en-US" sz="1400" b="1" dirty="0">
                <a:solidFill>
                  <a:srgbClr val="0F2747"/>
                </a:solidFill>
                <a:latin typeface="Noto Sans CJK JP" pitchFamily="34" charset="0"/>
                <a:ea typeface="Noto Sans CJK JP" pitchFamily="34" charset="-122"/>
                <a:cs typeface="Noto Sans CJK JP" pitchFamily="34" charset="-120"/>
              </a:rPr>
              <a:t>工事・運用開始</a:t>
            </a:r>
            <a:endParaRPr lang="en-US" sz="1400" dirty="0"/>
          </a:p>
        </p:txBody>
      </p:sp>
      <p:sp>
        <p:nvSpPr>
          <p:cNvPr id="36" name="Text 34"/>
          <p:cNvSpPr/>
          <p:nvPr/>
        </p:nvSpPr>
        <p:spPr>
          <a:xfrm>
            <a:off x="1691640" y="5468112"/>
            <a:ext cx="6949440" cy="329184"/>
          </a:xfrm>
          <a:prstGeom prst="rect">
            <a:avLst/>
          </a:prstGeom>
          <a:noFill/>
          <a:ln/>
        </p:spPr>
        <p:txBody>
          <a:bodyPr wrap="square" lIns="0" tIns="0" rIns="0" bIns="0" rtlCol="0" anchor="ctr"/>
          <a:lstStyle/>
          <a:p>
            <a:pPr algn="l" indent="0" marL="0">
              <a:buNone/>
            </a:pPr>
            <a:r>
              <a:rPr lang="en-US" sz="1000" dirty="0">
                <a:solidFill>
                  <a:srgbClr val="1A2B40"/>
                </a:solidFill>
                <a:latin typeface="Noto Sans CJK JP" pitchFamily="34" charset="0"/>
                <a:ea typeface="Noto Sans CJK JP" pitchFamily="34" charset="-122"/>
                <a:cs typeface="Noto Sans CJK JP" pitchFamily="34" charset="-120"/>
              </a:rPr>
              <a:t>自家消費切替工事 / 蓄電池 4 台設置 / 系統連系 / 運用開始 (D プランは省エネ施工も並行 )</a:t>
            </a:r>
            <a:endParaRPr lang="en-US" sz="1000" dirty="0"/>
          </a:p>
        </p:txBody>
      </p:sp>
      <p:sp>
        <p:nvSpPr>
          <p:cNvPr id="37" name="Shape 35"/>
          <p:cNvSpPr/>
          <p:nvPr/>
        </p:nvSpPr>
        <p:spPr>
          <a:xfrm>
            <a:off x="8961120" y="5065776"/>
            <a:ext cx="3200400" cy="786384"/>
          </a:xfrm>
          <a:prstGeom prst="rect">
            <a:avLst/>
          </a:prstGeom>
          <a:solidFill>
            <a:srgbClr val="FFFFFF"/>
          </a:solidFill>
          <a:ln w="16510">
            <a:solidFill>
              <a:srgbClr val="0F2747"/>
            </a:solidFill>
            <a:prstDash val="solid"/>
          </a:ln>
        </p:spPr>
      </p:sp>
      <p:sp>
        <p:nvSpPr>
          <p:cNvPr id="38" name="Text 36"/>
          <p:cNvSpPr/>
          <p:nvPr/>
        </p:nvSpPr>
        <p:spPr>
          <a:xfrm>
            <a:off x="9052560" y="5065776"/>
            <a:ext cx="3017520" cy="786384"/>
          </a:xfrm>
          <a:prstGeom prst="rect">
            <a:avLst/>
          </a:prstGeom>
          <a:noFill/>
          <a:ln/>
        </p:spPr>
        <p:txBody>
          <a:bodyPr wrap="square" lIns="0" tIns="0" rIns="0" bIns="0" rtlCol="0" anchor="ctr"/>
          <a:lstStyle/>
          <a:p>
            <a:pPr algn="l" indent="0" marL="0">
              <a:lnSpc>
                <a:spcPct val="110000"/>
              </a:lnSpc>
              <a:buNone/>
            </a:pPr>
            <a:r>
              <a:rPr lang="en-US" sz="1050" b="1" dirty="0">
                <a:solidFill>
                  <a:srgbClr val="0F2747"/>
                </a:solidFill>
                <a:latin typeface="Noto Sans CJK JP" pitchFamily="34" charset="0"/>
                <a:ea typeface="Noto Sans CJK JP" pitchFamily="34" charset="-122"/>
                <a:cs typeface="Noto Sans CJK JP" pitchFamily="34" charset="-120"/>
              </a:rPr>
              <a:t>交付決定後 3 〜 4 ヶ月</a:t>
            </a:r>
            <a:endParaRPr lang="en-US" sz="1050" dirty="0"/>
          </a:p>
        </p:txBody>
      </p:sp>
      <p:sp>
        <p:nvSpPr>
          <p:cNvPr id="39" name="Shape 37"/>
          <p:cNvSpPr/>
          <p:nvPr/>
        </p:nvSpPr>
        <p:spPr>
          <a:xfrm>
            <a:off x="457200" y="5989320"/>
            <a:ext cx="11274552" cy="457200"/>
          </a:xfrm>
          <a:prstGeom prst="rect">
            <a:avLst/>
          </a:prstGeom>
          <a:solidFill>
            <a:srgbClr val="B89A55"/>
          </a:solidFill>
          <a:ln/>
        </p:spPr>
      </p:sp>
      <p:sp>
        <p:nvSpPr>
          <p:cNvPr id="40" name="Text 38"/>
          <p:cNvSpPr/>
          <p:nvPr/>
        </p:nvSpPr>
        <p:spPr>
          <a:xfrm>
            <a:off x="457200" y="5989320"/>
            <a:ext cx="11274552" cy="457200"/>
          </a:xfrm>
          <a:prstGeom prst="rect">
            <a:avLst/>
          </a:prstGeom>
          <a:noFill/>
          <a:ln/>
        </p:spPr>
        <p:txBody>
          <a:bodyPr wrap="square" lIns="0" tIns="0" rIns="0" bIns="0" rtlCol="0" anchor="ctr"/>
          <a:lstStyle/>
          <a:p>
            <a:pPr algn="ctr" indent="0" marL="0">
              <a:buNone/>
            </a:pPr>
            <a:r>
              <a:rPr lang="en-US" sz="1150" b="1" dirty="0">
                <a:solidFill>
                  <a:srgbClr val="0F2747"/>
                </a:solidFill>
                <a:latin typeface="Noto Sans CJK JP" pitchFamily="34" charset="0"/>
                <a:ea typeface="Noto Sans CJK JP" pitchFamily="34" charset="-122"/>
                <a:cs typeface="Noto Sans CJK JP" pitchFamily="34" charset="-120"/>
              </a:rPr>
              <a:t>まずは「 CO₂ スマート登録」と「省エネ診断申込」から ― 補助金 1,000 万円 ( 上限 ) 獲得＋ 2,439 万円屋根メンテ削減＋外壁資産価値向上の起点</a:t>
            </a:r>
            <a:endParaRPr lang="en-US" sz="1150" dirty="0"/>
          </a:p>
        </p:txBody>
      </p:sp>
      <p:sp>
        <p:nvSpPr>
          <p:cNvPr id="41" name="Text 39"/>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42" name="Text 40"/>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18 / 20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502920"/>
            <a:ext cx="11247120" cy="777240"/>
          </a:xfrm>
          <a:prstGeom prst="rect">
            <a:avLst/>
          </a:prstGeom>
          <a:noFill/>
          <a:ln/>
        </p:spPr>
        <p:txBody>
          <a:bodyPr wrap="square" lIns="0" tIns="0" rIns="0" bIns="0" rtlCol="0" anchor="ctr"/>
          <a:lstStyle/>
          <a:p>
            <a:pPr algn="l" indent="0" marL="0">
              <a:buNone/>
            </a:pPr>
            <a:r>
              <a:rPr lang="en-US" sz="3000" b="1" dirty="0">
                <a:solidFill>
                  <a:srgbClr val="0F2747"/>
                </a:solidFill>
                <a:latin typeface="Noto Sans CJK JP" pitchFamily="34" charset="0"/>
                <a:ea typeface="Noto Sans CJK JP" pitchFamily="34" charset="-122"/>
                <a:cs typeface="Noto Sans CJK JP" pitchFamily="34" charset="-120"/>
              </a:rPr>
              <a:t>ご参考：脂肪族ポリウレア普及推進協議会 動画リンク集</a:t>
            </a:r>
            <a:endParaRPr lang="en-US" sz="3000" dirty="0"/>
          </a:p>
        </p:txBody>
      </p:sp>
      <p:sp>
        <p:nvSpPr>
          <p:cNvPr id="3" name="Shape 1"/>
          <p:cNvSpPr/>
          <p:nvPr/>
        </p:nvSpPr>
        <p:spPr>
          <a:xfrm>
            <a:off x="457200" y="1325880"/>
            <a:ext cx="11274552" cy="914400"/>
          </a:xfrm>
          <a:prstGeom prst="rect">
            <a:avLst/>
          </a:prstGeom>
          <a:solidFill>
            <a:srgbClr val="0F2747"/>
          </a:solidFill>
          <a:ln/>
        </p:spPr>
      </p:sp>
      <p:sp>
        <p:nvSpPr>
          <p:cNvPr id="4" name="Text 2"/>
          <p:cNvSpPr/>
          <p:nvPr/>
        </p:nvSpPr>
        <p:spPr>
          <a:xfrm>
            <a:off x="640080" y="1389888"/>
            <a:ext cx="10058400" cy="274320"/>
          </a:xfrm>
          <a:prstGeom prst="rect">
            <a:avLst/>
          </a:prstGeom>
          <a:noFill/>
          <a:ln/>
        </p:spPr>
        <p:txBody>
          <a:bodyPr wrap="square" lIns="0" tIns="0" rIns="0" bIns="0" rtlCol="0" anchor="ctr"/>
          <a:lstStyle/>
          <a:p>
            <a:pPr algn="l" indent="0" marL="0">
              <a:buNone/>
            </a:pPr>
            <a:r>
              <a:rPr lang="en-US" sz="1200" b="1" dirty="0">
                <a:solidFill>
                  <a:srgbClr val="C7A867"/>
                </a:solidFill>
                <a:latin typeface="Noto Sans CJK JP" pitchFamily="34" charset="0"/>
                <a:ea typeface="Noto Sans CJK JP" pitchFamily="34" charset="-122"/>
                <a:cs typeface="Noto Sans CJK JP" pitchFamily="34" charset="-120"/>
              </a:rPr>
              <a:t>脂肪族ポリウレアとは</a:t>
            </a:r>
            <a:endParaRPr lang="en-US" sz="1200" dirty="0"/>
          </a:p>
        </p:txBody>
      </p:sp>
      <p:sp>
        <p:nvSpPr>
          <p:cNvPr id="5" name="Text 3"/>
          <p:cNvSpPr/>
          <p:nvPr/>
        </p:nvSpPr>
        <p:spPr>
          <a:xfrm>
            <a:off x="640080" y="1664208"/>
            <a:ext cx="10972800" cy="530352"/>
          </a:xfrm>
          <a:prstGeom prst="rect">
            <a:avLst/>
          </a:prstGeom>
          <a:noFill/>
          <a:ln/>
        </p:spPr>
        <p:txBody>
          <a:bodyPr wrap="square" lIns="0" tIns="0" rIns="0" bIns="0" rtlCol="0" anchor="ctr"/>
          <a:lstStyle/>
          <a:p>
            <a:pPr algn="l" indent="0" marL="0">
              <a:lnSpc>
                <a:spcPct val="120000"/>
              </a:lnSpc>
              <a:buNone/>
            </a:pPr>
            <a:r>
              <a:rPr lang="en-US" sz="1050" dirty="0">
                <a:solidFill>
                  <a:srgbClr val="FFFFFF"/>
                </a:solidFill>
                <a:latin typeface="Noto Sans CJK JP" pitchFamily="34" charset="0"/>
                <a:ea typeface="Noto Sans CJK JP" pitchFamily="34" charset="-122"/>
                <a:cs typeface="Noto Sans CJK JP" pitchFamily="34" charset="-120"/>
              </a:rPr>
              <a:t>従来の塗料・防水材を超える耐久性・遮熱断熱性能を持つ次世代コーティング材。 D プラン②の核となる素材で、屋根・外壁の劣化を抜本的に抑え、建物寿命を 15 〜 20 年延伸します。協議会の公式動画で技術的根拠と施工事例をご確認ください。</a:t>
            </a:r>
            <a:endParaRPr lang="en-US" sz="1050" dirty="0"/>
          </a:p>
        </p:txBody>
      </p:sp>
      <p:sp>
        <p:nvSpPr>
          <p:cNvPr id="6" name="Shape 4"/>
          <p:cNvSpPr/>
          <p:nvPr/>
        </p:nvSpPr>
        <p:spPr>
          <a:xfrm>
            <a:off x="457200" y="2423160"/>
            <a:ext cx="5486400" cy="1783080"/>
          </a:xfrm>
          <a:prstGeom prst="rect">
            <a:avLst/>
          </a:prstGeom>
          <a:solidFill>
            <a:srgbClr val="FFFFFF"/>
          </a:solidFill>
          <a:ln w="16510">
            <a:solidFill>
              <a:srgbClr val="1FA383"/>
            </a:solidFill>
            <a:prstDash val="solid"/>
          </a:ln>
        </p:spPr>
      </p:sp>
      <p:sp>
        <p:nvSpPr>
          <p:cNvPr id="7" name="Shape 5"/>
          <p:cNvSpPr/>
          <p:nvPr/>
        </p:nvSpPr>
        <p:spPr>
          <a:xfrm>
            <a:off x="457200" y="2423160"/>
            <a:ext cx="73152" cy="1783080"/>
          </a:xfrm>
          <a:prstGeom prst="rect">
            <a:avLst/>
          </a:prstGeom>
          <a:solidFill>
            <a:srgbClr val="1FA383"/>
          </a:solidFill>
          <a:ln/>
        </p:spPr>
      </p:sp>
      <p:sp>
        <p:nvSpPr>
          <p:cNvPr id="8" name="Shape 6"/>
          <p:cNvSpPr/>
          <p:nvPr/>
        </p:nvSpPr>
        <p:spPr>
          <a:xfrm>
            <a:off x="777240" y="2926080"/>
            <a:ext cx="777240" cy="777240"/>
          </a:xfrm>
          <a:prstGeom prst="ellipse">
            <a:avLst/>
          </a:prstGeom>
          <a:solidFill>
            <a:srgbClr val="1FA383"/>
          </a:solidFill>
          <a:ln/>
        </p:spPr>
      </p:sp>
      <p:sp>
        <p:nvSpPr>
          <p:cNvPr id="9" name="Text 7"/>
          <p:cNvSpPr/>
          <p:nvPr/>
        </p:nvSpPr>
        <p:spPr>
          <a:xfrm>
            <a:off x="777240" y="29260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a:t>
            </a:r>
            <a:endParaRPr lang="en-US" sz="1800" dirty="0"/>
          </a:p>
        </p:txBody>
      </p:sp>
      <p:sp>
        <p:nvSpPr>
          <p:cNvPr id="10" name="Text 8"/>
          <p:cNvSpPr/>
          <p:nvPr/>
        </p:nvSpPr>
        <p:spPr>
          <a:xfrm>
            <a:off x="1737360" y="2624328"/>
            <a:ext cx="4023360" cy="548640"/>
          </a:xfrm>
          <a:prstGeom prst="rect">
            <a:avLst/>
          </a:prstGeom>
          <a:noFill/>
          <a:ln/>
        </p:spPr>
        <p:txBody>
          <a:bodyPr wrap="square" lIns="0" tIns="0" rIns="0" bIns="0" rtlCol="0" anchor="ctr"/>
          <a:lstStyle/>
          <a:p>
            <a:pPr algn="l" indent="0" marL="0">
              <a:lnSpc>
                <a:spcPct val="105000"/>
              </a:lnSpc>
              <a:buNone/>
            </a:pPr>
            <a:r>
              <a:rPr lang="en-US" sz="1300" b="1" dirty="0">
                <a:solidFill>
                  <a:srgbClr val="0F2747"/>
                </a:solidFill>
                <a:latin typeface="Noto Sans CJK JP" pitchFamily="34" charset="0"/>
                <a:ea typeface="Noto Sans CJK JP" pitchFamily="34" charset="-122"/>
                <a:cs typeface="Noto Sans CJK JP" pitchFamily="34" charset="-120"/>
              </a:rPr>
              <a:t>第 3 世代国産脂肪族ポリウレアとは？</a:t>
            </a:r>
            <a:endParaRPr lang="en-US" sz="1300" dirty="0"/>
          </a:p>
        </p:txBody>
      </p:sp>
      <p:sp>
        <p:nvSpPr>
          <p:cNvPr id="11" name="Text 9"/>
          <p:cNvSpPr/>
          <p:nvPr/>
        </p:nvSpPr>
        <p:spPr>
          <a:xfrm>
            <a:off x="1737360" y="3200400"/>
            <a:ext cx="4023360" cy="274320"/>
          </a:xfrm>
          <a:prstGeom prst="rect">
            <a:avLst/>
          </a:prstGeom>
          <a:noFill/>
          <a:ln/>
        </p:spPr>
        <p:txBody>
          <a:bodyPr wrap="square" lIns="0" tIns="0" rIns="0" bIns="0" rtlCol="0" anchor="ctr"/>
          <a:lstStyle/>
          <a:p>
            <a:pPr algn="l" indent="0" marL="0">
              <a:buNone/>
            </a:pPr>
            <a:r>
              <a:rPr lang="en-US" sz="1000" dirty="0">
                <a:solidFill>
                  <a:srgbClr val="6B7280"/>
                </a:solidFill>
                <a:latin typeface="Noto Sans CJK JP" pitchFamily="34" charset="0"/>
                <a:ea typeface="Noto Sans CJK JP" pitchFamily="34" charset="-122"/>
                <a:cs typeface="Noto Sans CJK JP" pitchFamily="34" charset="-120"/>
              </a:rPr>
              <a:t>協議会による技術概要 (5 分 57 秒 )</a:t>
            </a:r>
            <a:endParaRPr lang="en-US" sz="1000" dirty="0"/>
          </a:p>
        </p:txBody>
      </p:sp>
      <p:sp>
        <p:nvSpPr>
          <p:cNvPr id="12" name="Text 10">
            <a:hlinkClick r:id="rId1" tooltip=""/>
          </p:cNvPr>
          <p:cNvSpPr/>
          <p:nvPr/>
        </p:nvSpPr>
        <p:spPr>
          <a:xfrm>
            <a:off x="1737360" y="3566160"/>
            <a:ext cx="4023360" cy="274320"/>
          </a:xfrm>
          <a:prstGeom prst="rect">
            <a:avLst/>
          </a:prstGeom>
          <a:noFill/>
          <a:ln/>
        </p:spPr>
        <p:txBody>
          <a:bodyPr wrap="square" lIns="0" tIns="0" rIns="0" bIns="0" rtlCol="0" anchor="ctr"/>
          <a:lstStyle/>
          <a:p>
            <a:pPr algn="l" indent="0" marL="0">
              <a:buNone/>
            </a:pPr>
            <a:r>
              <a:rPr lang="en-US" sz="1050" b="1" u="sng" dirty="0">
                <a:solidFill>
                  <a:srgbClr val="1FA383"/>
                </a:solidFill>
                <a:latin typeface="Noto Sans CJK JP" pitchFamily="34" charset="0"/>
                <a:ea typeface="Noto Sans CJK JP" pitchFamily="34" charset="-122"/>
                <a:cs typeface="Noto Sans CJK JP"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https://youtu.be/EBqWMWrUGMs</a:t>
            </a:r>
            <a:endParaRPr lang="en-US" sz="1050" dirty="0"/>
          </a:p>
        </p:txBody>
      </p:sp>
      <p:sp>
        <p:nvSpPr>
          <p:cNvPr id="13" name="Shape 11"/>
          <p:cNvSpPr/>
          <p:nvPr/>
        </p:nvSpPr>
        <p:spPr>
          <a:xfrm>
            <a:off x="4663440" y="3822192"/>
            <a:ext cx="1280160" cy="384048"/>
          </a:xfrm>
          <a:prstGeom prst="rect">
            <a:avLst/>
          </a:prstGeom>
          <a:solidFill>
            <a:srgbClr val="1FA383"/>
          </a:solidFill>
          <a:ln/>
        </p:spPr>
      </p:sp>
      <p:sp>
        <p:nvSpPr>
          <p:cNvPr id="14" name="Text 12"/>
          <p:cNvSpPr/>
          <p:nvPr/>
        </p:nvSpPr>
        <p:spPr>
          <a:xfrm>
            <a:off x="4663440" y="3822192"/>
            <a:ext cx="128016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公式紹介</a:t>
            </a:r>
            <a:endParaRPr lang="en-US" sz="1000" dirty="0"/>
          </a:p>
        </p:txBody>
      </p:sp>
      <p:sp>
        <p:nvSpPr>
          <p:cNvPr id="15" name="Shape 13"/>
          <p:cNvSpPr/>
          <p:nvPr/>
        </p:nvSpPr>
        <p:spPr>
          <a:xfrm>
            <a:off x="6245352" y="2423160"/>
            <a:ext cx="5486400" cy="1783080"/>
          </a:xfrm>
          <a:prstGeom prst="rect">
            <a:avLst/>
          </a:prstGeom>
          <a:solidFill>
            <a:srgbClr val="FFFFFF"/>
          </a:solidFill>
          <a:ln w="16510">
            <a:solidFill>
              <a:srgbClr val="4A90D9"/>
            </a:solidFill>
            <a:prstDash val="solid"/>
          </a:ln>
        </p:spPr>
      </p:sp>
      <p:sp>
        <p:nvSpPr>
          <p:cNvPr id="16" name="Shape 14"/>
          <p:cNvSpPr/>
          <p:nvPr/>
        </p:nvSpPr>
        <p:spPr>
          <a:xfrm>
            <a:off x="6245352" y="2423160"/>
            <a:ext cx="73152" cy="1783080"/>
          </a:xfrm>
          <a:prstGeom prst="rect">
            <a:avLst/>
          </a:prstGeom>
          <a:solidFill>
            <a:srgbClr val="4A90D9"/>
          </a:solidFill>
          <a:ln/>
        </p:spPr>
      </p:sp>
      <p:sp>
        <p:nvSpPr>
          <p:cNvPr id="17" name="Shape 15"/>
          <p:cNvSpPr/>
          <p:nvPr/>
        </p:nvSpPr>
        <p:spPr>
          <a:xfrm>
            <a:off x="6565392" y="2926080"/>
            <a:ext cx="777240" cy="777240"/>
          </a:xfrm>
          <a:prstGeom prst="ellipse">
            <a:avLst/>
          </a:prstGeom>
          <a:solidFill>
            <a:srgbClr val="4A90D9"/>
          </a:solidFill>
          <a:ln/>
        </p:spPr>
      </p:sp>
      <p:sp>
        <p:nvSpPr>
          <p:cNvPr id="18" name="Text 16"/>
          <p:cNvSpPr/>
          <p:nvPr/>
        </p:nvSpPr>
        <p:spPr>
          <a:xfrm>
            <a:off x="6565392" y="292608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a:t>
            </a:r>
            <a:endParaRPr lang="en-US" sz="1800" dirty="0"/>
          </a:p>
        </p:txBody>
      </p:sp>
      <p:sp>
        <p:nvSpPr>
          <p:cNvPr id="19" name="Text 17"/>
          <p:cNvSpPr/>
          <p:nvPr/>
        </p:nvSpPr>
        <p:spPr>
          <a:xfrm>
            <a:off x="7525512" y="2624328"/>
            <a:ext cx="4023360" cy="548640"/>
          </a:xfrm>
          <a:prstGeom prst="rect">
            <a:avLst/>
          </a:prstGeom>
          <a:noFill/>
          <a:ln/>
        </p:spPr>
        <p:txBody>
          <a:bodyPr wrap="square" lIns="0" tIns="0" rIns="0" bIns="0" rtlCol="0" anchor="ctr"/>
          <a:lstStyle/>
          <a:p>
            <a:pPr algn="l" indent="0" marL="0">
              <a:lnSpc>
                <a:spcPct val="105000"/>
              </a:lnSpc>
              <a:buNone/>
            </a:pPr>
            <a:r>
              <a:rPr lang="en-US" sz="1300" b="1" dirty="0">
                <a:solidFill>
                  <a:srgbClr val="0F2747"/>
                </a:solidFill>
                <a:latin typeface="Noto Sans CJK JP" pitchFamily="34" charset="0"/>
                <a:ea typeface="Noto Sans CJK JP" pitchFamily="34" charset="-122"/>
                <a:cs typeface="Noto Sans CJK JP" pitchFamily="34" charset="-120"/>
              </a:rPr>
              <a:t>第 3 章：脂肪族ポリウレアの特徴と既存建物の問題解決</a:t>
            </a:r>
            <a:endParaRPr lang="en-US" sz="1300" dirty="0"/>
          </a:p>
        </p:txBody>
      </p:sp>
      <p:sp>
        <p:nvSpPr>
          <p:cNvPr id="20" name="Text 18"/>
          <p:cNvSpPr/>
          <p:nvPr/>
        </p:nvSpPr>
        <p:spPr>
          <a:xfrm>
            <a:off x="7525512" y="3200400"/>
            <a:ext cx="4023360" cy="274320"/>
          </a:xfrm>
          <a:prstGeom prst="rect">
            <a:avLst/>
          </a:prstGeom>
          <a:noFill/>
          <a:ln/>
        </p:spPr>
        <p:txBody>
          <a:bodyPr wrap="square" lIns="0" tIns="0" rIns="0" bIns="0" rtlCol="0" anchor="ctr"/>
          <a:lstStyle/>
          <a:p>
            <a:pPr algn="l" indent="0" marL="0">
              <a:buNone/>
            </a:pPr>
            <a:r>
              <a:rPr lang="en-US" sz="1000" dirty="0">
                <a:solidFill>
                  <a:srgbClr val="6B7280"/>
                </a:solidFill>
                <a:latin typeface="Noto Sans CJK JP" pitchFamily="34" charset="0"/>
                <a:ea typeface="Noto Sans CJK JP" pitchFamily="34" charset="-122"/>
                <a:cs typeface="Noto Sans CJK JP" pitchFamily="34" charset="-120"/>
              </a:rPr>
              <a:t>建物の劣化と修繕の本質的な解決策 (8 分 18 秒 )</a:t>
            </a:r>
            <a:endParaRPr lang="en-US" sz="1000" dirty="0"/>
          </a:p>
        </p:txBody>
      </p:sp>
      <p:sp>
        <p:nvSpPr>
          <p:cNvPr id="21" name="Text 19">
            <a:hlinkClick r:id="rId2" tooltip=""/>
          </p:cNvPr>
          <p:cNvSpPr/>
          <p:nvPr/>
        </p:nvSpPr>
        <p:spPr>
          <a:xfrm>
            <a:off x="7525512" y="3566160"/>
            <a:ext cx="4023360" cy="274320"/>
          </a:xfrm>
          <a:prstGeom prst="rect">
            <a:avLst/>
          </a:prstGeom>
          <a:noFill/>
          <a:ln/>
        </p:spPr>
        <p:txBody>
          <a:bodyPr wrap="square" lIns="0" tIns="0" rIns="0" bIns="0" rtlCol="0" anchor="ctr"/>
          <a:lstStyle/>
          <a:p>
            <a:pPr algn="l" indent="0" marL="0">
              <a:buNone/>
            </a:pPr>
            <a:r>
              <a:rPr lang="en-US" sz="1050" b="1" u="sng" dirty="0">
                <a:solidFill>
                  <a:srgbClr val="4A90D9"/>
                </a:solidFill>
                <a:latin typeface="Noto Sans CJK JP" pitchFamily="34" charset="0"/>
                <a:ea typeface="Noto Sans CJK JP" pitchFamily="34" charset="-122"/>
                <a:cs typeface="Noto Sans CJK JP"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https://youtu.be/adNSbemAS4w</a:t>
            </a:r>
            <a:endParaRPr lang="en-US" sz="1050" dirty="0"/>
          </a:p>
        </p:txBody>
      </p:sp>
      <p:sp>
        <p:nvSpPr>
          <p:cNvPr id="22" name="Shape 20"/>
          <p:cNvSpPr/>
          <p:nvPr/>
        </p:nvSpPr>
        <p:spPr>
          <a:xfrm>
            <a:off x="10451592" y="3822192"/>
            <a:ext cx="1280160" cy="384048"/>
          </a:xfrm>
          <a:prstGeom prst="rect">
            <a:avLst/>
          </a:prstGeom>
          <a:solidFill>
            <a:srgbClr val="4A90D9"/>
          </a:solidFill>
          <a:ln/>
        </p:spPr>
      </p:sp>
      <p:sp>
        <p:nvSpPr>
          <p:cNvPr id="23" name="Text 21"/>
          <p:cNvSpPr/>
          <p:nvPr/>
        </p:nvSpPr>
        <p:spPr>
          <a:xfrm>
            <a:off x="10451592" y="3822192"/>
            <a:ext cx="128016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建物課題編</a:t>
            </a:r>
            <a:endParaRPr lang="en-US" sz="1000" dirty="0"/>
          </a:p>
        </p:txBody>
      </p:sp>
      <p:sp>
        <p:nvSpPr>
          <p:cNvPr id="24" name="Shape 22"/>
          <p:cNvSpPr/>
          <p:nvPr/>
        </p:nvSpPr>
        <p:spPr>
          <a:xfrm>
            <a:off x="457200" y="4434840"/>
            <a:ext cx="5486400" cy="1783080"/>
          </a:xfrm>
          <a:prstGeom prst="rect">
            <a:avLst/>
          </a:prstGeom>
          <a:solidFill>
            <a:srgbClr val="FFFFFF"/>
          </a:solidFill>
          <a:ln w="16510">
            <a:solidFill>
              <a:srgbClr val="B89A55"/>
            </a:solidFill>
            <a:prstDash val="solid"/>
          </a:ln>
        </p:spPr>
      </p:sp>
      <p:sp>
        <p:nvSpPr>
          <p:cNvPr id="25" name="Shape 23"/>
          <p:cNvSpPr/>
          <p:nvPr/>
        </p:nvSpPr>
        <p:spPr>
          <a:xfrm>
            <a:off x="457200" y="4434840"/>
            <a:ext cx="73152" cy="1783080"/>
          </a:xfrm>
          <a:prstGeom prst="rect">
            <a:avLst/>
          </a:prstGeom>
          <a:solidFill>
            <a:srgbClr val="B89A55"/>
          </a:solidFill>
          <a:ln/>
        </p:spPr>
      </p:sp>
      <p:sp>
        <p:nvSpPr>
          <p:cNvPr id="26" name="Shape 24"/>
          <p:cNvSpPr/>
          <p:nvPr/>
        </p:nvSpPr>
        <p:spPr>
          <a:xfrm>
            <a:off x="777240" y="4937760"/>
            <a:ext cx="777240" cy="777240"/>
          </a:xfrm>
          <a:prstGeom prst="ellipse">
            <a:avLst/>
          </a:prstGeom>
          <a:solidFill>
            <a:srgbClr val="B89A55"/>
          </a:solidFill>
          <a:ln/>
        </p:spPr>
      </p:sp>
      <p:sp>
        <p:nvSpPr>
          <p:cNvPr id="27" name="Text 25"/>
          <p:cNvSpPr/>
          <p:nvPr/>
        </p:nvSpPr>
        <p:spPr>
          <a:xfrm>
            <a:off x="777240" y="493776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a:t>
            </a:r>
            <a:endParaRPr lang="en-US" sz="1800" dirty="0"/>
          </a:p>
        </p:txBody>
      </p:sp>
      <p:sp>
        <p:nvSpPr>
          <p:cNvPr id="28" name="Text 26"/>
          <p:cNvSpPr/>
          <p:nvPr/>
        </p:nvSpPr>
        <p:spPr>
          <a:xfrm>
            <a:off x="1737360" y="4636008"/>
            <a:ext cx="4023360" cy="548640"/>
          </a:xfrm>
          <a:prstGeom prst="rect">
            <a:avLst/>
          </a:prstGeom>
          <a:noFill/>
          <a:ln/>
        </p:spPr>
        <p:txBody>
          <a:bodyPr wrap="square" lIns="0" tIns="0" rIns="0" bIns="0" rtlCol="0" anchor="ctr"/>
          <a:lstStyle/>
          <a:p>
            <a:pPr algn="l" indent="0" marL="0">
              <a:lnSpc>
                <a:spcPct val="105000"/>
              </a:lnSpc>
              <a:buNone/>
            </a:pPr>
            <a:r>
              <a:rPr lang="en-US" sz="1300" b="1" dirty="0">
                <a:solidFill>
                  <a:srgbClr val="0F2747"/>
                </a:solidFill>
                <a:latin typeface="Noto Sans CJK JP" pitchFamily="34" charset="0"/>
                <a:ea typeface="Noto Sans CJK JP" pitchFamily="34" charset="-122"/>
                <a:cs typeface="Noto Sans CJK JP" pitchFamily="34" charset="-120"/>
              </a:rPr>
              <a:t>スケッチ製造、脂肪族ポリウレア商品紹介</a:t>
            </a:r>
            <a:endParaRPr lang="en-US" sz="1300" dirty="0"/>
          </a:p>
        </p:txBody>
      </p:sp>
      <p:sp>
        <p:nvSpPr>
          <p:cNvPr id="29" name="Text 27"/>
          <p:cNvSpPr/>
          <p:nvPr/>
        </p:nvSpPr>
        <p:spPr>
          <a:xfrm>
            <a:off x="1737360" y="5212080"/>
            <a:ext cx="4023360" cy="274320"/>
          </a:xfrm>
          <a:prstGeom prst="rect">
            <a:avLst/>
          </a:prstGeom>
          <a:noFill/>
          <a:ln/>
        </p:spPr>
        <p:txBody>
          <a:bodyPr wrap="square" lIns="0" tIns="0" rIns="0" bIns="0" rtlCol="0" anchor="ctr"/>
          <a:lstStyle/>
          <a:p>
            <a:pPr algn="l" indent="0" marL="0">
              <a:buNone/>
            </a:pPr>
            <a:r>
              <a:rPr lang="en-US" sz="1000" dirty="0">
                <a:solidFill>
                  <a:srgbClr val="6B7280"/>
                </a:solidFill>
                <a:latin typeface="Noto Sans CJK JP" pitchFamily="34" charset="0"/>
                <a:ea typeface="Noto Sans CJK JP" pitchFamily="34" charset="-122"/>
                <a:cs typeface="Noto Sans CJK JP" pitchFamily="34" charset="-120"/>
              </a:rPr>
              <a:t>本提案で使用する材料の解説 (3 分 19 秒 )</a:t>
            </a:r>
            <a:endParaRPr lang="en-US" sz="1000" dirty="0"/>
          </a:p>
        </p:txBody>
      </p:sp>
      <p:sp>
        <p:nvSpPr>
          <p:cNvPr id="30" name="Text 28">
            <a:hlinkClick r:id="rId3" tooltip=""/>
          </p:cNvPr>
          <p:cNvSpPr/>
          <p:nvPr/>
        </p:nvSpPr>
        <p:spPr>
          <a:xfrm>
            <a:off x="1737360" y="5577840"/>
            <a:ext cx="4023360" cy="274320"/>
          </a:xfrm>
          <a:prstGeom prst="rect">
            <a:avLst/>
          </a:prstGeom>
          <a:noFill/>
          <a:ln/>
        </p:spPr>
        <p:txBody>
          <a:bodyPr wrap="square" lIns="0" tIns="0" rIns="0" bIns="0" rtlCol="0" anchor="ctr"/>
          <a:lstStyle/>
          <a:p>
            <a:pPr algn="l" indent="0" marL="0">
              <a:buNone/>
            </a:pPr>
            <a:r>
              <a:rPr lang="en-US" sz="1050" b="1" u="sng" dirty="0">
                <a:solidFill>
                  <a:srgbClr val="B89A55"/>
                </a:solidFill>
                <a:latin typeface="Noto Sans CJK JP" pitchFamily="34" charset="0"/>
                <a:ea typeface="Noto Sans CJK JP" pitchFamily="34" charset="-122"/>
                <a:cs typeface="Noto Sans CJK JP"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https://youtu.be/fcB2JqLO7BU</a:t>
            </a:r>
            <a:endParaRPr lang="en-US" sz="1050" dirty="0"/>
          </a:p>
        </p:txBody>
      </p:sp>
      <p:sp>
        <p:nvSpPr>
          <p:cNvPr id="31" name="Shape 29"/>
          <p:cNvSpPr/>
          <p:nvPr/>
        </p:nvSpPr>
        <p:spPr>
          <a:xfrm>
            <a:off x="4663440" y="5833872"/>
            <a:ext cx="1280160" cy="384048"/>
          </a:xfrm>
          <a:prstGeom prst="rect">
            <a:avLst/>
          </a:prstGeom>
          <a:solidFill>
            <a:srgbClr val="B89A55"/>
          </a:solidFill>
          <a:ln/>
        </p:spPr>
      </p:sp>
      <p:sp>
        <p:nvSpPr>
          <p:cNvPr id="32" name="Text 30"/>
          <p:cNvSpPr/>
          <p:nvPr/>
        </p:nvSpPr>
        <p:spPr>
          <a:xfrm>
            <a:off x="4663440" y="5833872"/>
            <a:ext cx="128016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商品紹介</a:t>
            </a:r>
            <a:endParaRPr lang="en-US" sz="1000" dirty="0"/>
          </a:p>
        </p:txBody>
      </p:sp>
      <p:sp>
        <p:nvSpPr>
          <p:cNvPr id="33" name="Shape 31"/>
          <p:cNvSpPr/>
          <p:nvPr/>
        </p:nvSpPr>
        <p:spPr>
          <a:xfrm>
            <a:off x="6245352" y="4434840"/>
            <a:ext cx="5486400" cy="1783080"/>
          </a:xfrm>
          <a:prstGeom prst="rect">
            <a:avLst/>
          </a:prstGeom>
          <a:solidFill>
            <a:srgbClr val="FFFFFF"/>
          </a:solidFill>
          <a:ln w="16510">
            <a:solidFill>
              <a:srgbClr val="E58027"/>
            </a:solidFill>
            <a:prstDash val="solid"/>
          </a:ln>
        </p:spPr>
      </p:sp>
      <p:sp>
        <p:nvSpPr>
          <p:cNvPr id="34" name="Shape 32"/>
          <p:cNvSpPr/>
          <p:nvPr/>
        </p:nvSpPr>
        <p:spPr>
          <a:xfrm>
            <a:off x="6245352" y="4434840"/>
            <a:ext cx="73152" cy="1783080"/>
          </a:xfrm>
          <a:prstGeom prst="rect">
            <a:avLst/>
          </a:prstGeom>
          <a:solidFill>
            <a:srgbClr val="E58027"/>
          </a:solidFill>
          <a:ln/>
        </p:spPr>
      </p:sp>
      <p:sp>
        <p:nvSpPr>
          <p:cNvPr id="35" name="Shape 33"/>
          <p:cNvSpPr/>
          <p:nvPr/>
        </p:nvSpPr>
        <p:spPr>
          <a:xfrm>
            <a:off x="6565392" y="4937760"/>
            <a:ext cx="777240" cy="777240"/>
          </a:xfrm>
          <a:prstGeom prst="ellipse">
            <a:avLst/>
          </a:prstGeom>
          <a:solidFill>
            <a:srgbClr val="E58027"/>
          </a:solidFill>
          <a:ln/>
        </p:spPr>
      </p:sp>
      <p:sp>
        <p:nvSpPr>
          <p:cNvPr id="36" name="Text 34"/>
          <p:cNvSpPr/>
          <p:nvPr/>
        </p:nvSpPr>
        <p:spPr>
          <a:xfrm>
            <a:off x="6565392" y="4937760"/>
            <a:ext cx="77724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ans CJK JP" pitchFamily="34" charset="0"/>
                <a:ea typeface="Noto Sans CJK JP" pitchFamily="34" charset="-122"/>
                <a:cs typeface="Noto Sans CJK JP" pitchFamily="34" charset="-120"/>
              </a:rPr>
              <a:t>▶</a:t>
            </a:r>
            <a:endParaRPr lang="en-US" sz="1800" dirty="0"/>
          </a:p>
        </p:txBody>
      </p:sp>
      <p:sp>
        <p:nvSpPr>
          <p:cNvPr id="37" name="Text 35"/>
          <p:cNvSpPr/>
          <p:nvPr/>
        </p:nvSpPr>
        <p:spPr>
          <a:xfrm>
            <a:off x="7525512" y="4636008"/>
            <a:ext cx="4023360" cy="548640"/>
          </a:xfrm>
          <a:prstGeom prst="rect">
            <a:avLst/>
          </a:prstGeom>
          <a:noFill/>
          <a:ln/>
        </p:spPr>
        <p:txBody>
          <a:bodyPr wrap="square" lIns="0" tIns="0" rIns="0" bIns="0" rtlCol="0" anchor="ctr"/>
          <a:lstStyle/>
          <a:p>
            <a:pPr algn="l" indent="0" marL="0">
              <a:lnSpc>
                <a:spcPct val="105000"/>
              </a:lnSpc>
              <a:buNone/>
            </a:pPr>
            <a:r>
              <a:rPr lang="en-US" sz="1300" b="1" dirty="0">
                <a:solidFill>
                  <a:srgbClr val="0F2747"/>
                </a:solidFill>
                <a:latin typeface="Noto Sans CJK JP" pitchFamily="34" charset="0"/>
                <a:ea typeface="Noto Sans CJK JP" pitchFamily="34" charset="-122"/>
                <a:cs typeface="Noto Sans CJK JP" pitchFamily="34" charset="-120"/>
              </a:rPr>
              <a:t>UV シールド Pu とは？</a:t>
            </a:r>
            <a:endParaRPr lang="en-US" sz="1300" dirty="0"/>
          </a:p>
        </p:txBody>
      </p:sp>
      <p:sp>
        <p:nvSpPr>
          <p:cNvPr id="38" name="Text 36"/>
          <p:cNvSpPr/>
          <p:nvPr/>
        </p:nvSpPr>
        <p:spPr>
          <a:xfrm>
            <a:off x="7525512" y="5212080"/>
            <a:ext cx="4023360" cy="274320"/>
          </a:xfrm>
          <a:prstGeom prst="rect">
            <a:avLst/>
          </a:prstGeom>
          <a:noFill/>
          <a:ln/>
        </p:spPr>
        <p:txBody>
          <a:bodyPr wrap="square" lIns="0" tIns="0" rIns="0" bIns="0" rtlCol="0" anchor="ctr"/>
          <a:lstStyle/>
          <a:p>
            <a:pPr algn="l" indent="0" marL="0">
              <a:buNone/>
            </a:pPr>
            <a:r>
              <a:rPr lang="en-US" sz="1000" dirty="0">
                <a:solidFill>
                  <a:srgbClr val="6B7280"/>
                </a:solidFill>
                <a:latin typeface="Noto Sans CJK JP" pitchFamily="34" charset="0"/>
                <a:ea typeface="Noto Sans CJK JP" pitchFamily="34" charset="-122"/>
                <a:cs typeface="Noto Sans CJK JP" pitchFamily="34" charset="-120"/>
              </a:rPr>
              <a:t>看板メンテナンス・ UV カット 95% の革新的素材 (5 分 17 秒 )</a:t>
            </a:r>
            <a:endParaRPr lang="en-US" sz="1000" dirty="0"/>
          </a:p>
        </p:txBody>
      </p:sp>
      <p:sp>
        <p:nvSpPr>
          <p:cNvPr id="39" name="Text 37">
            <a:hlinkClick r:id="rId4" tooltip=""/>
          </p:cNvPr>
          <p:cNvSpPr/>
          <p:nvPr/>
        </p:nvSpPr>
        <p:spPr>
          <a:xfrm>
            <a:off x="7525512" y="5577840"/>
            <a:ext cx="4023360" cy="274320"/>
          </a:xfrm>
          <a:prstGeom prst="rect">
            <a:avLst/>
          </a:prstGeom>
          <a:noFill/>
          <a:ln/>
        </p:spPr>
        <p:txBody>
          <a:bodyPr wrap="square" lIns="0" tIns="0" rIns="0" bIns="0" rtlCol="0" anchor="ctr"/>
          <a:lstStyle/>
          <a:p>
            <a:pPr algn="l" indent="0" marL="0">
              <a:buNone/>
            </a:pPr>
            <a:r>
              <a:rPr lang="en-US" sz="1050" b="1" u="sng" dirty="0">
                <a:solidFill>
                  <a:srgbClr val="E58027"/>
                </a:solidFill>
                <a:latin typeface="Noto Sans CJK JP" pitchFamily="34" charset="0"/>
                <a:ea typeface="Noto Sans CJK JP" pitchFamily="34" charset="-122"/>
                <a:cs typeface="Noto Sans CJK JP"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https://youtu.be/_r3tEsR2F5M</a:t>
            </a:r>
            <a:endParaRPr lang="en-US" sz="1050" dirty="0"/>
          </a:p>
        </p:txBody>
      </p:sp>
      <p:sp>
        <p:nvSpPr>
          <p:cNvPr id="40" name="Shape 38"/>
          <p:cNvSpPr/>
          <p:nvPr/>
        </p:nvSpPr>
        <p:spPr>
          <a:xfrm>
            <a:off x="10451592" y="5833872"/>
            <a:ext cx="1280160" cy="384048"/>
          </a:xfrm>
          <a:prstGeom prst="rect">
            <a:avLst/>
          </a:prstGeom>
          <a:solidFill>
            <a:srgbClr val="E58027"/>
          </a:solidFill>
          <a:ln/>
        </p:spPr>
      </p:sp>
      <p:sp>
        <p:nvSpPr>
          <p:cNvPr id="41" name="Text 39"/>
          <p:cNvSpPr/>
          <p:nvPr/>
        </p:nvSpPr>
        <p:spPr>
          <a:xfrm>
            <a:off x="10451592" y="5833872"/>
            <a:ext cx="128016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Noto Sans CJK JP" pitchFamily="34" charset="0"/>
                <a:ea typeface="Noto Sans CJK JP" pitchFamily="34" charset="-122"/>
                <a:cs typeface="Noto Sans CJK JP" pitchFamily="34" charset="-120"/>
              </a:rPr>
              <a:t>看板・外装</a:t>
            </a:r>
            <a:endParaRPr lang="en-US" sz="1000" dirty="0"/>
          </a:p>
        </p:txBody>
      </p:sp>
      <p:sp>
        <p:nvSpPr>
          <p:cNvPr id="42" name="Text 40"/>
          <p:cNvSpPr/>
          <p:nvPr/>
        </p:nvSpPr>
        <p:spPr>
          <a:xfrm>
            <a:off x="457200" y="6601968"/>
            <a:ext cx="9601200" cy="237744"/>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有限会社新生社（ボーン・アゲイン 1 号店）省エネ・創エネ ダブルプラン提案書</a:t>
            </a:r>
            <a:endParaRPr lang="en-US" sz="850" dirty="0"/>
          </a:p>
        </p:txBody>
      </p:sp>
      <p:sp>
        <p:nvSpPr>
          <p:cNvPr id="43" name="Text 41"/>
          <p:cNvSpPr/>
          <p:nvPr/>
        </p:nvSpPr>
        <p:spPr>
          <a:xfrm>
            <a:off x="10789920" y="6601968"/>
            <a:ext cx="914400" cy="237744"/>
          </a:xfrm>
          <a:prstGeom prst="rect">
            <a:avLst/>
          </a:prstGeom>
          <a:noFill/>
          <a:ln/>
        </p:spPr>
        <p:txBody>
          <a:bodyPr wrap="square" lIns="0" tIns="0" rIns="0" bIns="0" rtlCol="0" anchor="ctr"/>
          <a:lstStyle/>
          <a:p>
            <a:pPr algn="r" indent="0" marL="0">
              <a:buNone/>
            </a:pPr>
            <a:r>
              <a:rPr lang="en-US" sz="850" dirty="0">
                <a:solidFill>
                  <a:srgbClr val="8A95A5"/>
                </a:solidFill>
                <a:latin typeface="Noto Sans CJK JP" pitchFamily="34" charset="0"/>
                <a:ea typeface="Noto Sans CJK JP" pitchFamily="34" charset="-122"/>
                <a:cs typeface="Noto Sans CJK JP" pitchFamily="34" charset="-120"/>
              </a:rPr>
              <a:t>19 / 20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747"/>
        </a:solidFill>
      </p:bgPr>
    </p:bg>
    <p:spTree>
      <p:nvGrpSpPr>
        <p:cNvPr id="1" name=""/>
        <p:cNvGrpSpPr/>
        <p:nvPr/>
      </p:nvGrpSpPr>
      <p:grpSpPr>
        <a:xfrm>
          <a:off x="0" y="0"/>
          <a:ext cx="0" cy="0"/>
          <a:chOff x="0" y="0"/>
          <a:chExt cx="0" cy="0"/>
        </a:xfrm>
      </p:grpSpPr>
      <p:sp>
        <p:nvSpPr>
          <p:cNvPr id="2" name="Shape 0"/>
          <p:cNvSpPr/>
          <p:nvPr/>
        </p:nvSpPr>
        <p:spPr>
          <a:xfrm>
            <a:off x="0" y="0"/>
            <a:ext cx="868680" cy="502920"/>
          </a:xfrm>
          <a:prstGeom prst="rect">
            <a:avLst/>
          </a:prstGeom>
          <a:solidFill>
            <a:srgbClr val="1FA383"/>
          </a:solidFill>
          <a:ln/>
        </p:spPr>
      </p:sp>
      <p:sp>
        <p:nvSpPr>
          <p:cNvPr id="3" name="Shape 1"/>
          <p:cNvSpPr/>
          <p:nvPr/>
        </p:nvSpPr>
        <p:spPr>
          <a:xfrm>
            <a:off x="0" y="0"/>
            <a:ext cx="502920" cy="1783080"/>
          </a:xfrm>
          <a:prstGeom prst="rect">
            <a:avLst/>
          </a:prstGeom>
          <a:solidFill>
            <a:srgbClr val="C7A867"/>
          </a:solidFill>
          <a:ln/>
        </p:spPr>
      </p:sp>
      <p:sp>
        <p:nvSpPr>
          <p:cNvPr id="4" name="Shape 2"/>
          <p:cNvSpPr/>
          <p:nvPr/>
        </p:nvSpPr>
        <p:spPr>
          <a:xfrm>
            <a:off x="11686032" y="4937760"/>
            <a:ext cx="502920" cy="1371600"/>
          </a:xfrm>
          <a:prstGeom prst="rect">
            <a:avLst/>
          </a:prstGeom>
          <a:solidFill>
            <a:srgbClr val="C7A867"/>
          </a:solidFill>
          <a:ln/>
        </p:spPr>
      </p:sp>
      <p:sp>
        <p:nvSpPr>
          <p:cNvPr id="5" name="Shape 3"/>
          <p:cNvSpPr/>
          <p:nvPr/>
        </p:nvSpPr>
        <p:spPr>
          <a:xfrm>
            <a:off x="11320272" y="6309360"/>
            <a:ext cx="868680" cy="548640"/>
          </a:xfrm>
          <a:prstGeom prst="rect">
            <a:avLst/>
          </a:prstGeom>
          <a:solidFill>
            <a:srgbClr val="1FA383"/>
          </a:solidFill>
          <a:ln/>
        </p:spPr>
      </p:sp>
      <p:sp>
        <p:nvSpPr>
          <p:cNvPr id="6" name="Text 4"/>
          <p:cNvSpPr/>
          <p:nvPr/>
        </p:nvSpPr>
        <p:spPr>
          <a:xfrm>
            <a:off x="914400" y="1783080"/>
            <a:ext cx="10058400" cy="365760"/>
          </a:xfrm>
          <a:prstGeom prst="rect">
            <a:avLst/>
          </a:prstGeom>
          <a:noFill/>
          <a:ln/>
        </p:spPr>
        <p:txBody>
          <a:bodyPr wrap="square" lIns="0" tIns="0" rIns="0" bIns="0" rtlCol="0" anchor="ctr"/>
          <a:lstStyle/>
          <a:p>
            <a:pPr algn="l" indent="0" marL="0">
              <a:buNone/>
            </a:pPr>
            <a:r>
              <a:rPr lang="en-US" sz="1300" b="1" spc="300" kern="0" dirty="0">
                <a:solidFill>
                  <a:srgbClr val="C7A867"/>
                </a:solidFill>
                <a:latin typeface="Noto Sans CJK JP" pitchFamily="34" charset="0"/>
                <a:ea typeface="Noto Sans CJK JP" pitchFamily="34" charset="-122"/>
                <a:cs typeface="Noto Sans CJK JP" pitchFamily="34" charset="-120"/>
              </a:rPr>
              <a:t>THANK  YOU  FOR  YOUR  CONSIDERATION</a:t>
            </a:r>
            <a:endParaRPr lang="en-US" sz="1300" dirty="0"/>
          </a:p>
        </p:txBody>
      </p:sp>
      <p:sp>
        <p:nvSpPr>
          <p:cNvPr id="7" name="Text 5"/>
          <p:cNvSpPr/>
          <p:nvPr/>
        </p:nvSpPr>
        <p:spPr>
          <a:xfrm>
            <a:off x="886968" y="2240280"/>
            <a:ext cx="1051560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Noto Sans CJK JP" pitchFamily="34" charset="0"/>
                <a:ea typeface="Noto Sans CJK JP" pitchFamily="34" charset="-122"/>
                <a:cs typeface="Noto Sans CJK JP" pitchFamily="34" charset="-120"/>
              </a:rPr>
              <a:t>ご検討、ありがとうございます</a:t>
            </a:r>
            <a:endParaRPr lang="en-US" sz="4000" dirty="0"/>
          </a:p>
        </p:txBody>
      </p:sp>
      <p:sp>
        <p:nvSpPr>
          <p:cNvPr id="8" name="Shape 6"/>
          <p:cNvSpPr/>
          <p:nvPr/>
        </p:nvSpPr>
        <p:spPr>
          <a:xfrm>
            <a:off x="914400" y="3200400"/>
            <a:ext cx="3657600" cy="32004"/>
          </a:xfrm>
          <a:prstGeom prst="rect">
            <a:avLst/>
          </a:prstGeom>
          <a:solidFill>
            <a:srgbClr val="C7A867"/>
          </a:solidFill>
          <a:ln/>
        </p:spPr>
      </p:sp>
      <p:sp>
        <p:nvSpPr>
          <p:cNvPr id="9" name="Text 7"/>
          <p:cNvSpPr/>
          <p:nvPr/>
        </p:nvSpPr>
        <p:spPr>
          <a:xfrm>
            <a:off x="914400" y="3383280"/>
            <a:ext cx="10058400" cy="457200"/>
          </a:xfrm>
          <a:prstGeom prst="rect">
            <a:avLst/>
          </a:prstGeom>
          <a:noFill/>
          <a:ln/>
        </p:spPr>
        <p:txBody>
          <a:bodyPr wrap="square" lIns="0" tIns="0" rIns="0" bIns="0" rtlCol="0" anchor="ctr"/>
          <a:lstStyle/>
          <a:p>
            <a:pPr algn="l" indent="0" marL="0">
              <a:buNone/>
            </a:pPr>
            <a:r>
              <a:rPr lang="en-US" sz="2000" b="1" dirty="0">
                <a:solidFill>
                  <a:srgbClr val="C7A867"/>
                </a:solidFill>
                <a:latin typeface="Noto Sans CJK JP" pitchFamily="34" charset="0"/>
                <a:ea typeface="Noto Sans CJK JP" pitchFamily="34" charset="-122"/>
                <a:cs typeface="Noto Sans CJK JP" pitchFamily="34" charset="-120"/>
              </a:rPr>
              <a:t>建物の価値を、上げる。</a:t>
            </a:r>
            <a:endParaRPr lang="en-US" sz="2000" dirty="0"/>
          </a:p>
        </p:txBody>
      </p:sp>
      <p:sp>
        <p:nvSpPr>
          <p:cNvPr id="10" name="Text 8"/>
          <p:cNvSpPr/>
          <p:nvPr/>
        </p:nvSpPr>
        <p:spPr>
          <a:xfrm>
            <a:off x="914400" y="3886200"/>
            <a:ext cx="10332720" cy="365760"/>
          </a:xfrm>
          <a:prstGeom prst="rect">
            <a:avLst/>
          </a:prstGeom>
          <a:noFill/>
          <a:ln/>
        </p:spPr>
        <p:txBody>
          <a:bodyPr wrap="square" lIns="0" tIns="0" rIns="0" bIns="0" rtlCol="0" anchor="ctr"/>
          <a:lstStyle/>
          <a:p>
            <a:pPr algn="l" indent="0" marL="0">
              <a:buNone/>
            </a:pPr>
            <a:r>
              <a:rPr lang="en-US" sz="1200" dirty="0">
                <a:solidFill>
                  <a:srgbClr val="C8D2E0"/>
                </a:solidFill>
                <a:latin typeface="Noto Sans CJK JP" pitchFamily="34" charset="0"/>
                <a:ea typeface="Noto Sans CJK JP" pitchFamily="34" charset="-122"/>
                <a:cs typeface="Noto Sans CJK JP" pitchFamily="34" charset="-120"/>
              </a:rPr>
              <a:t>省エネ・創エネを同時に走らせ、月々のキャッシュアウトを抑えながら建物そのものの資産価値を引き上げる経営戦略をご提案します。</a:t>
            </a:r>
            <a:endParaRPr lang="en-US" sz="1200" dirty="0"/>
          </a:p>
        </p:txBody>
      </p:sp>
      <p:sp>
        <p:nvSpPr>
          <p:cNvPr id="11" name="Shape 9"/>
          <p:cNvSpPr/>
          <p:nvPr/>
        </p:nvSpPr>
        <p:spPr>
          <a:xfrm>
            <a:off x="914400" y="4434840"/>
            <a:ext cx="10332720" cy="1828800"/>
          </a:xfrm>
          <a:prstGeom prst="rect">
            <a:avLst/>
          </a:prstGeom>
          <a:solidFill>
            <a:srgbClr val="12305A"/>
          </a:solidFill>
          <a:ln w="12700">
            <a:solidFill>
              <a:srgbClr val="C7A867"/>
            </a:solidFill>
            <a:prstDash val="solid"/>
          </a:ln>
        </p:spPr>
      </p:sp>
      <p:sp>
        <p:nvSpPr>
          <p:cNvPr id="12" name="Text 10"/>
          <p:cNvSpPr/>
          <p:nvPr/>
        </p:nvSpPr>
        <p:spPr>
          <a:xfrm>
            <a:off x="1143000" y="4572000"/>
            <a:ext cx="9144000" cy="274320"/>
          </a:xfrm>
          <a:prstGeom prst="rect">
            <a:avLst/>
          </a:prstGeom>
          <a:noFill/>
          <a:ln/>
        </p:spPr>
        <p:txBody>
          <a:bodyPr wrap="square" lIns="0" tIns="0" rIns="0" bIns="0" rtlCol="0" anchor="ctr"/>
          <a:lstStyle/>
          <a:p>
            <a:pPr algn="l" indent="0" marL="0">
              <a:buNone/>
            </a:pPr>
            <a:r>
              <a:rPr lang="en-US" sz="1100" b="1" spc="200" kern="0" dirty="0">
                <a:solidFill>
                  <a:srgbClr val="C7A867"/>
                </a:solidFill>
                <a:latin typeface="Noto Sans CJK JP" pitchFamily="34" charset="0"/>
                <a:ea typeface="Noto Sans CJK JP" pitchFamily="34" charset="-122"/>
                <a:cs typeface="Noto Sans CJK JP" pitchFamily="34" charset="-120"/>
              </a:rPr>
              <a:t>CONTACT</a:t>
            </a:r>
            <a:endParaRPr lang="en-US" sz="1100" dirty="0"/>
          </a:p>
        </p:txBody>
      </p:sp>
      <p:sp>
        <p:nvSpPr>
          <p:cNvPr id="13" name="Text 11"/>
          <p:cNvSpPr/>
          <p:nvPr/>
        </p:nvSpPr>
        <p:spPr>
          <a:xfrm>
            <a:off x="1143000" y="4846320"/>
            <a:ext cx="9601200" cy="365760"/>
          </a:xfrm>
          <a:prstGeom prst="rect">
            <a:avLst/>
          </a:prstGeom>
          <a:noFill/>
          <a:ln/>
        </p:spPr>
        <p:txBody>
          <a:bodyPr wrap="square" lIns="0" tIns="0" rIns="0" bIns="0" rtlCol="0" anchor="ctr"/>
          <a:lstStyle/>
          <a:p>
            <a:pPr algn="l" indent="0" marL="0">
              <a:buNone/>
            </a:pPr>
            <a:r>
              <a:rPr lang="en-US" sz="1700" b="1" dirty="0">
                <a:solidFill>
                  <a:srgbClr val="FFFFFF"/>
                </a:solidFill>
                <a:latin typeface="Noto Sans CJK JP" pitchFamily="34" charset="0"/>
                <a:ea typeface="Noto Sans CJK JP" pitchFamily="34" charset="-122"/>
                <a:cs typeface="Noto Sans CJK JP" pitchFamily="34" charset="-120"/>
              </a:rPr>
              <a:t>株式会社シスコムネット 特販営業部 寺嵜 忠弘</a:t>
            </a:r>
            <a:endParaRPr lang="en-US" sz="1700" dirty="0"/>
          </a:p>
        </p:txBody>
      </p:sp>
      <p:sp>
        <p:nvSpPr>
          <p:cNvPr id="14" name="Text 12"/>
          <p:cNvSpPr/>
          <p:nvPr/>
        </p:nvSpPr>
        <p:spPr>
          <a:xfrm>
            <a:off x="1143000" y="5230368"/>
            <a:ext cx="9601200" cy="274320"/>
          </a:xfrm>
          <a:prstGeom prst="rect">
            <a:avLst/>
          </a:prstGeom>
          <a:noFill/>
          <a:ln/>
        </p:spPr>
        <p:txBody>
          <a:bodyPr wrap="square" lIns="0" tIns="0" rIns="0" bIns="0" rtlCol="0" anchor="ctr"/>
          <a:lstStyle/>
          <a:p>
            <a:pPr algn="l" indent="0" marL="0">
              <a:buNone/>
            </a:pPr>
            <a:r>
              <a:rPr lang="en-US" sz="1100" dirty="0">
                <a:solidFill>
                  <a:srgbClr val="C8D2E0"/>
                </a:solidFill>
                <a:latin typeface="Noto Sans CJK JP" pitchFamily="34" charset="0"/>
                <a:ea typeface="Noto Sans CJK JP" pitchFamily="34" charset="-122"/>
                <a:cs typeface="Noto Sans CJK JP" pitchFamily="34" charset="-120"/>
              </a:rPr>
              <a:t>省エネアドバイザー ／ シスコムサステナシールド代表</a:t>
            </a:r>
            <a:endParaRPr lang="en-US" sz="1100" dirty="0"/>
          </a:p>
        </p:txBody>
      </p:sp>
      <p:sp>
        <p:nvSpPr>
          <p:cNvPr id="15" name="Text 13"/>
          <p:cNvSpPr/>
          <p:nvPr/>
        </p:nvSpPr>
        <p:spPr>
          <a:xfrm>
            <a:off x="1143000" y="5486400"/>
            <a:ext cx="9601200" cy="274320"/>
          </a:xfrm>
          <a:prstGeom prst="rect">
            <a:avLst/>
          </a:prstGeom>
          <a:noFill/>
          <a:ln/>
        </p:spPr>
        <p:txBody>
          <a:bodyPr wrap="square" lIns="0" tIns="0" rIns="0" bIns="0" rtlCol="0" anchor="ctr"/>
          <a:lstStyle/>
          <a:p>
            <a:pPr algn="l" indent="0" marL="0">
              <a:buNone/>
            </a:pPr>
            <a:r>
              <a:rPr lang="en-US" sz="1050" b="1" dirty="0">
                <a:solidFill>
                  <a:srgbClr val="C7A867"/>
                </a:solidFill>
                <a:latin typeface="Noto Sans CJK JP" pitchFamily="34" charset="0"/>
                <a:ea typeface="Noto Sans CJK JP" pitchFamily="34" charset="-122"/>
                <a:cs typeface="Noto Sans CJK JP" pitchFamily="34" charset="-120"/>
              </a:rPr>
              <a:t>建設業許可：千葉県知事 ( 般 -2) 第 46651 号</a:t>
            </a:r>
            <a:endParaRPr lang="en-US" sz="1050" dirty="0"/>
          </a:p>
        </p:txBody>
      </p:sp>
      <p:sp>
        <p:nvSpPr>
          <p:cNvPr id="16" name="Text 14"/>
          <p:cNvSpPr/>
          <p:nvPr/>
        </p:nvSpPr>
        <p:spPr>
          <a:xfrm>
            <a:off x="1143000" y="5852160"/>
            <a:ext cx="1371600" cy="256032"/>
          </a:xfrm>
          <a:prstGeom prst="rect">
            <a:avLst/>
          </a:prstGeom>
          <a:noFill/>
          <a:ln/>
        </p:spPr>
        <p:txBody>
          <a:bodyPr wrap="square" lIns="0" tIns="0" rIns="0" bIns="0" rtlCol="0" anchor="ctr"/>
          <a:lstStyle/>
          <a:p>
            <a:pPr algn="l" indent="0" marL="0">
              <a:buNone/>
            </a:pPr>
            <a:r>
              <a:rPr lang="en-US" sz="950" b="1" dirty="0">
                <a:solidFill>
                  <a:srgbClr val="C7A867"/>
                </a:solidFill>
                <a:latin typeface="Noto Sans CJK JP" pitchFamily="34" charset="0"/>
                <a:ea typeface="Noto Sans CJK JP" pitchFamily="34" charset="-122"/>
                <a:cs typeface="Noto Sans CJK JP" pitchFamily="34" charset="-120"/>
              </a:rPr>
              <a:t>LINE 公式：</a:t>
            </a:r>
            <a:endParaRPr lang="en-US" sz="950" dirty="0"/>
          </a:p>
        </p:txBody>
      </p:sp>
      <p:sp>
        <p:nvSpPr>
          <p:cNvPr id="17" name="Text 15">
            <a:hlinkClick r:id="rId1" tooltip=""/>
          </p:cNvPr>
          <p:cNvSpPr/>
          <p:nvPr/>
        </p:nvSpPr>
        <p:spPr>
          <a:xfrm>
            <a:off x="2606040" y="5852160"/>
            <a:ext cx="2743200" cy="256032"/>
          </a:xfrm>
          <a:prstGeom prst="rect">
            <a:avLst/>
          </a:prstGeom>
          <a:noFill/>
          <a:ln/>
        </p:spPr>
        <p:txBody>
          <a:bodyPr wrap="square" lIns="0" tIns="0" rIns="0" bIns="0" rtlCol="0" anchor="ctr"/>
          <a:lstStyle/>
          <a:p>
            <a:pPr algn="l" indent="0" marL="0">
              <a:buNone/>
            </a:pPr>
            <a:r>
              <a:rPr lang="en-US" sz="950" u="sng" dirty="0">
                <a:solidFill>
                  <a:srgbClr val="AEB9CC"/>
                </a:solidFill>
                <a:latin typeface="Noto Sans CJK JP" pitchFamily="34" charset="0"/>
                <a:ea typeface="Noto Sans CJK JP" pitchFamily="34" charset="-122"/>
                <a:cs typeface="Noto Sans CJK JP"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https://page.line.me/829oslez</a:t>
            </a:r>
            <a:endParaRPr lang="en-US" sz="950" dirty="0"/>
          </a:p>
        </p:txBody>
      </p:sp>
      <p:sp>
        <p:nvSpPr>
          <p:cNvPr id="18" name="Text 16"/>
          <p:cNvSpPr/>
          <p:nvPr/>
        </p:nvSpPr>
        <p:spPr>
          <a:xfrm>
            <a:off x="6035040" y="5852160"/>
            <a:ext cx="1645920" cy="256032"/>
          </a:xfrm>
          <a:prstGeom prst="rect">
            <a:avLst/>
          </a:prstGeom>
          <a:noFill/>
          <a:ln/>
        </p:spPr>
        <p:txBody>
          <a:bodyPr wrap="square" lIns="0" tIns="0" rIns="0" bIns="0" rtlCol="0" anchor="ctr"/>
          <a:lstStyle/>
          <a:p>
            <a:pPr algn="l" indent="0" marL="0">
              <a:buNone/>
            </a:pPr>
            <a:r>
              <a:rPr lang="en-US" sz="950" b="1" dirty="0">
                <a:solidFill>
                  <a:srgbClr val="C7A867"/>
                </a:solidFill>
                <a:latin typeface="Noto Sans CJK JP" pitchFamily="34" charset="0"/>
                <a:ea typeface="Noto Sans CJK JP" pitchFamily="34" charset="-122"/>
                <a:cs typeface="Noto Sans CJK JP" pitchFamily="34" charset="-120"/>
              </a:rPr>
              <a:t>シスコムネット：</a:t>
            </a:r>
            <a:endParaRPr lang="en-US" sz="950" dirty="0"/>
          </a:p>
        </p:txBody>
      </p:sp>
      <p:sp>
        <p:nvSpPr>
          <p:cNvPr id="19" name="Text 17">
            <a:hlinkClick r:id="rId2" tooltip=""/>
          </p:cNvPr>
          <p:cNvSpPr/>
          <p:nvPr/>
        </p:nvSpPr>
        <p:spPr>
          <a:xfrm>
            <a:off x="7772400" y="5852160"/>
            <a:ext cx="2743200" cy="256032"/>
          </a:xfrm>
          <a:prstGeom prst="rect">
            <a:avLst/>
          </a:prstGeom>
          <a:noFill/>
          <a:ln/>
        </p:spPr>
        <p:txBody>
          <a:bodyPr wrap="square" lIns="0" tIns="0" rIns="0" bIns="0" rtlCol="0" anchor="ctr"/>
          <a:lstStyle/>
          <a:p>
            <a:pPr algn="l" indent="0" marL="0">
              <a:buNone/>
            </a:pPr>
            <a:r>
              <a:rPr lang="en-US" sz="950" u="sng" dirty="0">
                <a:solidFill>
                  <a:srgbClr val="AEB9CC"/>
                </a:solidFill>
                <a:latin typeface="Noto Sans CJK JP" pitchFamily="34" charset="0"/>
                <a:ea typeface="Noto Sans CJK JP" pitchFamily="34" charset="-122"/>
                <a:cs typeface="Noto Sans CJK JP"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https://syscomnet.co.jp/</a:t>
            </a:r>
            <a:endParaRPr lang="en-US" sz="950" dirty="0"/>
          </a:p>
        </p:txBody>
      </p:sp>
      <p:sp>
        <p:nvSpPr>
          <p:cNvPr id="20" name="Text 18"/>
          <p:cNvSpPr/>
          <p:nvPr/>
        </p:nvSpPr>
        <p:spPr>
          <a:xfrm>
            <a:off x="1143000" y="6053328"/>
            <a:ext cx="2377440" cy="256032"/>
          </a:xfrm>
          <a:prstGeom prst="rect">
            <a:avLst/>
          </a:prstGeom>
          <a:noFill/>
          <a:ln/>
        </p:spPr>
        <p:txBody>
          <a:bodyPr wrap="square" lIns="0" tIns="0" rIns="0" bIns="0" rtlCol="0" anchor="ctr"/>
          <a:lstStyle/>
          <a:p>
            <a:pPr algn="l" indent="0" marL="0">
              <a:buNone/>
            </a:pPr>
            <a:r>
              <a:rPr lang="en-US" sz="950" b="1" dirty="0">
                <a:solidFill>
                  <a:srgbClr val="C7A867"/>
                </a:solidFill>
                <a:latin typeface="Noto Sans CJK JP" pitchFamily="34" charset="0"/>
                <a:ea typeface="Noto Sans CJK JP" pitchFamily="34" charset="-122"/>
                <a:cs typeface="Noto Sans CJK JP" pitchFamily="34" charset="-120"/>
              </a:rPr>
              <a:t>脂肪族ポリウレア協議会：</a:t>
            </a:r>
            <a:endParaRPr lang="en-US" sz="950" dirty="0"/>
          </a:p>
        </p:txBody>
      </p:sp>
      <p:sp>
        <p:nvSpPr>
          <p:cNvPr id="21" name="Text 19">
            <a:hlinkClick r:id="rId3" tooltip=""/>
          </p:cNvPr>
          <p:cNvSpPr/>
          <p:nvPr/>
        </p:nvSpPr>
        <p:spPr>
          <a:xfrm>
            <a:off x="3383280" y="6053328"/>
            <a:ext cx="2286000" cy="256032"/>
          </a:xfrm>
          <a:prstGeom prst="rect">
            <a:avLst/>
          </a:prstGeom>
          <a:noFill/>
          <a:ln/>
        </p:spPr>
        <p:txBody>
          <a:bodyPr wrap="square" lIns="0" tIns="0" rIns="0" bIns="0" rtlCol="0" anchor="ctr"/>
          <a:lstStyle/>
          <a:p>
            <a:pPr algn="l" indent="0" marL="0">
              <a:buNone/>
            </a:pPr>
            <a:r>
              <a:rPr lang="en-US" sz="950" u="sng" dirty="0">
                <a:solidFill>
                  <a:srgbClr val="AEB9CC"/>
                </a:solidFill>
                <a:latin typeface="Noto Sans CJK JP" pitchFamily="34" charset="0"/>
                <a:ea typeface="Noto Sans CJK JP" pitchFamily="34" charset="-122"/>
                <a:cs typeface="Noto Sans CJK JP"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https://www.s-pua.net/</a:t>
            </a:r>
            <a:endParaRPr lang="en-US" sz="950" dirty="0"/>
          </a:p>
        </p:txBody>
      </p:sp>
      <p:sp>
        <p:nvSpPr>
          <p:cNvPr id="22" name="Text 20"/>
          <p:cNvSpPr/>
          <p:nvPr/>
        </p:nvSpPr>
        <p:spPr>
          <a:xfrm>
            <a:off x="6035040" y="6053328"/>
            <a:ext cx="3291840" cy="256032"/>
          </a:xfrm>
          <a:prstGeom prst="rect">
            <a:avLst/>
          </a:prstGeom>
          <a:noFill/>
          <a:ln/>
        </p:spPr>
        <p:txBody>
          <a:bodyPr wrap="square" lIns="0" tIns="0" rIns="0" bIns="0" rtlCol="0" anchor="ctr"/>
          <a:lstStyle/>
          <a:p>
            <a:pPr algn="l" indent="0" marL="0">
              <a:buNone/>
            </a:pPr>
            <a:r>
              <a:rPr lang="en-US" sz="950" b="1" dirty="0">
                <a:solidFill>
                  <a:srgbClr val="C7A867"/>
                </a:solidFill>
                <a:latin typeface="Noto Sans CJK JP" pitchFamily="34" charset="0"/>
                <a:ea typeface="Noto Sans CJK JP" pitchFamily="34" charset="-122"/>
                <a:cs typeface="Noto Sans CJK JP" pitchFamily="34" charset="-120"/>
              </a:rPr>
              <a:t>BNI 千葉セントラルクリエーションズ：</a:t>
            </a:r>
            <a:endParaRPr lang="en-US" sz="950" dirty="0"/>
          </a:p>
        </p:txBody>
      </p:sp>
      <p:sp>
        <p:nvSpPr>
          <p:cNvPr id="23" name="Text 21">
            <a:hlinkClick r:id="rId4" tooltip=""/>
          </p:cNvPr>
          <p:cNvSpPr/>
          <p:nvPr/>
        </p:nvSpPr>
        <p:spPr>
          <a:xfrm>
            <a:off x="9144000" y="6053328"/>
            <a:ext cx="2103120" cy="256032"/>
          </a:xfrm>
          <a:prstGeom prst="rect">
            <a:avLst/>
          </a:prstGeom>
          <a:noFill/>
          <a:ln/>
        </p:spPr>
        <p:txBody>
          <a:bodyPr wrap="square" lIns="0" tIns="0" rIns="0" bIns="0" rtlCol="0" anchor="ctr"/>
          <a:lstStyle/>
          <a:p>
            <a:pPr algn="l" indent="0" marL="0">
              <a:buNone/>
            </a:pPr>
            <a:r>
              <a:rPr lang="en-US" sz="850" u="sng" dirty="0">
                <a:solidFill>
                  <a:srgbClr val="AEB9CC"/>
                </a:solidFill>
                <a:latin typeface="Noto Sans CJK JP" pitchFamily="34" charset="0"/>
                <a:ea typeface="Noto Sans CJK JP" pitchFamily="34" charset="-122"/>
                <a:cs typeface="Noto Sans CJK JP"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https://chiba-c.bni.jp/creations/ja/</a:t>
            </a:r>
            <a:endParaRPr lang="en-US" sz="850" dirty="0"/>
          </a:p>
        </p:txBody>
      </p:sp>
      <p:sp>
        <p:nvSpPr>
          <p:cNvPr id="24" name="Text 22"/>
          <p:cNvSpPr/>
          <p:nvPr/>
        </p:nvSpPr>
        <p:spPr>
          <a:xfrm>
            <a:off x="457200" y="6510528"/>
            <a:ext cx="6400800" cy="274320"/>
          </a:xfrm>
          <a:prstGeom prst="rect">
            <a:avLst/>
          </a:prstGeom>
          <a:noFill/>
          <a:ln/>
        </p:spPr>
        <p:txBody>
          <a:bodyPr wrap="square" lIns="0" tIns="0" rIns="0" bIns="0" rtlCol="0" anchor="ctr"/>
          <a:lstStyle/>
          <a:p>
            <a:pPr algn="l" indent="0" marL="0">
              <a:buNone/>
            </a:pPr>
            <a:r>
              <a:rPr lang="en-US" sz="850" dirty="0">
                <a:solidFill>
                  <a:srgbClr val="8A95A5"/>
                </a:solidFill>
                <a:latin typeface="Noto Sans CJK JP" pitchFamily="34" charset="0"/>
                <a:ea typeface="Noto Sans CJK JP" pitchFamily="34" charset="-122"/>
                <a:cs typeface="Noto Sans CJK JP" pitchFamily="34" charset="-120"/>
              </a:rPr>
              <a:t>19 / 19  /  © 2026 シスコムサステナシールド</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新生社様 省エネ・創エネ ダブルプラン提案書</dc:title>
  <dc:subject>PptxGenJS Presentation</dc:subject>
  <dc:creator>株式会社シスコムネット 寺嵜忠弘</dc:creator>
  <cp:lastModifiedBy>株式会社シスコムネット 寺嵜忠弘</cp:lastModifiedBy>
  <cp:revision>1</cp:revision>
  <dcterms:created xsi:type="dcterms:W3CDTF">2026-05-31T16:30:46Z</dcterms:created>
  <dcterms:modified xsi:type="dcterms:W3CDTF">2026-05-31T16:30:46Z</dcterms:modified>
</cp:coreProperties>
</file>